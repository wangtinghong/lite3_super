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43470176d74fbe" /><Relationship Type="http://schemas.openxmlformats.org/officeDocument/2006/relationships/extended-properties" Target="/docProps/app.xml" Id="R09e64b1b92354cfd" /><Relationship Type="http://schemas.openxmlformats.org/officeDocument/2006/relationships/officeDocument" Target="/ppt/presentation.xml" Id="R0499bc5cfc7249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82ef00b2bc474e"/>
    <p:sldMasterId xmlns:r="http://schemas.openxmlformats.org/officeDocument/2006/relationships" id="2147483660" r:id="R9dcd79db67c24e1b"/>
    <p:sldMasterId xmlns:r="http://schemas.openxmlformats.org/officeDocument/2006/relationships" id="2147483662" r:id="R4ae17af26f824664"/>
  </p:sldMasterIdLst>
  <p:notesMasterIdLst>
    <p:notesMasterId xmlns:r="http://schemas.openxmlformats.org/officeDocument/2006/relationships" r:id="Rb018fec337624cd6"/>
  </p:notesMasterIdLst>
  <p:sldIdLst>
    <p:sldId xmlns:r="http://schemas.openxmlformats.org/officeDocument/2006/relationships" id="256" r:id="Ref85b506767f4f76"/>
    <p:sldId xmlns:r="http://schemas.openxmlformats.org/officeDocument/2006/relationships" id="257" r:id="R14347bb8f60546c6"/>
    <p:sldId xmlns:r="http://schemas.openxmlformats.org/officeDocument/2006/relationships" id="258" r:id="Re192b0450a314b43"/>
    <p:sldId xmlns:r="http://schemas.openxmlformats.org/officeDocument/2006/relationships" id="259" r:id="R35c2905e839a40c4"/>
    <p:sldId xmlns:r="http://schemas.openxmlformats.org/officeDocument/2006/relationships" id="260" r:id="Rb754d065ed6244e6"/>
    <p:sldId xmlns:r="http://schemas.openxmlformats.org/officeDocument/2006/relationships" id="261" r:id="R487cdf83d2fb40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6e6a4eea314353" /><Relationship Type="http://schemas.openxmlformats.org/officeDocument/2006/relationships/slideMaster" Target="/ppt/slideMasters/slideMaster1.xml" Id="Rbb82ef00b2bc474e" /><Relationship Type="http://schemas.openxmlformats.org/officeDocument/2006/relationships/slideMaster" Target="/ppt/slideMasters/slideMaster2.xml" Id="R9dcd79db67c24e1b" /><Relationship Type="http://schemas.openxmlformats.org/officeDocument/2006/relationships/slideMaster" Target="/ppt/slideMasters/slideMaster3.xml" Id="R4ae17af26f824664" /><Relationship Type="http://schemas.openxmlformats.org/officeDocument/2006/relationships/notesMaster" Target="/ppt/notesMasters/notesMaster1.xml" Id="Rb018fec337624cd6" /><Relationship Type="http://schemas.openxmlformats.org/officeDocument/2006/relationships/presProps" Target="/ppt/presProps.xml" Id="R6033a8508d464903" /><Relationship Type="http://schemas.openxmlformats.org/officeDocument/2006/relationships/viewProps" Target="/ppt/viewProps.xml" Id="R398bbcd7db22439c" /><Relationship Type="http://schemas.openxmlformats.org/officeDocument/2006/relationships/tableStyles" Target="/ppt/tableStyles.xml" Id="R7a43633509f948e1" /><Relationship Type="http://schemas.openxmlformats.org/officeDocument/2006/relationships/slide" Target="/ppt/slides/slide1.xml" Id="Ref85b506767f4f76" /><Relationship Type="http://schemas.openxmlformats.org/officeDocument/2006/relationships/slide" Target="/ppt/slides/slide2.xml" Id="R14347bb8f60546c6" /><Relationship Type="http://schemas.openxmlformats.org/officeDocument/2006/relationships/slide" Target="/ppt/slides/slide3.xml" Id="Re192b0450a314b43" /><Relationship Type="http://schemas.openxmlformats.org/officeDocument/2006/relationships/slide" Target="/ppt/slides/slide4.xml" Id="R35c2905e839a40c4" /><Relationship Type="http://schemas.openxmlformats.org/officeDocument/2006/relationships/slide" Target="/ppt/slides/slide5.xml" Id="Rb754d065ed6244e6" /><Relationship Type="http://schemas.openxmlformats.org/officeDocument/2006/relationships/slide" Target="/ppt/slides/slide6.xml" Id="R487cdf83d2fb40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bd6f2eae00a4f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1c34c4181845e7" /><Relationship Type="http://schemas.openxmlformats.org/officeDocument/2006/relationships/notesMaster" Target="/ppt/notesMasters/notesMaster1.xml" Id="R8a971cae156843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5ba67b385b4ebe" /><Relationship Type="http://schemas.openxmlformats.org/officeDocument/2006/relationships/notesMaster" Target="/ppt/notesMasters/notesMaster1.xml" Id="R78cfe064eeae45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bcdad826c04918" /><Relationship Type="http://schemas.openxmlformats.org/officeDocument/2006/relationships/notesMaster" Target="/ppt/notesMasters/notesMaster1.xml" Id="Rbc5f0140936f4a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ef6a12ecb64697" /><Relationship Type="http://schemas.openxmlformats.org/officeDocument/2006/relationships/notesMaster" Target="/ppt/notesMasters/notesMaster1.xml" Id="Rab96156e205943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28e704cb00482f" /><Relationship Type="http://schemas.openxmlformats.org/officeDocument/2006/relationships/notesMaster" Target="/ppt/notesMasters/notesMaster1.xml" Id="R82626deda0bd4b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c0b4184c574732" /><Relationship Type="http://schemas.openxmlformats.org/officeDocument/2006/relationships/notesMaster" Target="/ppt/notesMasters/notesMaster1.xml" Id="Rbd1454a5fa264c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页重点阐述了乐复诺在西京医院面临的严峻背景与核心痛点。我们的目标客户是西京医院的王胜春教授，尽管其门诊量巨大，但医院有严格的制度壁垒，不处方院外产品。同时，医生对乐复诺缺乏认知，且现有方案已能满足需求，这构成了我们进入市场的三重障碍。医生的灵魂拷问——“为何冒险用新药”，正是我们需要解决的核心问题。目前，产品处于零准入、零使用、零认知的“三零”困境，突破迫在眉睫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面对困境，我们制定了“四步破局法”。第一步，洞察需求。我们发现医生真正需要的是一个能规避风险的方案，而乐复诺唯一的青少年适应症正好满足了这一点。第二步，精准切入。我们锁定青少年患者和竞品应答不佳的患者作为突破口，用一句精准的话术打开了对话。第三步，建立信任。通过共同管理患者、及时回顾疗效，特别是一个成功的青少年案例，让医生亲眼见证了效果。最后一步，观念升级。在建立信任后，我们推动乐复诺成为更广泛人群的首选方案，并通过长期处方建议提升了患者依从性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本页重点展示了我们取得的核心效果。首先是业绩的指数级增长，月均处方量从2盒飙升至150盒。其次是医生观念的根本转变，从最初的抗拒到主动将乐复诺作为优势患者的首选。同时，处方周期也从短期的DOT 1延长到了规范的DOT 6。更重要的是，我们沉淀出了一套可复制的成功方法论。最后总结为一句话：选对关键医生，洞察核心顾虑，用病例建立信任，就能实现观念与业绩的双重突破。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d4d070d3c48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cf1d333964a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c45e674aa44f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f77265a91646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25c0cc7354a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2cc5d557e4ae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47788364e41e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62f7ac6ff4de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84e82672248a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f08748bc80431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9c3061c4a425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14664955b654f4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6a3eab0013d4295" /><Relationship Type="http://schemas.openxmlformats.org/officeDocument/2006/relationships/image" Target="/ppt/media/image.png" Id="Rdcea77e9df8644b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2c160de7af540d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0667c4e99ec405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dafd9937cfc462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54d4f5ab4074c1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0b9f0dc69cc4412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1d156c1bec8415a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6f51aa34783401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e0543cdeb8f4752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7e0161278ff4eb4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bc970dd4b9b4b1f" /><Relationship Type="http://schemas.openxmlformats.org/officeDocument/2006/relationships/image" Target="/ppt/media/image.jpeg" Id="R743e04e103074384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0C80AE66-C4B4-44F0-9AC6-F4B6BD6B55D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>
                <a:latin typeface="+mn-lt"/>
                <a:ea typeface="+mn-lt"/>
                <a:cs typeface="+mn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98E7C0F0-B923-4FB4-A100-B79B864528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+mn-lt"/>
                <a:ea typeface="+mn-lt"/>
                <a:cs typeface="+mn-lt"/>
              </a:defRPr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356180D8-D675-44C1-8AB2-182FEEF591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87FC3149-EF10-4E1F-B627-E7BBCB10D2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3D2DBDCD-2723-4B4D-9F96-1B5142D147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0ECC1291-E5F3-4B37-8650-AEBE437226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046B2B3E-D695-40DC-8948-D65798BA0F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BE35F920-34AA-4709-BD5B-665082C8FF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91001806-ECD0-4ED9-9C9D-DC0AD27DE1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ECF29888-1731-45F1-AF59-363D9CEA74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3C1E42CD-F3FF-43DF-A3F7-9CE3F8E315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ACA48EA3-327A-40C9-9E0F-A486F742E8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0B7017B7-4D53-4C2E-BEC2-448FFE83D7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7ECC3DDD-F9CB-48E8-BF9A-62554C1660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7F67C058-3947-4AF8-B2AF-5C4C95AC7C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90AE425C-4673-4209-B5FA-7FFFABEC14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A88A7851-FA26-4160-9F91-70EA90429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61E8B53-2D39-4278-A5B9-1BA4AB17DF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3C63E62-6705-446A-BFBC-1EAB02430E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A35A0B1B-5C2C-439D-9E97-26145AC658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7742B148-B2DF-4274-BA2C-FE03044A6A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841B29F9-CBD1-4F92-81C6-E7CD11712F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C9CC749-DC6C-4A3F-8D81-DC0A794340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BFAD54F-79B0-40F2-8E87-5D71AE3D79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510F7DEB-9A07-470E-B6A2-D4152373EC2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555ACDD-8125-40B2-A55D-170F12953C3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2C036890-2EE5-420B-B969-112F0611E9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60358254-C0B7-4136-803B-15619B3969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6AAECE9-290A-4FBE-99C3-4AB8D743CE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1149F87B-CBAE-40D1-B363-29A4C66193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1B702950-8A16-4D18-BEC0-7DCCD205C6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E48183F1-E240-4534-96A4-D190498B2C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D058C300-51C0-4128-B634-832755F6E6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C5D08B3-58ED-49AE-B0FE-B79098B2C5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DC7B25BB-4585-495C-8263-8A0B41C8C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51A97F99-F468-4F17-AE0E-45C05FABC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8444C46F-C015-4F59-81FC-C5AD13FF36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58ABF690-CF31-4EA5-97B3-8D19C0361B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+mn-lt"/>
                <a:ea typeface="+mn-lt"/>
                <a:cs typeface="+mn-lt"/>
              </a:defRPr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0C5D663D-87DA-4289-BEC2-7AE9AF49FE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6EE512B5-6027-4B21-A875-EF5D1D8180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FB5098AA-F14B-40D5-A3C7-53E435D8C5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377B7AE5-8FE6-4F90-9158-29A1F86D11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37B5703E-E4BB-49C9-ADE9-92CAE9702D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DAA8CAB3-7F59-4B16-9782-0861EC5CD32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9237E63A-83C1-4643-AC16-8733E3F696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+mn-lt"/>
                <a:ea typeface="+mn-lt"/>
                <a:cs typeface="+mn-lt"/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1C74C140-85E6-45A9-831B-49BCBD4794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C934E60C-187A-41E0-9908-CD1F8CBBF0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D70ABEBC-E3D3-4275-8D9A-999C19EFDE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CE70DFC4-6C7C-4D10-AC82-00FFD5212C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48EBC7D-2A82-4217-8207-B76FA45E5C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D14DEB61-0F19-4871-8E9F-0933AE07E9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07F46833-0985-40FC-8D26-592BC4C202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8D628E6D-2C81-498D-A1B4-BEBD0C1060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E6074EE3-1E2D-4EB8-B1C4-A3B77C682F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+mj-lt"/>
                <a:ea typeface="+mj-lt"/>
                <a:cs typeface="+mj-lt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B7EC964B-CCE1-47F0-855A-488EF4A1D8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+mn-lt"/>
                <a:ea typeface="+mn-lt"/>
                <a:cs typeface="+mn-lt"/>
              </a:defRPr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D3B1814B-A82D-438C-99F0-2897010D50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A343EA21-1825-40DE-BB7A-856BF79C0B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9E63132-B6FB-4F0A-8A46-0AD7B96B13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AE9FD97-D5C0-4095-94FC-E67D54F6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55000">
                <a:schemeClr val="bg2"/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8" name="任意多边形: 形状 7">
            <a:extLst xmlns:a="http://schemas.openxmlformats.org/drawingml/2006/main">
              <a:ext uri="{FF2B5EF4-FFF2-40B4-BE49-F238E27FC236}">
                <a16:creationId xmlns:a16="http://schemas.microsoft.com/office/drawing/2014/main" id="{A90824A3-096F-4FA0-B25B-8CAD693A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02312"/>
            <a:ext cx="1055687" cy="1055688"/>
          </a:xfrm>
          <a:custGeom xmlns:a="http://schemas.openxmlformats.org/drawingml/2006/main"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pic>
        <p:nvPicPr>
          <p:cNvPr id="28" name="图片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cea77e9df8644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0633" y="0"/>
            <a:ext cx="4971367" cy="4971368"/>
          </a:xfrm>
        </p:spPr>
      </p:pic>
      <p:sp>
        <p:nvSpPr>
          <p:cNvPr id="11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1C69B620-1848-4099-8DBF-6B05560A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426266" y="0"/>
            <a:ext cx="5765734" cy="5776914"/>
          </a:xfrm>
          <a:custGeom xmlns:a="http://schemas.openxmlformats.org/drawingml/2006/main">
            <a:gdLst>
              <a:gd name="connsiteX0" fmla="*/ 0 w 3976914"/>
              <a:gd name="connsiteY0" fmla="*/ 0 h 3984625"/>
              <a:gd name="connsiteX1" fmla="*/ 3976914 w 3976914"/>
              <a:gd name="connsiteY1" fmla="*/ 3976914 h 3984625"/>
              <a:gd name="connsiteX2" fmla="*/ 3976719 w 3976914"/>
              <a:gd name="connsiteY2" fmla="*/ 3984625 h 3984625"/>
              <a:gd name="connsiteX3" fmla="*/ 2582139 w 3976914"/>
              <a:gd name="connsiteY3" fmla="*/ 3984625 h 3984625"/>
              <a:gd name="connsiteX4" fmla="*/ 2582528 w 3976914"/>
              <a:gd name="connsiteY4" fmla="*/ 3976914 h 3984625"/>
              <a:gd name="connsiteX5" fmla="*/ 0 w 3976914"/>
              <a:gd name="connsiteY5" fmla="*/ 1394386 h 3984625"/>
            </a:gdLst>
            <a:rect l="l" t="t" r="r" b="b"/>
            <a:pathLst>
              <a:path w="3976914" h="3984625">
                <a:moveTo>
                  <a:pt x="0" y="0"/>
                </a:moveTo>
                <a:cubicBezTo>
                  <a:pt x="2196389" y="0"/>
                  <a:pt x="3976914" y="1780525"/>
                  <a:pt x="3976914" y="3976914"/>
                </a:cubicBezTo>
                <a:lnTo>
                  <a:pt x="3976719" y="3984625"/>
                </a:lnTo>
                <a:lnTo>
                  <a:pt x="2582139" y="3984625"/>
                </a:lnTo>
                <a:lnTo>
                  <a:pt x="2582528" y="3976914"/>
                </a:lnTo>
                <a:cubicBezTo>
                  <a:pt x="2582528" y="2550623"/>
                  <a:pt x="1426291" y="1394386"/>
                  <a:pt x="0" y="139438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2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F4611F6E-1616-472C-A68F-71C5278E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50846" y="0"/>
            <a:ext cx="2041154" cy="2041154"/>
          </a:xfrm>
          <a:custGeom xmlns:a="http://schemas.openxmlformats.org/drawingml/2006/main"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C50293EC-1E07-4A6E-B237-BC4B6AC8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082" y="5776912"/>
            <a:ext cx="3585818" cy="1081087"/>
          </a:xfrm>
          <a:custGeom xmlns:a="http://schemas.openxmlformats.org/drawingml/2006/main"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22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AE67F81A-F077-4C35-BDC8-81573539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608" y="5568399"/>
            <a:ext cx="1972948" cy="498232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17D506EC-578A-47E5-912D-59D61F71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863874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DF5D51D1-ABF2-4947-B5DF-292E001F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920961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62A07A1F-5367-4B28-BC60-07B6E621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978048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52D82DA-E3EC-4648-8EFC-862C382281E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7581" y="1615544"/>
            <a:ext cx="5646700" cy="2086340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CCA41722-BD09-4E20-86B1-5FD221A6CD7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7581" y="3845884"/>
            <a:ext cx="5646700" cy="97200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3706F74-00A1-455A-A991-16AE0CC4DD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2B1BFBF-34CE-4A6E-8BE5-C76FB3D7D2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7843575-B7C7-49C9-8C46-790F6EB3EA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公司名占位符 6">
            <a:extLst xmlns:a="http://schemas.openxmlformats.org/drawingml/2006/main">
              <a:ext uri="{FF2B5EF4-FFF2-40B4-BE49-F238E27FC236}">
                <a16:creationId xmlns:a16="http://schemas.microsoft.com/office/drawing/2014/main" id="{572798A5-390C-4859-A0E8-E59B530620E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365140" y="678700"/>
            <a:ext cx="288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公司名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C05EC51A-72A0-4937-A286-AF27C5EA5FF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067581" y="5254864"/>
            <a:ext cx="2880000" cy="50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2FA9EA2-E8C0-4852-89FA-EE500F9217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C17170-2EAF-4144-8E61-1FDAD4DF71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4DB74CA-CAC7-48BA-8C90-50BB9B4D35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C490F77-E771-4F29-993E-497123EED0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9C90521-B3F0-4110-B8F8-2A3EAD5461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B78B94E-7889-4880-AEB8-7F63CA6C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2">
                  <a:lumMod val="90000"/>
                </a:schemeClr>
              </a:gs>
              <a:gs pos="100000">
                <a:schemeClr val="bg2"/>
              </a:gs>
            </a:gsLst>
            <a:lin ang="135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85ABB4D2-4945-484C-8698-703F79A3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483599" y="0"/>
            <a:ext cx="3708400" cy="1118044"/>
          </a:xfrm>
          <a:custGeom xmlns:a="http://schemas.openxmlformats.org/drawingml/2006/main"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5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66141778-565F-4ED2-BBA4-EAE5A509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431652" y="739775"/>
            <a:ext cx="1972948" cy="498232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0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64974645-C352-4091-B210-E0B9BAEC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02312"/>
            <a:ext cx="1055687" cy="1055688"/>
          </a:xfrm>
          <a:custGeom xmlns:a="http://schemas.openxmlformats.org/drawingml/2006/main"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4A9971B7-0C21-49B1-AAF4-D544CC2C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598" y="802733"/>
            <a:ext cx="482602" cy="482602"/>
          </a:xfrm>
          <a:prstGeom xmlns:a="http://schemas.openxmlformats.org/drawingml/2006/main" prst="ellipse">
            <a:avLst/>
          </a:prstGeom>
          <a:gradFill xmlns:a="http://schemas.openxmlformats.org/drawingml/2006/main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BF632F1-17AC-4CB9-A04C-BA48EDB540B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55687" y="503490"/>
            <a:ext cx="1687513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>
              <a:buNone/>
              <a:defRPr sz="5400"/>
            </a:lvl1pPr>
          </a:lstStyle>
          <a:p xmlns:a="http://schemas.openxmlformats.org/drawingml/2006/main">
            <a:r>
              <a:t>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F65DC57-D38E-4444-9ECC-D9E5BD1834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846BC0-C2DC-4745-9F3D-81306986F0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7E943A3-C4C5-4AF9-A6A0-06002F7C54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AD4D8BD-4007-45F5-A4C6-0476B17C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EBA08C2E-D124-4C49-9FF3-2CCE2C96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082" y="5776913"/>
            <a:ext cx="3585818" cy="1081087"/>
          </a:xfrm>
          <a:custGeom xmlns:a="http://schemas.openxmlformats.org/drawingml/2006/main"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AED5DAF7-5CB5-4E36-8FCC-04E36069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608" y="5568399"/>
            <a:ext cx="1972948" cy="498232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1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8AFA91BF-9291-47D2-AB88-6B9CEBA8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415314" y="0"/>
            <a:ext cx="5776686" cy="5776686"/>
          </a:xfrm>
          <a:custGeom xmlns:a="http://schemas.openxmlformats.org/drawingml/2006/main"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33810C5A-B44A-4EE5-9FD8-B722725F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5194298"/>
            <a:ext cx="1663700" cy="1663702"/>
          </a:xfrm>
          <a:custGeom xmlns:a="http://schemas.openxmlformats.org/drawingml/2006/main"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BD66212-B8AF-48EB-968E-21787DE6CC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6400" y="3625730"/>
            <a:ext cx="5903100" cy="1790041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algn="l">
              <a:buNone/>
              <a:defRPr sz="54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BF9405D0-23D0-40A0-926A-93B7603FB2A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524000" y="1859048"/>
            <a:ext cx="5903100" cy="1663702"/>
          </a:xfrm>
        </p:spPr>
        <p:txBody>
          <a:bodyPr xmlns:a="http://schemas.openxmlformats.org/drawingml/2006/main" wrap="none" anchor="b">
            <a:normAutofit/>
          </a:bodyPr>
          <a:lstStyle xmlns:a="http://schemas.openxmlformats.org/drawingml/2006/main">
            <a:lvl1pPr marL="0" indent="0" algn="l">
              <a:buNone/>
              <a:defRPr sz="72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节编号</a:t>
            </a:r>
            <a:endParaRPr/>
          </a:p>
        </p:txBody>
      </p:sp>
      <p:sp>
        <p:nvSpPr>
          <p:cNvPr id="4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B2EC83F-BE41-405A-84B1-26B0ADD050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223E66E-7D9B-4A2C-9BD4-1592635E02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4B69EAE-7AAD-4725-BC75-2CD7003BE7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11BD63-0BE9-4CD5-A5DA-11717B7B87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13EA679-DF0A-4559-9B4E-F19B667F9D1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390E8D6-151C-4230-8B21-A800DD7131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72FC546-F132-43B1-BC44-AA48A685B3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C2CCFC4-BB2F-496B-8F49-D019752A67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B5A23D2-4950-4168-B2A2-9B5BD2B903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90DF332-1FB5-4496-8074-C69F1F23EC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0000"/>
            <a:ext cx="10515600" cy="864000"/>
          </a:xfr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4E91321-65A7-4414-A00E-6A5659082CB2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E3F74FF-DF4F-4CED-BCBE-2EA73A00DF6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A78448C-F902-49A5-BBE3-AC9B29ECED90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0ED62E3-BBC1-4EE2-85C9-B57972AEAB5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0C78280-BE4D-4F77-8FFB-321E319196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87F6E3F-DDB1-4E31-B002-FFA0CC6233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A49BE7E-092D-4221-BDD2-7C928C5ADC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C847A21-4D6A-47A1-AECD-121A7D29D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0310D80-3F7D-4374-B1A7-6F9F556C6D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9020A8A-39D6-4A54-875F-CC92AD91C5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4D837C0-B2F8-4AFB-900E-185AB3A361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490FF89-737B-4ABC-91D2-AE5960D511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6B0871D-920A-4933-A578-DBB2975D07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94D8730-3AB3-420F-A44A-E5873881AB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AC7E1257-A1AC-471F-85CC-AF623E4F132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25DDB2D-CAE2-4F67-A227-F5A9CBF73A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E63E8EF-29EE-41C9-8626-82FE21F729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EE83D1D-AC1A-4AD3-A462-BD94167726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0A7CB7B-BF49-400A-BFFF-F048D68989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0000"/>
            <a:ext cx="10515600" cy="86400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5738E-4E87-47DA-9AA1-41957F5E541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DF6F129-178F-44AB-9071-503853CB7A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6695711-46BF-4439-B928-53D7716B15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936D2B9-943F-423D-9A9C-80C9BE3B4D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B20C452-1103-4C07-8DBB-24794EBB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2">
                  <a:lumMod val="90000"/>
                </a:schemeClr>
              </a:gs>
              <a:gs pos="55000">
                <a:schemeClr val="bg2"/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872CD5CD-DB63-4F0D-9DA0-C35D33C4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082" y="5776912"/>
            <a:ext cx="3585818" cy="1081087"/>
          </a:xfrm>
          <a:custGeom xmlns:a="http://schemas.openxmlformats.org/drawingml/2006/main">
            <a:gdLst>
              <a:gd name="connsiteX0" fmla="*/ 2179079 w 4341841"/>
              <a:gd name="connsiteY0" fmla="*/ 0 h 1309020"/>
              <a:gd name="connsiteX1" fmla="*/ 4226329 w 4341841"/>
              <a:gd name="connsiteY1" fmla="*/ 1088515 h 1309020"/>
              <a:gd name="connsiteX2" fmla="*/ 4341841 w 4341841"/>
              <a:gd name="connsiteY2" fmla="*/ 1278653 h 1309020"/>
              <a:gd name="connsiteX3" fmla="*/ 4341841 w 4341841"/>
              <a:gd name="connsiteY3" fmla="*/ 1309020 h 1309020"/>
              <a:gd name="connsiteX4" fmla="*/ 0 w 4341841"/>
              <a:gd name="connsiteY4" fmla="*/ 1309020 h 1309020"/>
              <a:gd name="connsiteX5" fmla="*/ 8163 w 4341841"/>
              <a:gd name="connsiteY5" fmla="*/ 1292076 h 1309020"/>
              <a:gd name="connsiteX6" fmla="*/ 2179079 w 4341841"/>
              <a:gd name="connsiteY6" fmla="*/ 0 h 1309020"/>
            </a:gdLst>
            <a:rect l="l" t="t" r="r" b="b"/>
            <a:pathLst>
              <a:path w="4341841" h="1309020">
                <a:moveTo>
                  <a:pt x="2179079" y="0"/>
                </a:moveTo>
                <a:cubicBezTo>
                  <a:pt x="3031288" y="0"/>
                  <a:pt x="3782650" y="431783"/>
                  <a:pt x="4226329" y="1088515"/>
                </a:cubicBezTo>
                <a:lnTo>
                  <a:pt x="4341841" y="1278653"/>
                </a:lnTo>
                <a:lnTo>
                  <a:pt x="4341841" y="1309020"/>
                </a:lnTo>
                <a:lnTo>
                  <a:pt x="0" y="1309020"/>
                </a:lnTo>
                <a:lnTo>
                  <a:pt x="8163" y="1292076"/>
                </a:lnTo>
                <a:cubicBezTo>
                  <a:pt x="426245" y="522458"/>
                  <a:pt x="1241649" y="0"/>
                  <a:pt x="217907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22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44B0592-78FE-41AE-9CC5-7BF8FA4C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608" y="5568399"/>
            <a:ext cx="1972948" cy="498232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8" name="任意多边形: 形状 7">
            <a:extLst xmlns:a="http://schemas.openxmlformats.org/drawingml/2006/main">
              <a:ext uri="{FF2B5EF4-FFF2-40B4-BE49-F238E27FC236}">
                <a16:creationId xmlns:a16="http://schemas.microsoft.com/office/drawing/2014/main" id="{CDEC722E-3452-4365-9652-8B453F5E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02312"/>
            <a:ext cx="1055687" cy="1055688"/>
          </a:xfrm>
          <a:custGeom xmlns:a="http://schemas.openxmlformats.org/drawingml/2006/main">
            <a:gdLst>
              <a:gd name="connsiteX0" fmla="*/ 0 w 3429000"/>
              <a:gd name="connsiteY0" fmla="*/ 0 h 3429000"/>
              <a:gd name="connsiteX1" fmla="*/ 3429000 w 3429000"/>
              <a:gd name="connsiteY1" fmla="*/ 3429000 h 3429000"/>
              <a:gd name="connsiteX2" fmla="*/ 2064669 w 3429000"/>
              <a:gd name="connsiteY2" fmla="*/ 3429000 h 3429000"/>
              <a:gd name="connsiteX3" fmla="*/ 0 w 3429000"/>
              <a:gd name="connsiteY3" fmla="*/ 1364331 h 3429000"/>
            </a:gdLst>
            <a:rect l="l" t="t" r="r" b="b"/>
            <a:pathLst>
              <a:path w="3429000" h="3429000">
                <a:moveTo>
                  <a:pt x="0" y="0"/>
                </a:moveTo>
                <a:cubicBezTo>
                  <a:pt x="1893784" y="0"/>
                  <a:pt x="3429000" y="1535216"/>
                  <a:pt x="3429000" y="3429000"/>
                </a:cubicBezTo>
                <a:lnTo>
                  <a:pt x="2064669" y="3429000"/>
                </a:lnTo>
                <a:cubicBezTo>
                  <a:pt x="2064669" y="2288715"/>
                  <a:pt x="1140285" y="1364331"/>
                  <a:pt x="0" y="1364331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529F677C-E352-46ED-A60F-510E9446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863874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32F1AB0E-E74A-458F-B5AB-AFEEF926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920961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11F61C1C-9AAA-40C0-B4B7-2C1C05EE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81" y="978048"/>
            <a:ext cx="173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任意多边形: 形状 8">
            <a:extLst xmlns:a="http://schemas.openxmlformats.org/drawingml/2006/main">
              <a:ext uri="{FF2B5EF4-FFF2-40B4-BE49-F238E27FC236}">
                <a16:creationId xmlns:a16="http://schemas.microsoft.com/office/drawing/2014/main" id="{E61DA19E-41C1-4E3B-85C4-1146D1D9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50845" y="0"/>
            <a:ext cx="2041155" cy="2041155"/>
          </a:xfrm>
          <a:custGeom xmlns:a="http://schemas.openxmlformats.org/drawingml/2006/main">
            <a:gdLst>
              <a:gd name="connsiteX0" fmla="*/ 0 w 1407886"/>
              <a:gd name="connsiteY0" fmla="*/ 0 h 1407886"/>
              <a:gd name="connsiteX1" fmla="*/ 1407886 w 1407886"/>
              <a:gd name="connsiteY1" fmla="*/ 1407886 h 1407886"/>
              <a:gd name="connsiteX2" fmla="*/ 1128871 w 1407886"/>
              <a:gd name="connsiteY2" fmla="*/ 1407886 h 1407886"/>
              <a:gd name="connsiteX3" fmla="*/ 0 w 1407886"/>
              <a:gd name="connsiteY3" fmla="*/ 279015 h 1407886"/>
            </a:gdLst>
            <a:rect l="l" t="t" r="r" b="b"/>
            <a:pathLst>
              <a:path w="1407886" h="1407886">
                <a:moveTo>
                  <a:pt x="0" y="0"/>
                </a:moveTo>
                <a:cubicBezTo>
                  <a:pt x="777554" y="0"/>
                  <a:pt x="1407886" y="630332"/>
                  <a:pt x="1407886" y="1407886"/>
                </a:cubicBezTo>
                <a:lnTo>
                  <a:pt x="1128871" y="1407886"/>
                </a:lnTo>
                <a:cubicBezTo>
                  <a:pt x="1128871" y="784428"/>
                  <a:pt x="623458" y="279015"/>
                  <a:pt x="0" y="279015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0"/>
                </a:schemeClr>
              </a:gs>
              <a:gs pos="85000">
                <a:schemeClr val="accent1"/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pic>
        <p:nvPicPr>
          <p:cNvPr id="34" name="图片 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3e04e1030743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0633" y="2"/>
            <a:ext cx="4971367" cy="4971368"/>
          </a:xfrm>
        </p:spPr>
      </p:pic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118F7E23-03EF-4B29-816F-B908E6DD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426267" y="0"/>
            <a:ext cx="5765733" cy="5776914"/>
          </a:xfrm>
          <a:custGeom xmlns:a="http://schemas.openxmlformats.org/drawingml/2006/main">
            <a:gdLst>
              <a:gd name="connsiteX0" fmla="*/ 0 w 3976914"/>
              <a:gd name="connsiteY0" fmla="*/ 0 h 3984625"/>
              <a:gd name="connsiteX1" fmla="*/ 3976914 w 3976914"/>
              <a:gd name="connsiteY1" fmla="*/ 3976914 h 3984625"/>
              <a:gd name="connsiteX2" fmla="*/ 3976719 w 3976914"/>
              <a:gd name="connsiteY2" fmla="*/ 3984625 h 3984625"/>
              <a:gd name="connsiteX3" fmla="*/ 2582139 w 3976914"/>
              <a:gd name="connsiteY3" fmla="*/ 3984625 h 3984625"/>
              <a:gd name="connsiteX4" fmla="*/ 2582528 w 3976914"/>
              <a:gd name="connsiteY4" fmla="*/ 3976914 h 3984625"/>
              <a:gd name="connsiteX5" fmla="*/ 0 w 3976914"/>
              <a:gd name="connsiteY5" fmla="*/ 1394386 h 3984625"/>
            </a:gdLst>
            <a:rect l="l" t="t" r="r" b="b"/>
            <a:pathLst>
              <a:path w="3976914" h="3984625">
                <a:moveTo>
                  <a:pt x="0" y="0"/>
                </a:moveTo>
                <a:cubicBezTo>
                  <a:pt x="2196389" y="0"/>
                  <a:pt x="3976914" y="1780525"/>
                  <a:pt x="3976914" y="3976914"/>
                </a:cubicBezTo>
                <a:lnTo>
                  <a:pt x="3976719" y="3984625"/>
                </a:lnTo>
                <a:lnTo>
                  <a:pt x="2582139" y="3984625"/>
                </a:lnTo>
                <a:lnTo>
                  <a:pt x="2582528" y="3976914"/>
                </a:lnTo>
                <a:cubicBezTo>
                  <a:pt x="2582528" y="2550623"/>
                  <a:pt x="1426291" y="1394386"/>
                  <a:pt x="0" y="139438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5EB6D85-5823-4C71-968B-14D8CD140E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7581" y="1438875"/>
            <a:ext cx="5841220" cy="2090350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CA0E70F-A336-4004-9214-02906020E4B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7581" y="3673225"/>
            <a:ext cx="5841220" cy="97200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E70BA34-EF66-4B58-B762-67AE74ADAA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425BAEC-DE08-4B7B-B90A-24CD4FC1CE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FE3D9C8-5BA9-4C24-91B3-F54ED6CB74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公司名占位符 6">
            <a:extLst xmlns:a="http://schemas.openxmlformats.org/drawingml/2006/main">
              <a:ext uri="{FF2B5EF4-FFF2-40B4-BE49-F238E27FC236}">
                <a16:creationId xmlns:a16="http://schemas.microsoft.com/office/drawing/2014/main" id="{9A3CFBB1-40B0-4DF5-8DEE-22F1BBF1C87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446737" y="666000"/>
            <a:ext cx="288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公司名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08DF4595-FE44-4E01-849A-D7C794292A3B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067581" y="5258398"/>
            <a:ext cx="2880000" cy="50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cdcc1e72da411d" /><Relationship Type="http://schemas.openxmlformats.org/officeDocument/2006/relationships/slideLayout" Target="/ppt/slideLayouts/slideLayout1.xml" Id="R66078f168d184856" /><Relationship Type="http://schemas.openxmlformats.org/officeDocument/2006/relationships/slideLayout" Target="/ppt/slideLayouts/slideLayout2.xml" Id="R93cb6c6030a74f3d" /><Relationship Type="http://schemas.openxmlformats.org/officeDocument/2006/relationships/slideLayout" Target="/ppt/slideLayouts/slideLayout3.xml" Id="Rae6a6135d7334fd0" /><Relationship Type="http://schemas.openxmlformats.org/officeDocument/2006/relationships/slideLayout" Target="/ppt/slideLayouts/slideLayout4.xml" Id="R0c682d4c1ffc4da2" /><Relationship Type="http://schemas.openxmlformats.org/officeDocument/2006/relationships/slideLayout" Target="/ppt/slideLayouts/slideLayout5.xml" Id="Rc6e43f40a8a74adf" /><Relationship Type="http://schemas.openxmlformats.org/officeDocument/2006/relationships/slideLayout" Target="/ppt/slideLayouts/slideLayout6.xml" Id="Ra2f0667f8f4f459c" /><Relationship Type="http://schemas.openxmlformats.org/officeDocument/2006/relationships/slideLayout" Target="/ppt/slideLayouts/slideLayout7.xml" Id="Re20c85c17bc04f29" /><Relationship Type="http://schemas.openxmlformats.org/officeDocument/2006/relationships/slideLayout" Target="/ppt/slideLayouts/slideLayout8.xml" Id="R4524bbad699e4817" /><Relationship Type="http://schemas.openxmlformats.org/officeDocument/2006/relationships/slideLayout" Target="/ppt/slideLayouts/slideLayout9.xml" Id="Rba894c900369452d" /><Relationship Type="http://schemas.openxmlformats.org/officeDocument/2006/relationships/slideLayout" Target="/ppt/slideLayouts/slideLayout10.xml" Id="Rcaa0f5864b334d84" /><Relationship Type="http://schemas.openxmlformats.org/officeDocument/2006/relationships/slideLayout" Target="/ppt/slideLayouts/slideLayout11.xml" Id="R0ec39972d06d45a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1583fd7790a4129" /><Relationship Type="http://schemas.openxmlformats.org/officeDocument/2006/relationships/slideLayout" Target="/ppt/slideLayouts/slideLayout12.xml" Id="Rf742c29dd8a14b6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b21196dd65264040" /><Relationship Type="http://schemas.openxmlformats.org/officeDocument/2006/relationships/slideLayout" Target="/ppt/slideLayouts/slideLayout13.xml" Id="Read2711283a249f9" /><Relationship Type="http://schemas.openxmlformats.org/officeDocument/2006/relationships/slideLayout" Target="/ppt/slideLayouts/slideLayout14.xml" Id="Rfe15bafef11a4a20" /><Relationship Type="http://schemas.openxmlformats.org/officeDocument/2006/relationships/slideLayout" Target="/ppt/slideLayouts/slideLayout15.xml" Id="R227309379f0e4a93" /><Relationship Type="http://schemas.openxmlformats.org/officeDocument/2006/relationships/slideLayout" Target="/ppt/slideLayouts/slideLayout16.xml" Id="Rb62a9b58176349a0" /><Relationship Type="http://schemas.openxmlformats.org/officeDocument/2006/relationships/slideLayout" Target="/ppt/slideLayouts/slideLayout17.xml" Id="R5199581b7a3b44ec" /><Relationship Type="http://schemas.openxmlformats.org/officeDocument/2006/relationships/slideLayout" Target="/ppt/slideLayouts/slideLayout18.xml" Id="R9e256cef63d449e5" /><Relationship Type="http://schemas.openxmlformats.org/officeDocument/2006/relationships/slideLayout" Target="/ppt/slideLayouts/slideLayout19.xml" Id="R14233cd973f94e83" /><Relationship Type="http://schemas.openxmlformats.org/officeDocument/2006/relationships/slideLayout" Target="/ppt/slideLayouts/slideLayout20.xml" Id="R9d1bf9baf8e944df" /><Relationship Type="http://schemas.openxmlformats.org/officeDocument/2006/relationships/slideLayout" Target="/ppt/slideLayouts/slideLayout21.xml" Id="R5a342feaa96f4b23" /><Relationship Type="http://schemas.openxmlformats.org/officeDocument/2006/relationships/slideLayout" Target="/ppt/slideLayouts/slideLayout22.xml" Id="R52ab019f39614074" /><Relationship Type="http://schemas.openxmlformats.org/officeDocument/2006/relationships/slideLayout" Target="/ppt/slideLayouts/slideLayout23.xml" Id="R540f86def81c433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37BD0952-D2C3-4BF6-AD66-639AF73A49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B30146F5-C5BB-44B4-A771-FCFA42E3F4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D4F030C3-5D68-467D-855C-5E40DE6757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+mn-lt"/>
                <a:ea typeface="+mn-lt"/>
                <a:cs typeface="+mn-lt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F532E4DB-5A0A-449E-AA53-5F0DC9F519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+mn-lt"/>
                <a:ea typeface="+mn-lt"/>
                <a:cs typeface="+mn-lt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A684EA7D-5B33-4C5C-A0DC-AB136B967E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+mn-lt"/>
                <a:ea typeface="+mn-lt"/>
                <a:cs typeface="+mn-lt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078f168d184856"/>
    <p:sldLayoutId xmlns:r="http://schemas.openxmlformats.org/officeDocument/2006/relationships" id="2147483650" r:id="R93cb6c6030a74f3d"/>
    <p:sldLayoutId xmlns:r="http://schemas.openxmlformats.org/officeDocument/2006/relationships" id="2147483651" r:id="Rae6a6135d7334fd0"/>
    <p:sldLayoutId xmlns:r="http://schemas.openxmlformats.org/officeDocument/2006/relationships" id="2147483652" r:id="R0c682d4c1ffc4da2"/>
    <p:sldLayoutId xmlns:r="http://schemas.openxmlformats.org/officeDocument/2006/relationships" id="2147483653" r:id="Rc6e43f40a8a74adf"/>
    <p:sldLayoutId xmlns:r="http://schemas.openxmlformats.org/officeDocument/2006/relationships" id="2147483654" r:id="Ra2f0667f8f4f459c"/>
    <p:sldLayoutId xmlns:r="http://schemas.openxmlformats.org/officeDocument/2006/relationships" id="2147483655" r:id="Re20c85c17bc04f29"/>
    <p:sldLayoutId xmlns:r="http://schemas.openxmlformats.org/officeDocument/2006/relationships" id="2147483656" r:id="R4524bbad699e4817"/>
    <p:sldLayoutId xmlns:r="http://schemas.openxmlformats.org/officeDocument/2006/relationships" id="2147483657" r:id="Rba894c900369452d"/>
    <p:sldLayoutId xmlns:r="http://schemas.openxmlformats.org/officeDocument/2006/relationships" id="2147483658" r:id="Rcaa0f5864b334d84"/>
    <p:sldLayoutId xmlns:r="http://schemas.openxmlformats.org/officeDocument/2006/relationships" id="2147483659" r:id="R0ec39972d06d45a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+mj-lt"/>
          <a:ea typeface="+mj-lt"/>
          <a:cs typeface="+mj-lt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f742c29dd8a14b6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8073A41-D475-43A1-9A22-A8FD4F2F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bg1"/>
              </a:gs>
              <a:gs pos="55000">
                <a:schemeClr val="bg2"/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9" name="任意多边形: 形状 8">
            <a:extLst xmlns:a="http://schemas.openxmlformats.org/drawingml/2006/main">
              <a:ext uri="{FF2B5EF4-FFF2-40B4-BE49-F238E27FC236}">
                <a16:creationId xmlns:a16="http://schemas.microsoft.com/office/drawing/2014/main" id="{D0521158-FCA3-47F4-BE3B-165CB315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1050" y="6104029"/>
            <a:ext cx="1250950" cy="753971"/>
          </a:xfrm>
          <a:custGeom xmlns:a="http://schemas.openxmlformats.org/drawingml/2006/main">
            <a:gdLst>
              <a:gd name="connsiteX0" fmla="*/ 1250950 w 1250950"/>
              <a:gd name="connsiteY0" fmla="*/ 0 h 753971"/>
              <a:gd name="connsiteX1" fmla="*/ 1250950 w 1250950"/>
              <a:gd name="connsiteY1" fmla="*/ 753971 h 753971"/>
              <a:gd name="connsiteX2" fmla="*/ 0 w 1250950"/>
              <a:gd name="connsiteY2" fmla="*/ 753971 h 753971"/>
              <a:gd name="connsiteX3" fmla="*/ 4704 w 1250950"/>
              <a:gd name="connsiteY3" fmla="*/ 744208 h 753971"/>
              <a:gd name="connsiteX4" fmla="*/ 1056691 w 1250950"/>
              <a:gd name="connsiteY4" fmla="*/ 13476 h 753971"/>
            </a:gdLst>
            <a:rect l="l" t="t" r="r" b="b"/>
            <a:pathLst>
              <a:path w="1250950" h="753971">
                <a:moveTo>
                  <a:pt x="1250950" y="0"/>
                </a:moveTo>
                <a:lnTo>
                  <a:pt x="1250950" y="753971"/>
                </a:lnTo>
                <a:lnTo>
                  <a:pt x="0" y="753971"/>
                </a:lnTo>
                <a:lnTo>
                  <a:pt x="4704" y="744208"/>
                </a:lnTo>
                <a:cubicBezTo>
                  <a:pt x="215501" y="356165"/>
                  <a:pt x="601588" y="77164"/>
                  <a:pt x="1056691" y="13476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10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3818AF67-997C-4A07-8D7B-8EBF2E77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1050" y="6350351"/>
            <a:ext cx="1034820" cy="261325"/>
          </a:xfrm>
          <a:custGeom xmlns:a="http://schemas.openxmlformats.org/drawingml/2006/main">
            <a:gdLst>
              <a:gd name="connsiteX0" fmla="*/ 1084022 w 1108530"/>
              <a:gd name="connsiteY0" fmla="*/ 230923 h 279939"/>
              <a:gd name="connsiteX1" fmla="*/ 1108530 w 1108530"/>
              <a:gd name="connsiteY1" fmla="*/ 255431 h 279939"/>
              <a:gd name="connsiteX2" fmla="*/ 1084022 w 1108530"/>
              <a:gd name="connsiteY2" fmla="*/ 279939 h 279939"/>
              <a:gd name="connsiteX3" fmla="*/ 1059514 w 1108530"/>
              <a:gd name="connsiteY3" fmla="*/ 255431 h 279939"/>
              <a:gd name="connsiteX4" fmla="*/ 1084022 w 1108530"/>
              <a:gd name="connsiteY4" fmla="*/ 230923 h 279939"/>
              <a:gd name="connsiteX5" fmla="*/ 965591 w 1108530"/>
              <a:gd name="connsiteY5" fmla="*/ 230923 h 279939"/>
              <a:gd name="connsiteX6" fmla="*/ 990099 w 1108530"/>
              <a:gd name="connsiteY6" fmla="*/ 255431 h 279939"/>
              <a:gd name="connsiteX7" fmla="*/ 965591 w 1108530"/>
              <a:gd name="connsiteY7" fmla="*/ 279939 h 279939"/>
              <a:gd name="connsiteX8" fmla="*/ 941082 w 1108530"/>
              <a:gd name="connsiteY8" fmla="*/ 255431 h 279939"/>
              <a:gd name="connsiteX9" fmla="*/ 965591 w 1108530"/>
              <a:gd name="connsiteY9" fmla="*/ 230923 h 279939"/>
              <a:gd name="connsiteX10" fmla="*/ 847159 w 1108530"/>
              <a:gd name="connsiteY10" fmla="*/ 230923 h 279939"/>
              <a:gd name="connsiteX11" fmla="*/ 871667 w 1108530"/>
              <a:gd name="connsiteY11" fmla="*/ 255431 h 279939"/>
              <a:gd name="connsiteX12" fmla="*/ 847159 w 1108530"/>
              <a:gd name="connsiteY12" fmla="*/ 279939 h 279939"/>
              <a:gd name="connsiteX13" fmla="*/ 822651 w 1108530"/>
              <a:gd name="connsiteY13" fmla="*/ 255431 h 279939"/>
              <a:gd name="connsiteX14" fmla="*/ 847159 w 1108530"/>
              <a:gd name="connsiteY14" fmla="*/ 230923 h 279939"/>
              <a:gd name="connsiteX15" fmla="*/ 728727 w 1108530"/>
              <a:gd name="connsiteY15" fmla="*/ 230923 h 279939"/>
              <a:gd name="connsiteX16" fmla="*/ 753235 w 1108530"/>
              <a:gd name="connsiteY16" fmla="*/ 255431 h 279939"/>
              <a:gd name="connsiteX17" fmla="*/ 728727 w 1108530"/>
              <a:gd name="connsiteY17" fmla="*/ 279939 h 279939"/>
              <a:gd name="connsiteX18" fmla="*/ 704219 w 1108530"/>
              <a:gd name="connsiteY18" fmla="*/ 255431 h 279939"/>
              <a:gd name="connsiteX19" fmla="*/ 728727 w 1108530"/>
              <a:gd name="connsiteY19" fmla="*/ 230923 h 279939"/>
              <a:gd name="connsiteX20" fmla="*/ 610295 w 1108530"/>
              <a:gd name="connsiteY20" fmla="*/ 230923 h 279939"/>
              <a:gd name="connsiteX21" fmla="*/ 634803 w 1108530"/>
              <a:gd name="connsiteY21" fmla="*/ 255431 h 279939"/>
              <a:gd name="connsiteX22" fmla="*/ 610295 w 1108530"/>
              <a:gd name="connsiteY22" fmla="*/ 279939 h 279939"/>
              <a:gd name="connsiteX23" fmla="*/ 585787 w 1108530"/>
              <a:gd name="connsiteY23" fmla="*/ 255431 h 279939"/>
              <a:gd name="connsiteX24" fmla="*/ 610295 w 1108530"/>
              <a:gd name="connsiteY24" fmla="*/ 230923 h 279939"/>
              <a:gd name="connsiteX25" fmla="*/ 498235 w 1108530"/>
              <a:gd name="connsiteY25" fmla="*/ 230923 h 279939"/>
              <a:gd name="connsiteX26" fmla="*/ 522743 w 1108530"/>
              <a:gd name="connsiteY26" fmla="*/ 255431 h 279939"/>
              <a:gd name="connsiteX27" fmla="*/ 498235 w 1108530"/>
              <a:gd name="connsiteY27" fmla="*/ 279939 h 279939"/>
              <a:gd name="connsiteX28" fmla="*/ 473727 w 1108530"/>
              <a:gd name="connsiteY28" fmla="*/ 255431 h 279939"/>
              <a:gd name="connsiteX29" fmla="*/ 498235 w 1108530"/>
              <a:gd name="connsiteY29" fmla="*/ 230923 h 279939"/>
              <a:gd name="connsiteX30" fmla="*/ 379803 w 1108530"/>
              <a:gd name="connsiteY30" fmla="*/ 230923 h 279939"/>
              <a:gd name="connsiteX31" fmla="*/ 404311 w 1108530"/>
              <a:gd name="connsiteY31" fmla="*/ 255431 h 279939"/>
              <a:gd name="connsiteX32" fmla="*/ 379803 w 1108530"/>
              <a:gd name="connsiteY32" fmla="*/ 279939 h 279939"/>
              <a:gd name="connsiteX33" fmla="*/ 355295 w 1108530"/>
              <a:gd name="connsiteY33" fmla="*/ 255431 h 279939"/>
              <a:gd name="connsiteX34" fmla="*/ 379803 w 1108530"/>
              <a:gd name="connsiteY34" fmla="*/ 230923 h 279939"/>
              <a:gd name="connsiteX35" fmla="*/ 261372 w 1108530"/>
              <a:gd name="connsiteY35" fmla="*/ 230923 h 279939"/>
              <a:gd name="connsiteX36" fmla="*/ 285880 w 1108530"/>
              <a:gd name="connsiteY36" fmla="*/ 255431 h 279939"/>
              <a:gd name="connsiteX37" fmla="*/ 261372 w 1108530"/>
              <a:gd name="connsiteY37" fmla="*/ 279939 h 279939"/>
              <a:gd name="connsiteX38" fmla="*/ 236863 w 1108530"/>
              <a:gd name="connsiteY38" fmla="*/ 255431 h 279939"/>
              <a:gd name="connsiteX39" fmla="*/ 261372 w 1108530"/>
              <a:gd name="connsiteY39" fmla="*/ 230923 h 279939"/>
              <a:gd name="connsiteX40" fmla="*/ 142940 w 1108530"/>
              <a:gd name="connsiteY40" fmla="*/ 230923 h 279939"/>
              <a:gd name="connsiteX41" fmla="*/ 167448 w 1108530"/>
              <a:gd name="connsiteY41" fmla="*/ 255431 h 279939"/>
              <a:gd name="connsiteX42" fmla="*/ 142940 w 1108530"/>
              <a:gd name="connsiteY42" fmla="*/ 279939 h 279939"/>
              <a:gd name="connsiteX43" fmla="*/ 118432 w 1108530"/>
              <a:gd name="connsiteY43" fmla="*/ 255431 h 279939"/>
              <a:gd name="connsiteX44" fmla="*/ 142940 w 1108530"/>
              <a:gd name="connsiteY44" fmla="*/ 230923 h 279939"/>
              <a:gd name="connsiteX45" fmla="*/ 24508 w 1108530"/>
              <a:gd name="connsiteY45" fmla="*/ 230923 h 279939"/>
              <a:gd name="connsiteX46" fmla="*/ 49016 w 1108530"/>
              <a:gd name="connsiteY46" fmla="*/ 255431 h 279939"/>
              <a:gd name="connsiteX47" fmla="*/ 24508 w 1108530"/>
              <a:gd name="connsiteY47" fmla="*/ 279939 h 279939"/>
              <a:gd name="connsiteX48" fmla="*/ 0 w 1108530"/>
              <a:gd name="connsiteY48" fmla="*/ 255431 h 279939"/>
              <a:gd name="connsiteX49" fmla="*/ 24508 w 1108530"/>
              <a:gd name="connsiteY49" fmla="*/ 230923 h 279939"/>
              <a:gd name="connsiteX50" fmla="*/ 1084022 w 1108530"/>
              <a:gd name="connsiteY50" fmla="*/ 115462 h 279939"/>
              <a:gd name="connsiteX51" fmla="*/ 1108530 w 1108530"/>
              <a:gd name="connsiteY51" fmla="*/ 139970 h 279939"/>
              <a:gd name="connsiteX52" fmla="*/ 1084022 w 1108530"/>
              <a:gd name="connsiteY52" fmla="*/ 164478 h 279939"/>
              <a:gd name="connsiteX53" fmla="*/ 1059514 w 1108530"/>
              <a:gd name="connsiteY53" fmla="*/ 139970 h 279939"/>
              <a:gd name="connsiteX54" fmla="*/ 1084022 w 1108530"/>
              <a:gd name="connsiteY54" fmla="*/ 115462 h 279939"/>
              <a:gd name="connsiteX55" fmla="*/ 965591 w 1108530"/>
              <a:gd name="connsiteY55" fmla="*/ 115462 h 279939"/>
              <a:gd name="connsiteX56" fmla="*/ 990099 w 1108530"/>
              <a:gd name="connsiteY56" fmla="*/ 139970 h 279939"/>
              <a:gd name="connsiteX57" fmla="*/ 965591 w 1108530"/>
              <a:gd name="connsiteY57" fmla="*/ 164478 h 279939"/>
              <a:gd name="connsiteX58" fmla="*/ 941082 w 1108530"/>
              <a:gd name="connsiteY58" fmla="*/ 139970 h 279939"/>
              <a:gd name="connsiteX59" fmla="*/ 965591 w 1108530"/>
              <a:gd name="connsiteY59" fmla="*/ 115462 h 279939"/>
              <a:gd name="connsiteX60" fmla="*/ 847159 w 1108530"/>
              <a:gd name="connsiteY60" fmla="*/ 115462 h 279939"/>
              <a:gd name="connsiteX61" fmla="*/ 871667 w 1108530"/>
              <a:gd name="connsiteY61" fmla="*/ 139970 h 279939"/>
              <a:gd name="connsiteX62" fmla="*/ 847159 w 1108530"/>
              <a:gd name="connsiteY62" fmla="*/ 164478 h 279939"/>
              <a:gd name="connsiteX63" fmla="*/ 822651 w 1108530"/>
              <a:gd name="connsiteY63" fmla="*/ 139970 h 279939"/>
              <a:gd name="connsiteX64" fmla="*/ 847159 w 1108530"/>
              <a:gd name="connsiteY64" fmla="*/ 115462 h 279939"/>
              <a:gd name="connsiteX65" fmla="*/ 728727 w 1108530"/>
              <a:gd name="connsiteY65" fmla="*/ 115462 h 279939"/>
              <a:gd name="connsiteX66" fmla="*/ 753235 w 1108530"/>
              <a:gd name="connsiteY66" fmla="*/ 139970 h 279939"/>
              <a:gd name="connsiteX67" fmla="*/ 728727 w 1108530"/>
              <a:gd name="connsiteY67" fmla="*/ 164478 h 279939"/>
              <a:gd name="connsiteX68" fmla="*/ 704219 w 1108530"/>
              <a:gd name="connsiteY68" fmla="*/ 139970 h 279939"/>
              <a:gd name="connsiteX69" fmla="*/ 728727 w 1108530"/>
              <a:gd name="connsiteY69" fmla="*/ 115462 h 279939"/>
              <a:gd name="connsiteX70" fmla="*/ 610295 w 1108530"/>
              <a:gd name="connsiteY70" fmla="*/ 115462 h 279939"/>
              <a:gd name="connsiteX71" fmla="*/ 634803 w 1108530"/>
              <a:gd name="connsiteY71" fmla="*/ 139970 h 279939"/>
              <a:gd name="connsiteX72" fmla="*/ 610295 w 1108530"/>
              <a:gd name="connsiteY72" fmla="*/ 164478 h 279939"/>
              <a:gd name="connsiteX73" fmla="*/ 585787 w 1108530"/>
              <a:gd name="connsiteY73" fmla="*/ 139970 h 279939"/>
              <a:gd name="connsiteX74" fmla="*/ 610295 w 1108530"/>
              <a:gd name="connsiteY74" fmla="*/ 115462 h 279939"/>
              <a:gd name="connsiteX75" fmla="*/ 498235 w 1108530"/>
              <a:gd name="connsiteY75" fmla="*/ 115462 h 279939"/>
              <a:gd name="connsiteX76" fmla="*/ 522743 w 1108530"/>
              <a:gd name="connsiteY76" fmla="*/ 139970 h 279939"/>
              <a:gd name="connsiteX77" fmla="*/ 498235 w 1108530"/>
              <a:gd name="connsiteY77" fmla="*/ 164478 h 279939"/>
              <a:gd name="connsiteX78" fmla="*/ 473727 w 1108530"/>
              <a:gd name="connsiteY78" fmla="*/ 139970 h 279939"/>
              <a:gd name="connsiteX79" fmla="*/ 498235 w 1108530"/>
              <a:gd name="connsiteY79" fmla="*/ 115462 h 279939"/>
              <a:gd name="connsiteX80" fmla="*/ 379803 w 1108530"/>
              <a:gd name="connsiteY80" fmla="*/ 115462 h 279939"/>
              <a:gd name="connsiteX81" fmla="*/ 404311 w 1108530"/>
              <a:gd name="connsiteY81" fmla="*/ 139970 h 279939"/>
              <a:gd name="connsiteX82" fmla="*/ 379803 w 1108530"/>
              <a:gd name="connsiteY82" fmla="*/ 164478 h 279939"/>
              <a:gd name="connsiteX83" fmla="*/ 355295 w 1108530"/>
              <a:gd name="connsiteY83" fmla="*/ 139970 h 279939"/>
              <a:gd name="connsiteX84" fmla="*/ 379803 w 1108530"/>
              <a:gd name="connsiteY84" fmla="*/ 115462 h 279939"/>
              <a:gd name="connsiteX85" fmla="*/ 261372 w 1108530"/>
              <a:gd name="connsiteY85" fmla="*/ 115462 h 279939"/>
              <a:gd name="connsiteX86" fmla="*/ 285880 w 1108530"/>
              <a:gd name="connsiteY86" fmla="*/ 139970 h 279939"/>
              <a:gd name="connsiteX87" fmla="*/ 261372 w 1108530"/>
              <a:gd name="connsiteY87" fmla="*/ 164478 h 279939"/>
              <a:gd name="connsiteX88" fmla="*/ 236863 w 1108530"/>
              <a:gd name="connsiteY88" fmla="*/ 139970 h 279939"/>
              <a:gd name="connsiteX89" fmla="*/ 261372 w 1108530"/>
              <a:gd name="connsiteY89" fmla="*/ 115462 h 279939"/>
              <a:gd name="connsiteX90" fmla="*/ 142940 w 1108530"/>
              <a:gd name="connsiteY90" fmla="*/ 115462 h 279939"/>
              <a:gd name="connsiteX91" fmla="*/ 167448 w 1108530"/>
              <a:gd name="connsiteY91" fmla="*/ 139970 h 279939"/>
              <a:gd name="connsiteX92" fmla="*/ 142940 w 1108530"/>
              <a:gd name="connsiteY92" fmla="*/ 164478 h 279939"/>
              <a:gd name="connsiteX93" fmla="*/ 118432 w 1108530"/>
              <a:gd name="connsiteY93" fmla="*/ 139970 h 279939"/>
              <a:gd name="connsiteX94" fmla="*/ 142940 w 1108530"/>
              <a:gd name="connsiteY94" fmla="*/ 115462 h 279939"/>
              <a:gd name="connsiteX95" fmla="*/ 24508 w 1108530"/>
              <a:gd name="connsiteY95" fmla="*/ 115462 h 279939"/>
              <a:gd name="connsiteX96" fmla="*/ 49016 w 1108530"/>
              <a:gd name="connsiteY96" fmla="*/ 139970 h 279939"/>
              <a:gd name="connsiteX97" fmla="*/ 24508 w 1108530"/>
              <a:gd name="connsiteY97" fmla="*/ 164478 h 279939"/>
              <a:gd name="connsiteX98" fmla="*/ 0 w 1108530"/>
              <a:gd name="connsiteY98" fmla="*/ 139970 h 279939"/>
              <a:gd name="connsiteX99" fmla="*/ 24508 w 1108530"/>
              <a:gd name="connsiteY99" fmla="*/ 115462 h 279939"/>
              <a:gd name="connsiteX100" fmla="*/ 1084022 w 1108530"/>
              <a:gd name="connsiteY100" fmla="*/ 0 h 279939"/>
              <a:gd name="connsiteX101" fmla="*/ 1108530 w 1108530"/>
              <a:gd name="connsiteY101" fmla="*/ 24508 h 279939"/>
              <a:gd name="connsiteX102" fmla="*/ 1084022 w 1108530"/>
              <a:gd name="connsiteY102" fmla="*/ 49016 h 279939"/>
              <a:gd name="connsiteX103" fmla="*/ 1059514 w 1108530"/>
              <a:gd name="connsiteY103" fmla="*/ 24508 h 279939"/>
              <a:gd name="connsiteX104" fmla="*/ 1084022 w 1108530"/>
              <a:gd name="connsiteY104" fmla="*/ 0 h 279939"/>
              <a:gd name="connsiteX105" fmla="*/ 965591 w 1108530"/>
              <a:gd name="connsiteY105" fmla="*/ 0 h 279939"/>
              <a:gd name="connsiteX106" fmla="*/ 990099 w 1108530"/>
              <a:gd name="connsiteY106" fmla="*/ 24508 h 279939"/>
              <a:gd name="connsiteX107" fmla="*/ 965591 w 1108530"/>
              <a:gd name="connsiteY107" fmla="*/ 49016 h 279939"/>
              <a:gd name="connsiteX108" fmla="*/ 941082 w 1108530"/>
              <a:gd name="connsiteY108" fmla="*/ 24508 h 279939"/>
              <a:gd name="connsiteX109" fmla="*/ 965591 w 1108530"/>
              <a:gd name="connsiteY109" fmla="*/ 0 h 279939"/>
              <a:gd name="connsiteX110" fmla="*/ 847159 w 1108530"/>
              <a:gd name="connsiteY110" fmla="*/ 0 h 279939"/>
              <a:gd name="connsiteX111" fmla="*/ 871667 w 1108530"/>
              <a:gd name="connsiteY111" fmla="*/ 24508 h 279939"/>
              <a:gd name="connsiteX112" fmla="*/ 847159 w 1108530"/>
              <a:gd name="connsiteY112" fmla="*/ 49016 h 279939"/>
              <a:gd name="connsiteX113" fmla="*/ 822651 w 1108530"/>
              <a:gd name="connsiteY113" fmla="*/ 24508 h 279939"/>
              <a:gd name="connsiteX114" fmla="*/ 847159 w 1108530"/>
              <a:gd name="connsiteY114" fmla="*/ 0 h 279939"/>
              <a:gd name="connsiteX115" fmla="*/ 728727 w 1108530"/>
              <a:gd name="connsiteY115" fmla="*/ 0 h 279939"/>
              <a:gd name="connsiteX116" fmla="*/ 753235 w 1108530"/>
              <a:gd name="connsiteY116" fmla="*/ 24508 h 279939"/>
              <a:gd name="connsiteX117" fmla="*/ 728727 w 1108530"/>
              <a:gd name="connsiteY117" fmla="*/ 49016 h 279939"/>
              <a:gd name="connsiteX118" fmla="*/ 704219 w 1108530"/>
              <a:gd name="connsiteY118" fmla="*/ 24508 h 279939"/>
              <a:gd name="connsiteX119" fmla="*/ 728727 w 1108530"/>
              <a:gd name="connsiteY119" fmla="*/ 0 h 279939"/>
              <a:gd name="connsiteX120" fmla="*/ 610295 w 1108530"/>
              <a:gd name="connsiteY120" fmla="*/ 0 h 279939"/>
              <a:gd name="connsiteX121" fmla="*/ 634803 w 1108530"/>
              <a:gd name="connsiteY121" fmla="*/ 24508 h 279939"/>
              <a:gd name="connsiteX122" fmla="*/ 610295 w 1108530"/>
              <a:gd name="connsiteY122" fmla="*/ 49016 h 279939"/>
              <a:gd name="connsiteX123" fmla="*/ 585787 w 1108530"/>
              <a:gd name="connsiteY123" fmla="*/ 24508 h 279939"/>
              <a:gd name="connsiteX124" fmla="*/ 610295 w 1108530"/>
              <a:gd name="connsiteY124" fmla="*/ 0 h 279939"/>
              <a:gd name="connsiteX125" fmla="*/ 498235 w 1108530"/>
              <a:gd name="connsiteY125" fmla="*/ 0 h 279939"/>
              <a:gd name="connsiteX126" fmla="*/ 522743 w 1108530"/>
              <a:gd name="connsiteY126" fmla="*/ 24508 h 279939"/>
              <a:gd name="connsiteX127" fmla="*/ 498235 w 1108530"/>
              <a:gd name="connsiteY127" fmla="*/ 49016 h 279939"/>
              <a:gd name="connsiteX128" fmla="*/ 473727 w 1108530"/>
              <a:gd name="connsiteY128" fmla="*/ 24508 h 279939"/>
              <a:gd name="connsiteX129" fmla="*/ 498235 w 1108530"/>
              <a:gd name="connsiteY129" fmla="*/ 0 h 279939"/>
              <a:gd name="connsiteX130" fmla="*/ 379803 w 1108530"/>
              <a:gd name="connsiteY130" fmla="*/ 0 h 279939"/>
              <a:gd name="connsiteX131" fmla="*/ 404311 w 1108530"/>
              <a:gd name="connsiteY131" fmla="*/ 24508 h 279939"/>
              <a:gd name="connsiteX132" fmla="*/ 379803 w 1108530"/>
              <a:gd name="connsiteY132" fmla="*/ 49016 h 279939"/>
              <a:gd name="connsiteX133" fmla="*/ 355295 w 1108530"/>
              <a:gd name="connsiteY133" fmla="*/ 24508 h 279939"/>
              <a:gd name="connsiteX134" fmla="*/ 379803 w 1108530"/>
              <a:gd name="connsiteY134" fmla="*/ 0 h 279939"/>
              <a:gd name="connsiteX135" fmla="*/ 261372 w 1108530"/>
              <a:gd name="connsiteY135" fmla="*/ 0 h 279939"/>
              <a:gd name="connsiteX136" fmla="*/ 285880 w 1108530"/>
              <a:gd name="connsiteY136" fmla="*/ 24508 h 279939"/>
              <a:gd name="connsiteX137" fmla="*/ 261372 w 1108530"/>
              <a:gd name="connsiteY137" fmla="*/ 49016 h 279939"/>
              <a:gd name="connsiteX138" fmla="*/ 236863 w 1108530"/>
              <a:gd name="connsiteY138" fmla="*/ 24508 h 279939"/>
              <a:gd name="connsiteX139" fmla="*/ 261372 w 1108530"/>
              <a:gd name="connsiteY139" fmla="*/ 0 h 279939"/>
              <a:gd name="connsiteX140" fmla="*/ 142940 w 1108530"/>
              <a:gd name="connsiteY140" fmla="*/ 0 h 279939"/>
              <a:gd name="connsiteX141" fmla="*/ 167448 w 1108530"/>
              <a:gd name="connsiteY141" fmla="*/ 24508 h 279939"/>
              <a:gd name="connsiteX142" fmla="*/ 142940 w 1108530"/>
              <a:gd name="connsiteY142" fmla="*/ 49016 h 279939"/>
              <a:gd name="connsiteX143" fmla="*/ 118432 w 1108530"/>
              <a:gd name="connsiteY143" fmla="*/ 24508 h 279939"/>
              <a:gd name="connsiteX144" fmla="*/ 142940 w 1108530"/>
              <a:gd name="connsiteY144" fmla="*/ 0 h 279939"/>
              <a:gd name="connsiteX145" fmla="*/ 24508 w 1108530"/>
              <a:gd name="connsiteY145" fmla="*/ 0 h 279939"/>
              <a:gd name="connsiteX146" fmla="*/ 49016 w 1108530"/>
              <a:gd name="connsiteY146" fmla="*/ 24508 h 279939"/>
              <a:gd name="connsiteX147" fmla="*/ 24508 w 1108530"/>
              <a:gd name="connsiteY147" fmla="*/ 49016 h 279939"/>
              <a:gd name="connsiteX148" fmla="*/ 0 w 1108530"/>
              <a:gd name="connsiteY148" fmla="*/ 24508 h 279939"/>
              <a:gd name="connsiteX149" fmla="*/ 24508 w 1108530"/>
              <a:gd name="connsiteY149" fmla="*/ 0 h 279939"/>
            </a:gdLst>
            <a:rect l="l" t="t" r="r" b="b"/>
            <a:pathLst>
              <a:path w="1108530" h="279939">
                <a:moveTo>
                  <a:pt x="1084022" y="230923"/>
                </a:moveTo>
                <a:cubicBezTo>
                  <a:pt x="1097558" y="230923"/>
                  <a:pt x="1108530" y="241895"/>
                  <a:pt x="1108530" y="255431"/>
                </a:cubicBezTo>
                <a:cubicBezTo>
                  <a:pt x="1108530" y="268967"/>
                  <a:pt x="1097558" y="279939"/>
                  <a:pt x="1084022" y="279939"/>
                </a:cubicBezTo>
                <a:cubicBezTo>
                  <a:pt x="1070486" y="279939"/>
                  <a:pt x="1059514" y="268967"/>
                  <a:pt x="1059514" y="255431"/>
                </a:cubicBezTo>
                <a:cubicBezTo>
                  <a:pt x="1059514" y="241895"/>
                  <a:pt x="1070486" y="230923"/>
                  <a:pt x="1084022" y="230923"/>
                </a:cubicBezTo>
                <a:close/>
                <a:moveTo>
                  <a:pt x="965591" y="230923"/>
                </a:moveTo>
                <a:cubicBezTo>
                  <a:pt x="979126" y="230923"/>
                  <a:pt x="990099" y="241895"/>
                  <a:pt x="990099" y="255431"/>
                </a:cubicBezTo>
                <a:cubicBezTo>
                  <a:pt x="990099" y="268967"/>
                  <a:pt x="979126" y="279939"/>
                  <a:pt x="965591" y="279939"/>
                </a:cubicBezTo>
                <a:cubicBezTo>
                  <a:pt x="952055" y="279939"/>
                  <a:pt x="941082" y="268967"/>
                  <a:pt x="941082" y="255431"/>
                </a:cubicBezTo>
                <a:cubicBezTo>
                  <a:pt x="941082" y="241895"/>
                  <a:pt x="952055" y="230923"/>
                  <a:pt x="965591" y="230923"/>
                </a:cubicBezTo>
                <a:close/>
                <a:moveTo>
                  <a:pt x="847159" y="230923"/>
                </a:moveTo>
                <a:cubicBezTo>
                  <a:pt x="860694" y="230923"/>
                  <a:pt x="871667" y="241895"/>
                  <a:pt x="871667" y="255431"/>
                </a:cubicBezTo>
                <a:cubicBezTo>
                  <a:pt x="871667" y="268967"/>
                  <a:pt x="860694" y="279939"/>
                  <a:pt x="847159" y="279939"/>
                </a:cubicBezTo>
                <a:cubicBezTo>
                  <a:pt x="833623" y="279939"/>
                  <a:pt x="822651" y="268967"/>
                  <a:pt x="822651" y="255431"/>
                </a:cubicBezTo>
                <a:cubicBezTo>
                  <a:pt x="822651" y="241895"/>
                  <a:pt x="833623" y="230923"/>
                  <a:pt x="847159" y="230923"/>
                </a:cubicBezTo>
                <a:close/>
                <a:moveTo>
                  <a:pt x="728727" y="230923"/>
                </a:moveTo>
                <a:cubicBezTo>
                  <a:pt x="742263" y="230923"/>
                  <a:pt x="753235" y="241895"/>
                  <a:pt x="753235" y="255431"/>
                </a:cubicBezTo>
                <a:cubicBezTo>
                  <a:pt x="753235" y="268967"/>
                  <a:pt x="742263" y="279939"/>
                  <a:pt x="728727" y="279939"/>
                </a:cubicBezTo>
                <a:cubicBezTo>
                  <a:pt x="715191" y="279939"/>
                  <a:pt x="704219" y="268967"/>
                  <a:pt x="704219" y="255431"/>
                </a:cubicBezTo>
                <a:cubicBezTo>
                  <a:pt x="704219" y="241895"/>
                  <a:pt x="715191" y="230923"/>
                  <a:pt x="728727" y="230923"/>
                </a:cubicBezTo>
                <a:close/>
                <a:moveTo>
                  <a:pt x="610295" y="230923"/>
                </a:moveTo>
                <a:cubicBezTo>
                  <a:pt x="623831" y="230923"/>
                  <a:pt x="634803" y="241895"/>
                  <a:pt x="634803" y="255431"/>
                </a:cubicBezTo>
                <a:cubicBezTo>
                  <a:pt x="634803" y="268967"/>
                  <a:pt x="623831" y="279939"/>
                  <a:pt x="610295" y="279939"/>
                </a:cubicBezTo>
                <a:cubicBezTo>
                  <a:pt x="596759" y="279939"/>
                  <a:pt x="585787" y="268967"/>
                  <a:pt x="585787" y="255431"/>
                </a:cubicBezTo>
                <a:cubicBezTo>
                  <a:pt x="585787" y="241895"/>
                  <a:pt x="596759" y="230923"/>
                  <a:pt x="610295" y="230923"/>
                </a:cubicBezTo>
                <a:close/>
                <a:moveTo>
                  <a:pt x="498235" y="230923"/>
                </a:moveTo>
                <a:cubicBezTo>
                  <a:pt x="511771" y="230923"/>
                  <a:pt x="522743" y="241895"/>
                  <a:pt x="522743" y="255431"/>
                </a:cubicBezTo>
                <a:cubicBezTo>
                  <a:pt x="522743" y="268967"/>
                  <a:pt x="511771" y="279939"/>
                  <a:pt x="498235" y="279939"/>
                </a:cubicBezTo>
                <a:cubicBezTo>
                  <a:pt x="484699" y="279939"/>
                  <a:pt x="473727" y="268967"/>
                  <a:pt x="473727" y="255431"/>
                </a:cubicBezTo>
                <a:cubicBezTo>
                  <a:pt x="473727" y="241895"/>
                  <a:pt x="484699" y="230923"/>
                  <a:pt x="498235" y="230923"/>
                </a:cubicBezTo>
                <a:close/>
                <a:moveTo>
                  <a:pt x="379803" y="230923"/>
                </a:moveTo>
                <a:cubicBezTo>
                  <a:pt x="393339" y="230923"/>
                  <a:pt x="404311" y="241895"/>
                  <a:pt x="404311" y="255431"/>
                </a:cubicBezTo>
                <a:cubicBezTo>
                  <a:pt x="404311" y="268967"/>
                  <a:pt x="393339" y="279939"/>
                  <a:pt x="379803" y="279939"/>
                </a:cubicBezTo>
                <a:cubicBezTo>
                  <a:pt x="366268" y="279939"/>
                  <a:pt x="355295" y="268967"/>
                  <a:pt x="355295" y="255431"/>
                </a:cubicBezTo>
                <a:cubicBezTo>
                  <a:pt x="355295" y="241895"/>
                  <a:pt x="366268" y="230923"/>
                  <a:pt x="379803" y="230923"/>
                </a:cubicBezTo>
                <a:close/>
                <a:moveTo>
                  <a:pt x="261372" y="230923"/>
                </a:moveTo>
                <a:cubicBezTo>
                  <a:pt x="274907" y="230923"/>
                  <a:pt x="285880" y="241895"/>
                  <a:pt x="285880" y="255431"/>
                </a:cubicBezTo>
                <a:cubicBezTo>
                  <a:pt x="285880" y="268967"/>
                  <a:pt x="274907" y="279939"/>
                  <a:pt x="261372" y="279939"/>
                </a:cubicBezTo>
                <a:cubicBezTo>
                  <a:pt x="247836" y="279939"/>
                  <a:pt x="236863" y="268967"/>
                  <a:pt x="236863" y="255431"/>
                </a:cubicBezTo>
                <a:cubicBezTo>
                  <a:pt x="236863" y="241895"/>
                  <a:pt x="247836" y="230923"/>
                  <a:pt x="261372" y="230923"/>
                </a:cubicBezTo>
                <a:close/>
                <a:moveTo>
                  <a:pt x="142940" y="230923"/>
                </a:moveTo>
                <a:cubicBezTo>
                  <a:pt x="156475" y="230923"/>
                  <a:pt x="167448" y="241895"/>
                  <a:pt x="167448" y="255431"/>
                </a:cubicBezTo>
                <a:cubicBezTo>
                  <a:pt x="167448" y="268967"/>
                  <a:pt x="156475" y="279939"/>
                  <a:pt x="142940" y="279939"/>
                </a:cubicBezTo>
                <a:cubicBezTo>
                  <a:pt x="129404" y="279939"/>
                  <a:pt x="118432" y="268967"/>
                  <a:pt x="118432" y="255431"/>
                </a:cubicBezTo>
                <a:cubicBezTo>
                  <a:pt x="118432" y="241895"/>
                  <a:pt x="129404" y="230923"/>
                  <a:pt x="142940" y="230923"/>
                </a:cubicBezTo>
                <a:close/>
                <a:moveTo>
                  <a:pt x="24508" y="230923"/>
                </a:moveTo>
                <a:cubicBezTo>
                  <a:pt x="38044" y="230923"/>
                  <a:pt x="49016" y="241895"/>
                  <a:pt x="49016" y="255431"/>
                </a:cubicBezTo>
                <a:cubicBezTo>
                  <a:pt x="49016" y="268967"/>
                  <a:pt x="38044" y="279939"/>
                  <a:pt x="24508" y="279939"/>
                </a:cubicBezTo>
                <a:cubicBezTo>
                  <a:pt x="10972" y="279939"/>
                  <a:pt x="0" y="268967"/>
                  <a:pt x="0" y="255431"/>
                </a:cubicBezTo>
                <a:cubicBezTo>
                  <a:pt x="0" y="241895"/>
                  <a:pt x="10972" y="230923"/>
                  <a:pt x="24508" y="230923"/>
                </a:cubicBezTo>
                <a:close/>
                <a:moveTo>
                  <a:pt x="1084022" y="115462"/>
                </a:moveTo>
                <a:cubicBezTo>
                  <a:pt x="1097558" y="115462"/>
                  <a:pt x="1108530" y="126434"/>
                  <a:pt x="1108530" y="139970"/>
                </a:cubicBezTo>
                <a:cubicBezTo>
                  <a:pt x="1108530" y="153505"/>
                  <a:pt x="1097558" y="164478"/>
                  <a:pt x="1084022" y="164478"/>
                </a:cubicBezTo>
                <a:cubicBezTo>
                  <a:pt x="1070486" y="164478"/>
                  <a:pt x="1059514" y="153505"/>
                  <a:pt x="1059514" y="139970"/>
                </a:cubicBezTo>
                <a:cubicBezTo>
                  <a:pt x="1059514" y="126434"/>
                  <a:pt x="1070486" y="115462"/>
                  <a:pt x="1084022" y="115462"/>
                </a:cubicBezTo>
                <a:close/>
                <a:moveTo>
                  <a:pt x="965591" y="115462"/>
                </a:moveTo>
                <a:cubicBezTo>
                  <a:pt x="979126" y="115462"/>
                  <a:pt x="990099" y="126434"/>
                  <a:pt x="990099" y="139970"/>
                </a:cubicBezTo>
                <a:cubicBezTo>
                  <a:pt x="990099" y="153505"/>
                  <a:pt x="979126" y="164478"/>
                  <a:pt x="965591" y="164478"/>
                </a:cubicBezTo>
                <a:cubicBezTo>
                  <a:pt x="952055" y="164478"/>
                  <a:pt x="941082" y="153505"/>
                  <a:pt x="941082" y="139970"/>
                </a:cubicBezTo>
                <a:cubicBezTo>
                  <a:pt x="941082" y="126434"/>
                  <a:pt x="952055" y="115462"/>
                  <a:pt x="965591" y="115462"/>
                </a:cubicBezTo>
                <a:close/>
                <a:moveTo>
                  <a:pt x="847159" y="115462"/>
                </a:moveTo>
                <a:cubicBezTo>
                  <a:pt x="860694" y="115462"/>
                  <a:pt x="871667" y="126434"/>
                  <a:pt x="871667" y="139970"/>
                </a:cubicBezTo>
                <a:cubicBezTo>
                  <a:pt x="871667" y="153505"/>
                  <a:pt x="860694" y="164478"/>
                  <a:pt x="847159" y="164478"/>
                </a:cubicBezTo>
                <a:cubicBezTo>
                  <a:pt x="833623" y="164478"/>
                  <a:pt x="822651" y="153505"/>
                  <a:pt x="822651" y="139970"/>
                </a:cubicBezTo>
                <a:cubicBezTo>
                  <a:pt x="822651" y="126434"/>
                  <a:pt x="833623" y="115462"/>
                  <a:pt x="847159" y="115462"/>
                </a:cubicBezTo>
                <a:close/>
                <a:moveTo>
                  <a:pt x="728727" y="115462"/>
                </a:moveTo>
                <a:cubicBezTo>
                  <a:pt x="742263" y="115462"/>
                  <a:pt x="753235" y="126434"/>
                  <a:pt x="753235" y="139970"/>
                </a:cubicBezTo>
                <a:cubicBezTo>
                  <a:pt x="753235" y="153505"/>
                  <a:pt x="742263" y="164478"/>
                  <a:pt x="728727" y="164478"/>
                </a:cubicBezTo>
                <a:cubicBezTo>
                  <a:pt x="715191" y="164478"/>
                  <a:pt x="704219" y="153505"/>
                  <a:pt x="704219" y="139970"/>
                </a:cubicBezTo>
                <a:cubicBezTo>
                  <a:pt x="704219" y="126434"/>
                  <a:pt x="715191" y="115462"/>
                  <a:pt x="728727" y="115462"/>
                </a:cubicBezTo>
                <a:close/>
                <a:moveTo>
                  <a:pt x="610295" y="115462"/>
                </a:moveTo>
                <a:cubicBezTo>
                  <a:pt x="623831" y="115462"/>
                  <a:pt x="634803" y="126434"/>
                  <a:pt x="634803" y="139970"/>
                </a:cubicBezTo>
                <a:cubicBezTo>
                  <a:pt x="634803" y="153505"/>
                  <a:pt x="623831" y="164478"/>
                  <a:pt x="610295" y="164478"/>
                </a:cubicBezTo>
                <a:cubicBezTo>
                  <a:pt x="596759" y="164478"/>
                  <a:pt x="585787" y="153505"/>
                  <a:pt x="585787" y="139970"/>
                </a:cubicBezTo>
                <a:cubicBezTo>
                  <a:pt x="585787" y="126434"/>
                  <a:pt x="596759" y="115462"/>
                  <a:pt x="610295" y="115462"/>
                </a:cubicBezTo>
                <a:close/>
                <a:moveTo>
                  <a:pt x="498235" y="115462"/>
                </a:moveTo>
                <a:cubicBezTo>
                  <a:pt x="511771" y="115462"/>
                  <a:pt x="522743" y="126434"/>
                  <a:pt x="522743" y="139970"/>
                </a:cubicBezTo>
                <a:cubicBezTo>
                  <a:pt x="522743" y="153505"/>
                  <a:pt x="511771" y="164478"/>
                  <a:pt x="498235" y="164478"/>
                </a:cubicBezTo>
                <a:cubicBezTo>
                  <a:pt x="484699" y="164478"/>
                  <a:pt x="473727" y="153505"/>
                  <a:pt x="473727" y="139970"/>
                </a:cubicBezTo>
                <a:cubicBezTo>
                  <a:pt x="473727" y="126434"/>
                  <a:pt x="484699" y="115462"/>
                  <a:pt x="498235" y="115462"/>
                </a:cubicBezTo>
                <a:close/>
                <a:moveTo>
                  <a:pt x="379803" y="115462"/>
                </a:moveTo>
                <a:cubicBezTo>
                  <a:pt x="393339" y="115462"/>
                  <a:pt x="404311" y="126434"/>
                  <a:pt x="404311" y="139970"/>
                </a:cubicBezTo>
                <a:cubicBezTo>
                  <a:pt x="404311" y="153505"/>
                  <a:pt x="393339" y="164478"/>
                  <a:pt x="379803" y="164478"/>
                </a:cubicBezTo>
                <a:cubicBezTo>
                  <a:pt x="366268" y="164478"/>
                  <a:pt x="355295" y="153505"/>
                  <a:pt x="355295" y="139970"/>
                </a:cubicBezTo>
                <a:cubicBezTo>
                  <a:pt x="355295" y="126434"/>
                  <a:pt x="366268" y="115462"/>
                  <a:pt x="379803" y="115462"/>
                </a:cubicBezTo>
                <a:close/>
                <a:moveTo>
                  <a:pt x="261372" y="115462"/>
                </a:moveTo>
                <a:cubicBezTo>
                  <a:pt x="274907" y="115462"/>
                  <a:pt x="285880" y="126434"/>
                  <a:pt x="285880" y="139970"/>
                </a:cubicBezTo>
                <a:cubicBezTo>
                  <a:pt x="285880" y="153505"/>
                  <a:pt x="274907" y="164478"/>
                  <a:pt x="261372" y="164478"/>
                </a:cubicBezTo>
                <a:cubicBezTo>
                  <a:pt x="247836" y="164478"/>
                  <a:pt x="236863" y="153505"/>
                  <a:pt x="236863" y="139970"/>
                </a:cubicBezTo>
                <a:cubicBezTo>
                  <a:pt x="236863" y="126434"/>
                  <a:pt x="247836" y="115462"/>
                  <a:pt x="261372" y="115462"/>
                </a:cubicBezTo>
                <a:close/>
                <a:moveTo>
                  <a:pt x="142940" y="115462"/>
                </a:moveTo>
                <a:cubicBezTo>
                  <a:pt x="156475" y="115462"/>
                  <a:pt x="167448" y="126434"/>
                  <a:pt x="167448" y="139970"/>
                </a:cubicBezTo>
                <a:cubicBezTo>
                  <a:pt x="167448" y="153505"/>
                  <a:pt x="156475" y="164478"/>
                  <a:pt x="142940" y="164478"/>
                </a:cubicBezTo>
                <a:cubicBezTo>
                  <a:pt x="129404" y="164478"/>
                  <a:pt x="118432" y="153505"/>
                  <a:pt x="118432" y="139970"/>
                </a:cubicBezTo>
                <a:cubicBezTo>
                  <a:pt x="118432" y="126434"/>
                  <a:pt x="129404" y="115462"/>
                  <a:pt x="142940" y="115462"/>
                </a:cubicBezTo>
                <a:close/>
                <a:moveTo>
                  <a:pt x="24508" y="115462"/>
                </a:moveTo>
                <a:cubicBezTo>
                  <a:pt x="38044" y="115462"/>
                  <a:pt x="49016" y="126434"/>
                  <a:pt x="49016" y="139970"/>
                </a:cubicBezTo>
                <a:cubicBezTo>
                  <a:pt x="49016" y="153505"/>
                  <a:pt x="38044" y="164478"/>
                  <a:pt x="24508" y="164478"/>
                </a:cubicBezTo>
                <a:cubicBezTo>
                  <a:pt x="10972" y="164478"/>
                  <a:pt x="0" y="153505"/>
                  <a:pt x="0" y="139970"/>
                </a:cubicBezTo>
                <a:cubicBezTo>
                  <a:pt x="0" y="126434"/>
                  <a:pt x="10972" y="115462"/>
                  <a:pt x="24508" y="115462"/>
                </a:cubicBezTo>
                <a:close/>
                <a:moveTo>
                  <a:pt x="1084022" y="0"/>
                </a:moveTo>
                <a:cubicBezTo>
                  <a:pt x="1097558" y="0"/>
                  <a:pt x="1108530" y="10973"/>
                  <a:pt x="1108530" y="24508"/>
                </a:cubicBezTo>
                <a:cubicBezTo>
                  <a:pt x="1108530" y="38044"/>
                  <a:pt x="1097558" y="49016"/>
                  <a:pt x="1084022" y="49016"/>
                </a:cubicBezTo>
                <a:cubicBezTo>
                  <a:pt x="1070486" y="49016"/>
                  <a:pt x="1059514" y="38044"/>
                  <a:pt x="1059514" y="24508"/>
                </a:cubicBezTo>
                <a:cubicBezTo>
                  <a:pt x="1059514" y="10973"/>
                  <a:pt x="1070486" y="0"/>
                  <a:pt x="1084022" y="0"/>
                </a:cubicBezTo>
                <a:close/>
                <a:moveTo>
                  <a:pt x="965591" y="0"/>
                </a:moveTo>
                <a:cubicBezTo>
                  <a:pt x="979126" y="0"/>
                  <a:pt x="990099" y="10973"/>
                  <a:pt x="990099" y="24508"/>
                </a:cubicBezTo>
                <a:cubicBezTo>
                  <a:pt x="990099" y="38044"/>
                  <a:pt x="979126" y="49016"/>
                  <a:pt x="965591" y="49016"/>
                </a:cubicBezTo>
                <a:cubicBezTo>
                  <a:pt x="952055" y="49016"/>
                  <a:pt x="941082" y="38044"/>
                  <a:pt x="941082" y="24508"/>
                </a:cubicBezTo>
                <a:cubicBezTo>
                  <a:pt x="941082" y="10973"/>
                  <a:pt x="952055" y="0"/>
                  <a:pt x="965591" y="0"/>
                </a:cubicBezTo>
                <a:close/>
                <a:moveTo>
                  <a:pt x="847159" y="0"/>
                </a:moveTo>
                <a:cubicBezTo>
                  <a:pt x="860694" y="0"/>
                  <a:pt x="871667" y="10973"/>
                  <a:pt x="871667" y="24508"/>
                </a:cubicBezTo>
                <a:cubicBezTo>
                  <a:pt x="871667" y="38044"/>
                  <a:pt x="860694" y="49016"/>
                  <a:pt x="847159" y="49016"/>
                </a:cubicBezTo>
                <a:cubicBezTo>
                  <a:pt x="833623" y="49016"/>
                  <a:pt x="822651" y="38044"/>
                  <a:pt x="822651" y="24508"/>
                </a:cubicBezTo>
                <a:cubicBezTo>
                  <a:pt x="822651" y="10973"/>
                  <a:pt x="833623" y="0"/>
                  <a:pt x="847159" y="0"/>
                </a:cubicBezTo>
                <a:close/>
                <a:moveTo>
                  <a:pt x="728727" y="0"/>
                </a:moveTo>
                <a:cubicBezTo>
                  <a:pt x="742263" y="0"/>
                  <a:pt x="753235" y="10973"/>
                  <a:pt x="753235" y="24508"/>
                </a:cubicBezTo>
                <a:cubicBezTo>
                  <a:pt x="753235" y="38044"/>
                  <a:pt x="742263" y="49016"/>
                  <a:pt x="728727" y="49016"/>
                </a:cubicBezTo>
                <a:cubicBezTo>
                  <a:pt x="715191" y="49016"/>
                  <a:pt x="704219" y="38044"/>
                  <a:pt x="704219" y="24508"/>
                </a:cubicBezTo>
                <a:cubicBezTo>
                  <a:pt x="704219" y="10973"/>
                  <a:pt x="715191" y="0"/>
                  <a:pt x="728727" y="0"/>
                </a:cubicBezTo>
                <a:close/>
                <a:moveTo>
                  <a:pt x="610295" y="0"/>
                </a:moveTo>
                <a:cubicBezTo>
                  <a:pt x="623831" y="0"/>
                  <a:pt x="634803" y="10973"/>
                  <a:pt x="634803" y="24508"/>
                </a:cubicBezTo>
                <a:cubicBezTo>
                  <a:pt x="634803" y="38044"/>
                  <a:pt x="623831" y="49016"/>
                  <a:pt x="610295" y="49016"/>
                </a:cubicBezTo>
                <a:cubicBezTo>
                  <a:pt x="596759" y="49016"/>
                  <a:pt x="585787" y="38044"/>
                  <a:pt x="585787" y="24508"/>
                </a:cubicBezTo>
                <a:cubicBezTo>
                  <a:pt x="585787" y="10973"/>
                  <a:pt x="596759" y="0"/>
                  <a:pt x="610295" y="0"/>
                </a:cubicBezTo>
                <a:close/>
                <a:moveTo>
                  <a:pt x="498235" y="0"/>
                </a:moveTo>
                <a:cubicBezTo>
                  <a:pt x="511771" y="0"/>
                  <a:pt x="522743" y="10973"/>
                  <a:pt x="522743" y="24508"/>
                </a:cubicBezTo>
                <a:cubicBezTo>
                  <a:pt x="522743" y="38044"/>
                  <a:pt x="511771" y="49016"/>
                  <a:pt x="498235" y="49016"/>
                </a:cubicBezTo>
                <a:cubicBezTo>
                  <a:pt x="484699" y="49016"/>
                  <a:pt x="473727" y="38044"/>
                  <a:pt x="473727" y="24508"/>
                </a:cubicBezTo>
                <a:cubicBezTo>
                  <a:pt x="473727" y="10973"/>
                  <a:pt x="484699" y="0"/>
                  <a:pt x="498235" y="0"/>
                </a:cubicBezTo>
                <a:close/>
                <a:moveTo>
                  <a:pt x="379803" y="0"/>
                </a:moveTo>
                <a:cubicBezTo>
                  <a:pt x="393339" y="0"/>
                  <a:pt x="404311" y="10973"/>
                  <a:pt x="404311" y="24508"/>
                </a:cubicBezTo>
                <a:cubicBezTo>
                  <a:pt x="404311" y="38044"/>
                  <a:pt x="393339" y="49016"/>
                  <a:pt x="379803" y="49016"/>
                </a:cubicBezTo>
                <a:cubicBezTo>
                  <a:pt x="366268" y="49016"/>
                  <a:pt x="355295" y="38044"/>
                  <a:pt x="355295" y="24508"/>
                </a:cubicBezTo>
                <a:cubicBezTo>
                  <a:pt x="355295" y="10973"/>
                  <a:pt x="366268" y="0"/>
                  <a:pt x="379803" y="0"/>
                </a:cubicBezTo>
                <a:close/>
                <a:moveTo>
                  <a:pt x="261372" y="0"/>
                </a:moveTo>
                <a:cubicBezTo>
                  <a:pt x="274907" y="0"/>
                  <a:pt x="285880" y="10973"/>
                  <a:pt x="285880" y="24508"/>
                </a:cubicBezTo>
                <a:cubicBezTo>
                  <a:pt x="285880" y="38044"/>
                  <a:pt x="274907" y="49016"/>
                  <a:pt x="261372" y="49016"/>
                </a:cubicBezTo>
                <a:cubicBezTo>
                  <a:pt x="247836" y="49016"/>
                  <a:pt x="236863" y="38044"/>
                  <a:pt x="236863" y="24508"/>
                </a:cubicBezTo>
                <a:cubicBezTo>
                  <a:pt x="236863" y="10973"/>
                  <a:pt x="247836" y="0"/>
                  <a:pt x="261372" y="0"/>
                </a:cubicBezTo>
                <a:close/>
                <a:moveTo>
                  <a:pt x="142940" y="0"/>
                </a:moveTo>
                <a:cubicBezTo>
                  <a:pt x="156475" y="0"/>
                  <a:pt x="167448" y="10973"/>
                  <a:pt x="167448" y="24508"/>
                </a:cubicBezTo>
                <a:cubicBezTo>
                  <a:pt x="167448" y="38044"/>
                  <a:pt x="156475" y="49016"/>
                  <a:pt x="142940" y="49016"/>
                </a:cubicBezTo>
                <a:cubicBezTo>
                  <a:pt x="129404" y="49016"/>
                  <a:pt x="118432" y="38044"/>
                  <a:pt x="118432" y="24508"/>
                </a:cubicBezTo>
                <a:cubicBezTo>
                  <a:pt x="118432" y="10973"/>
                  <a:pt x="129404" y="0"/>
                  <a:pt x="142940" y="0"/>
                </a:cubicBezTo>
                <a:close/>
                <a:moveTo>
                  <a:pt x="24508" y="0"/>
                </a:moveTo>
                <a:cubicBezTo>
                  <a:pt x="38044" y="0"/>
                  <a:pt x="49016" y="10973"/>
                  <a:pt x="49016" y="24508"/>
                </a:cubicBezTo>
                <a:cubicBezTo>
                  <a:pt x="49016" y="38044"/>
                  <a:pt x="38044" y="49016"/>
                  <a:pt x="24508" y="49016"/>
                </a:cubicBezTo>
                <a:cubicBezTo>
                  <a:pt x="10972" y="49016"/>
                  <a:pt x="0" y="38044"/>
                  <a:pt x="0" y="24508"/>
                </a:cubicBezTo>
                <a:cubicBezTo>
                  <a:pt x="0" y="10973"/>
                  <a:pt x="10972" y="0"/>
                  <a:pt x="24508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184940-C076-4F7C-9A6E-C296614C00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1167CD1-A6FD-4A22-BDFB-8953FC209C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E1F1C71-3EF1-4831-A68C-DAAD5F0ECAE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7D66240-AE8E-4DFA-B451-85271D17EB4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5FA3C1B-C3BA-4586-992E-FAB85D5FCFE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74BD9A9F-9AD5-4DA0-8525-BA6532C6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defTabSz="914400">
              <a:spcBef>
                <a:spcPct val="0"/>
              </a:spcBef>
              <a:spcAft>
                <a:spcPct val="0"/>
              </a:spcAft>
              <a:buNone/>
            </a:pPr>
            <a:endParaRPr sz="1800" kern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ead2711283a249f9"/>
    <p:sldLayoutId xmlns:r="http://schemas.openxmlformats.org/officeDocument/2006/relationships" id="2147483664" r:id="Rfe15bafef11a4a20"/>
    <p:sldLayoutId xmlns:r="http://schemas.openxmlformats.org/officeDocument/2006/relationships" id="2147483665" r:id="R227309379f0e4a93"/>
    <p:sldLayoutId xmlns:r="http://schemas.openxmlformats.org/officeDocument/2006/relationships" id="2147483666" r:id="Rb62a9b58176349a0"/>
    <p:sldLayoutId xmlns:r="http://schemas.openxmlformats.org/officeDocument/2006/relationships" id="2147483667" r:id="R5199581b7a3b44ec"/>
    <p:sldLayoutId xmlns:r="http://schemas.openxmlformats.org/officeDocument/2006/relationships" id="2147483668" r:id="R9e256cef63d449e5"/>
    <p:sldLayoutId xmlns:r="http://schemas.openxmlformats.org/officeDocument/2006/relationships" id="2147483669" r:id="R14233cd973f94e83"/>
    <p:sldLayoutId xmlns:r="http://schemas.openxmlformats.org/officeDocument/2006/relationships" id="2147483670" r:id="R9d1bf9baf8e944df"/>
    <p:sldLayoutId xmlns:r="http://schemas.openxmlformats.org/officeDocument/2006/relationships" id="2147483671" r:id="R5a342feaa96f4b23"/>
    <p:sldLayoutId xmlns:r="http://schemas.openxmlformats.org/officeDocument/2006/relationships" id="2147483672" r:id="R52ab019f39614074"/>
    <p:sldLayoutId xmlns:r="http://schemas.openxmlformats.org/officeDocument/2006/relationships" id="2147483673" r:id="R540f86def81c4339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 defTabSz="914400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 defTabSz="914400">
        <a:lnSpc>
          <a:spcPct val="130000"/>
        </a:lnSpc>
        <a:spcBef>
          <a:spcPts val="0"/>
        </a:spcBef>
        <a:buFont typeface="Arial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 defTabSz="914400">
        <a:lnSpc>
          <a:spcPct val="130000"/>
        </a:lnSpc>
        <a:spcBef>
          <a:spcPts val="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 defTabSz="914400">
        <a:lnSpc>
          <a:spcPct val="130000"/>
        </a:lnSpc>
        <a:spcBef>
          <a:spcPts val="0"/>
        </a:spcBef>
        <a:buFont typeface="Arial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00000419-1">
      <a:dk1>
        <a:srgbClr val="333333"/>
      </a:dk1>
      <a:lt1>
        <a:srgbClr val="FFFFFF"/>
      </a:lt1>
      <a:dk2>
        <a:srgbClr val="102544"/>
      </a:dk2>
      <a:lt2>
        <a:srgbClr val="EFF4FB"/>
      </a:lt2>
      <a:accent1>
        <a:srgbClr val="749FDE"/>
      </a:accent1>
      <a:accent2>
        <a:srgbClr val="2E69C0"/>
      </a:accent2>
      <a:accent3>
        <a:srgbClr val="7486DE"/>
      </a:accent3>
      <a:accent4>
        <a:srgbClr val="7C74DE"/>
      </a:accent4>
      <a:accent5>
        <a:srgbClr val="9574DE"/>
      </a:accent5>
      <a:accent6>
        <a:srgbClr val="AE74DE"/>
      </a:accent6>
      <a:hlink>
        <a:srgbClr val="304FFE"/>
      </a:hlink>
      <a:folHlink>
        <a:srgbClr val="492067"/>
      </a:folHlink>
    </a:clrScheme>
    <a:fontScheme name="02-微软雅黑唯一标准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00000419-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ba7527685ab64808" /><Relationship Type="http://schemas.openxmlformats.org/officeDocument/2006/relationships/notesSlide" Target="/ppt/notesSlides/notesSlide1.xml" Id="R682ad7edee894a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a3d29d51b17472e" /><Relationship Type="http://schemas.openxmlformats.org/officeDocument/2006/relationships/notesSlide" Target="/ppt/notesSlides/notesSlide2.xml" Id="R5e6926f2c75d4c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f83bbb8d4ba84fc4" /><Relationship Type="http://schemas.openxmlformats.org/officeDocument/2006/relationships/notesSlide" Target="/ppt/notesSlides/notesSlide3.xml" Id="R1512f550d40840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8a98f0eda344cdb" /><Relationship Type="http://schemas.openxmlformats.org/officeDocument/2006/relationships/chart" Target="/ppt/slides/charts/chart1.xml" Id="R4a4af297b3414633" /><Relationship Type="http://schemas.openxmlformats.org/officeDocument/2006/relationships/notesSlide" Target="/ppt/notesSlides/notesSlide4.xml" Id="R4955319f159447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05cac1a1c97f4633" /><Relationship Type="http://schemas.openxmlformats.org/officeDocument/2006/relationships/image" Target="/ppt/media/image2.png" Id="Re5e62dc7fbe0478f" /><Relationship Type="http://schemas.openxmlformats.org/officeDocument/2006/relationships/image" Target="/ppt/media/image3.png" Id="R384c9d3a147a469d" /><Relationship Type="http://schemas.openxmlformats.org/officeDocument/2006/relationships/image" Target="/ppt/media/image4.png" Id="Rcad880da2ebe4822" /><Relationship Type="http://schemas.openxmlformats.org/officeDocument/2006/relationships/notesSlide" Target="/ppt/notesSlides/notesSlide5.xml" Id="Rfc2fd5862cd643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3b5e73756084899" /><Relationship Type="http://schemas.openxmlformats.org/officeDocument/2006/relationships/chart" Target="/ppt/slides/charts/chart2.xml" Id="Rab651ffefc90446a" /><Relationship Type="http://schemas.openxmlformats.org/officeDocument/2006/relationships/image" Target="/ppt/media/image5.png" Id="R3f2acee7b4eb4c1c" /><Relationship Type="http://schemas.openxmlformats.org/officeDocument/2006/relationships/notesSlide" Target="/ppt/notesSlides/notesSlide6.xml" Id="Rc985994662604927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00" b="0" i="0" u="none" spc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业绩增长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 b="0" i="0" u="none" spc="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635"/>
          <c:y val="0.22375"/>
          <c:w val="0.89"/>
          <c:h val="0.6875714285714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"处方量(盒)"</c:f>
              <c:strCache>
                <c:ptCount val="1"/>
                <c:pt idx="0">
                  <c:v>处方量(盒)</c:v>
                </c:pt>
              </c:strCache>
            </c:strRef>
          </c:tx>
          <c:spPr>
            <a:ln xmlns:a="http://schemas.openxmlformats.org/drawingml/2006/main">
              <a:noFill/>
            </a:ln>
          </c:spPr>
          <c:dLbls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0" i="0" u="none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/>
                    <a:ea typeface="微软雅黑"/>
                    <a:cs typeface="微软雅黑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{"起始","3个月","6个月"}</c:f>
              <c:strCache>
                <c:ptCount val="3"/>
                <c:pt idx="0">
                  <c:v>起始</c:v>
                </c:pt>
                <c:pt idx="1">
                  <c:v>3个月</c:v>
                </c:pt>
                <c:pt idx="2">
                  <c:v>6个月</c:v>
                </c:pt>
              </c:strCache>
            </c:strRef>
          </c:cat>
          <c:val>
            <c:numRef>
              <c:f>{2,20,150}</c:f>
              <c:numCache>
                <c:formatCode>General</c:formatCode>
                <c:ptCount val="3"/>
                <c:pt idx="0">
                  <c:v>2</c:v>
                </c:pt>
                <c:pt idx="1">
                  <c:v>20</c:v>
                </c:pt>
                <c:pt idx="2">
                  <c:v>150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40"/>
        <c:axId val="754001152"/>
        <c:axId val="753999904"/>
      </c:barChart>
      <c:catAx>
        <c:axId val="754001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6350" cmpd="sng">
            <a:solidFill>
              <a:schemeClr val="tx1">
                <a:lumMod val="50000"/>
                <a:lumOff val="50000"/>
                <a:alpha val="25000"/>
              </a:schemeClr>
            </a:solidFill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753999904"/>
        <c:crosses val="autoZero"/>
        <c:lblOffset val="100"/>
      </c:catAx>
      <c:valAx>
        <c:axId val="7539999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754001152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6350" cmpd="sng">
      <a:solidFill>
        <a:schemeClr val="tx1">
          <a:lumMod val="50000"/>
          <a:lumOff val="50000"/>
          <a:alpha val="25000"/>
        </a:schemeClr>
      </a:solidFill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8"/>
    </mc:Choice>
    <mc:Fallback>
      <c:style val="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44110942405576"/>
          <c:y val="0.0385591688069517"/>
          <c:w val="0.879823270665399"/>
          <c:h val="0.755351584028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指标</c:v>
                </c:pt>
              </c:strCache>
            </c:strRef>
          </c:tx>
          <c:spPr>
            <a:solidFill xmlns:a="http://schemas.openxmlformats.org/drawingml/2006/main">
              <a:schemeClr val="accent3"/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5" b="0" i="0" u="non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/>
                    <a:ea typeface="微软雅黑"/>
                    <a:cs typeface="微软雅黑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Sheet1!$A$2:$A$10</c:f>
              <c:strCache>
                <c:ptCount val="9"/>
                <c:pt idx="0">
                  <c:v>24Q1</c:v>
                </c:pt>
                <c:pt idx="1">
                  <c:v>24Q2</c:v>
                </c:pt>
                <c:pt idx="2">
                  <c:v>24Q3</c:v>
                </c:pt>
                <c:pt idx="3">
                  <c:v>24Q4</c:v>
                </c:pt>
                <c:pt idx="4">
                  <c:v>25Q1</c:v>
                </c:pt>
                <c:pt idx="5">
                  <c:v>25Q2</c:v>
                </c:pt>
                <c:pt idx="6">
                  <c:v>25Q3</c:v>
                </c:pt>
                <c:pt idx="7">
                  <c:v>25Q4</c:v>
                </c:pt>
                <c:pt idx="8">
                  <c:v>26Q1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49.2</c:v>
                </c:pt>
                <c:pt idx="1">
                  <c:v>196.8</c:v>
                </c:pt>
                <c:pt idx="2">
                  <c:v>299.2</c:v>
                </c:pt>
                <c:pt idx="3">
                  <c:v>336.1</c:v>
                </c:pt>
                <c:pt idx="4">
                  <c:v>363.4</c:v>
                </c:pt>
                <c:pt idx="5">
                  <c:v>432.9</c:v>
                </c:pt>
                <c:pt idx="6">
                  <c:v>450.8</c:v>
                </c:pt>
                <c:pt idx="7">
                  <c:v>370</c:v>
                </c:pt>
                <c:pt idx="8">
                  <c:v>480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销售</c:v>
                </c:pt>
              </c:strCache>
            </c:strRef>
          </c:tx>
          <c:spPr>
            <a:gradFill xmlns:a="http://schemas.openxmlformats.org/drawingml/2006/main" rotWithShape="1">
              <a:gsLst>
                <a:gs pos="0">
                  <a:schemeClr val="accent1">
                    <a:tint val="94000"/>
                    <a:lumMod val="98000"/>
                    <a:lumOff val="2000"/>
                    <a:satMod val="103000"/>
                  </a:schemeClr>
                </a:gs>
                <a:gs pos="50000">
                  <a:schemeClr val="accent1">
                    <a:shade val="100000"/>
                    <a:satMod val="110000"/>
                  </a:schemeClr>
                </a:gs>
                <a:gs pos="100000">
                  <a:schemeClr val="accent1">
                    <a:shade val="78000"/>
                    <a:lumMod val="99000"/>
                    <a:satMod val="120000"/>
                  </a:schemeClr>
                </a:gs>
              </a:gsLst>
              <a:lin ang="5400000" scaled="0"/>
            </a:gra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5" b="0" i="0" u="non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/>
                    <a:ea typeface="微软雅黑"/>
                    <a:cs typeface="微软雅黑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Sheet1!$A$2:$A$10</c:f>
              <c:strCache>
                <c:ptCount val="9"/>
                <c:pt idx="0">
                  <c:v>24Q1</c:v>
                </c:pt>
                <c:pt idx="1">
                  <c:v>24Q2</c:v>
                </c:pt>
                <c:pt idx="2">
                  <c:v>24Q3</c:v>
                </c:pt>
                <c:pt idx="3">
                  <c:v>24Q4</c:v>
                </c:pt>
                <c:pt idx="4">
                  <c:v>25Q1</c:v>
                </c:pt>
                <c:pt idx="5">
                  <c:v>25Q2</c:v>
                </c:pt>
                <c:pt idx="6">
                  <c:v>25Q3</c:v>
                </c:pt>
                <c:pt idx="7">
                  <c:v>25Q4</c:v>
                </c:pt>
                <c:pt idx="8">
                  <c:v>26Q1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98</c:v>
                </c:pt>
                <c:pt idx="1">
                  <c:v>276</c:v>
                </c:pt>
                <c:pt idx="2">
                  <c:v>332</c:v>
                </c:pt>
                <c:pt idx="3">
                  <c:v>354</c:v>
                </c:pt>
                <c:pt idx="4">
                  <c:v>421</c:v>
                </c:pt>
                <c:pt idx="5">
                  <c:v>433</c:v>
                </c:pt>
                <c:pt idx="6">
                  <c:v>322</c:v>
                </c:pt>
                <c:pt idx="7">
                  <c:v>425</c:v>
                </c:pt>
                <c:pt idx="8">
                  <c:v>250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645603472"/>
        <c:axId val="36302286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达成</c:v>
                </c:pt>
              </c:strCache>
            </c:strRef>
          </c:tx>
          <c:spPr>
            <a:ln xmlns:a="http://schemas.openxmlformats.org/drawingml/2006/main" w="34925">
              <a:solidFill>
                <a:schemeClr val="accent1">
                  <a:tint val="65000"/>
                </a:schemeClr>
              </a:solidFill>
            </a:ln>
          </c:spPr>
          <c:marker>
            <c:symbol val="none"/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5" b="0" i="0" u="non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/>
                    <a:ea typeface="微软雅黑"/>
                    <a:cs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Sheet1!$A$2:$A$10</c:f>
              <c:strCache>
                <c:ptCount val="9"/>
                <c:pt idx="0">
                  <c:v>24Q1</c:v>
                </c:pt>
                <c:pt idx="1">
                  <c:v>24Q2</c:v>
                </c:pt>
                <c:pt idx="2">
                  <c:v>24Q3</c:v>
                </c:pt>
                <c:pt idx="3">
                  <c:v>24Q4</c:v>
                </c:pt>
                <c:pt idx="4">
                  <c:v>25Q1</c:v>
                </c:pt>
                <c:pt idx="5">
                  <c:v>25Q2</c:v>
                </c:pt>
                <c:pt idx="6">
                  <c:v>25Q3</c:v>
                </c:pt>
                <c:pt idx="7">
                  <c:v>25Q4</c:v>
                </c:pt>
                <c:pt idx="8">
                  <c:v>26Q1</c:v>
                </c:pt>
              </c:strCache>
            </c:strRef>
          </c:cat>
          <c:val>
            <c:numRef>
              <c:f>Sheet1!$D$2:$D$10</c:f>
              <c:numCache>
                <c:formatCode>0.00%</c:formatCode>
                <c:ptCount val="9"/>
                <c:pt idx="0">
                  <c:v>1.99186991869919</c:v>
                </c:pt>
                <c:pt idx="1">
                  <c:v>1.40243902439024</c:v>
                </c:pt>
                <c:pt idx="2">
                  <c:v>1.1096256684492</c:v>
                </c:pt>
                <c:pt idx="3">
                  <c:v>1.05325795894079</c:v>
                </c:pt>
                <c:pt idx="4">
                  <c:v>1.15850302696753</c:v>
                </c:pt>
                <c:pt idx="5">
                  <c:v>1.000231000231</c:v>
                </c:pt>
                <c:pt idx="6">
                  <c:v>0.714285714285714</c:v>
                </c:pt>
                <c:pt idx="7">
                  <c:v>1.14864864864865</c:v>
                </c:pt>
                <c:pt idx="8">
                  <c:v>0.520833333333333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4632512"/>
        <c:axId val="614811264"/>
      </c:lineChart>
      <c:catAx>
        <c:axId val="645603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12700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95" b="0" i="0" u="non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363022864"/>
        <c:crosses val="autoZero"/>
        <c:lblAlgn val="ctr"/>
        <c:noMultiLvlLbl val="0"/>
        <c:lblOffset val="100"/>
      </c:catAx>
      <c:valAx>
        <c:axId val="363022864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solidFill>
                <a:schemeClr val="tx1">
                  <a:lumMod val="15000"/>
                  <a:lumOff val="85000"/>
                </a:scheme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5" b="0" i="0" u="non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645603472"/>
        <c:crosses val="autoZero"/>
        <c:crossBetween val="between"/>
      </c:valAx>
      <c:catAx>
        <c:axId val="6146325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195" b="0" i="0" u="non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614811264"/>
        <c:crosses val="autoZero"/>
        <c:lblAlgn val="ctr"/>
        <c:noMultiLvlLbl val="0"/>
        <c:lblOffset val="100"/>
      </c:catAx>
      <c:valAx>
        <c:axId val="614811264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5" b="0" i="0" u="non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614632512"/>
        <c:crosses val="max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5" b="0" i="0" u="none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AD11AB83-4BF7-42F6-ACC6-BD46C848A6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45"/>
            <a:ext cx="10800080" cy="2094865"/>
          </a:xfr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lvl="0" algn="l">
              <a:buClrTx/>
              <a:buSzTx/>
              <a:buFontTx/>
              <a:buNone/>
            </a:pPr>
            <a:r>
              <a:rPr sz="4000"/>
              <a:t>重点突击-全面开花</a:t>
            </a:r>
            <a:endParaRPr sz="4000"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CFF1C37C-0DAC-454D-BC2C-BF389C69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8210" y="4837430"/>
            <a:ext cx="2978785" cy="1893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>
                <a:latin typeface="+mn-ea"/>
                <a:ea typeface="+mn-ea"/>
                <a:cs typeface="+mn-ea"/>
              </a:rPr>
              <a:t>汇报人：郑阳阳</a:t>
            </a:r>
            <a:endParaRPr kern="100">
              <a:latin typeface="+mn-ea"/>
              <a:ea typeface="+mn-ea"/>
              <a:cs typeface="+mn-ea"/>
            </a:endParaRPr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>
                <a:latin typeface="+mn-ea"/>
                <a:ea typeface="+mn-ea"/>
                <a:cs typeface="+mn-ea"/>
              </a:rPr>
              <a:t>DM</a:t>
            </a:r>
            <a:r>
              <a:rPr>
                <a:latin typeface="+mn-ea"/>
                <a:ea typeface="+mn-ea"/>
                <a:cs typeface="+mn-ea"/>
              </a:rPr>
              <a:t>：北京</a:t>
            </a:r>
            <a:r>
              <a:rPr>
                <a:latin typeface="+mn-ea"/>
                <a:ea typeface="+mn-ea"/>
                <a:cs typeface="+mn-ea"/>
              </a:rPr>
              <a:t>-</a:t>
            </a:r>
            <a:r>
              <a:rPr>
                <a:latin typeface="+mn-ea"/>
                <a:ea typeface="+mn-ea"/>
                <a:cs typeface="+mn-ea"/>
              </a:rPr>
              <a:t>赵国兴</a:t>
            </a:r>
            <a:endParaRPr kern="100">
              <a:latin typeface="+mn-ea"/>
              <a:ea typeface="+mn-ea"/>
              <a:cs typeface="+mn-ea"/>
            </a:endParaRPr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>
                <a:latin typeface="+mn-ea"/>
                <a:ea typeface="+mn-ea"/>
                <a:cs typeface="+mn-ea"/>
              </a:rPr>
              <a:t>RM</a:t>
            </a:r>
            <a:r>
              <a:rPr>
                <a:latin typeface="+mn-ea"/>
                <a:ea typeface="+mn-ea"/>
                <a:cs typeface="+mn-ea"/>
              </a:rPr>
              <a:t>：北京</a:t>
            </a:r>
            <a:r>
              <a:rPr>
                <a:latin typeface="+mn-ea"/>
                <a:ea typeface="+mn-ea"/>
                <a:cs typeface="+mn-ea"/>
              </a:rPr>
              <a:t>-</a:t>
            </a:r>
            <a:r>
              <a:rPr>
                <a:latin typeface="+mn-ea"/>
                <a:ea typeface="+mn-ea"/>
                <a:cs typeface="+mn-ea"/>
              </a:rPr>
              <a:t>李萍</a:t>
            </a:r>
            <a:endParaRPr kern="100">
              <a:latin typeface="+mn-ea"/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170264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EF249-8CBC-4B17-A266-1FFD4E3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2B4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E2B4D"/>
                </a:solidFill>
                <a:latin typeface="PingFang SC"/>
                <a:ea typeface="PingFang SC"/>
                <a:cs typeface="PingFang SC"/>
              </a:rPr>
              <a:t>测试重建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572D8-8FB2-4F12-ABC1-BDDC0EFC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285750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2F6B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E2B4D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0E2B4D"/>
                </a:solidFill>
                <a:latin typeface="PingFang SC"/>
                <a:ea typeface="PingFang SC"/>
                <a:cs typeface="PingFang SC"/>
              </a:rPr>
              <a:t>测试内容</a:t>
            </a:r>
          </a:p>
        </p:txBody>
      </p:sp>
    </p:spTree>
    <p:extLst>
      <p:ext uri="{BB962C8B-B14F-4D97-AF65-F5344CB8AC3E}">
        <p14:creationId xmlns:p14="http://schemas.microsoft.com/office/powerpoint/2010/main" val="7603224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6026925-2BC4-44C4-B34F-BB1301F1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2286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2000" b="1" i="0" u="none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01 需求洞察</a:t>
            </a:r>
            <a:endParaRPr sz="2000" b="1" i="0" u="none">
              <a:solidFill>
                <a:schemeClr val="accen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C5D1E52A-D985-4050-A2E7-F19A7AF9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159000"/>
            <a:ext cx="2286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2000" b="1" i="0" u="none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02 精准切入</a:t>
            </a:r>
            <a:endParaRPr sz="2000" b="1" i="0" u="none">
              <a:solidFill>
                <a:schemeClr val="accen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331BFE1-900B-447D-A717-0172C8F6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159000"/>
            <a:ext cx="2286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2000" b="1" i="0" u="none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03 建立信任</a:t>
            </a:r>
            <a:endParaRPr sz="2000" b="1" i="0" u="none">
              <a:solidFill>
                <a:schemeClr val="accen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EC2DD5E-F893-4176-949C-7F48FB5C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59000"/>
            <a:ext cx="2286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2000" b="1" i="0" u="none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04 观念升级</a:t>
            </a:r>
            <a:endParaRPr sz="2000" b="1" i="0" u="none">
              <a:solidFill>
                <a:schemeClr val="accen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C4CED64-2D54-45D2-85B8-45BC92A2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302000"/>
            <a:ext cx="2413000" cy="304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>
              <a:alpha val="100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C70BB077-7235-4FE6-BBEC-4B4CEAB5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492500"/>
            <a:ext cx="2159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500" b="0" i="0" u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识别客户对“安全”和“无风险”的深层诉求，利用乐复诺唯一的青少年适应症作为机会点</a:t>
            </a:r>
            <a:r>
              <a:rPr sz="1500" b="0" i="0" u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切入</a:t>
            </a:r>
            <a:r>
              <a:rPr sz="1500" b="0" i="0" u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。</a:t>
            </a:r>
            <a:endParaRPr sz="1500" b="0" i="0" u="none">
              <a:solidFill>
                <a:schemeClr val="l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AC5F89E8-221A-445A-AC7E-7F1C5859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0" y="3302000"/>
            <a:ext cx="2413000" cy="304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>
              <a:alpha val="100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922F402-8E94-4B5F-990C-57153FE2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92500"/>
            <a:ext cx="2159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500" b="0" i="0" u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锁定青少年患者和竞品应答不佳患者，用“一句话话术”打开对话。</a:t>
            </a:r>
            <a:endParaRPr sz="1500" b="0" i="0" u="none">
              <a:solidFill>
                <a:schemeClr val="l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D62C7B80-1C75-4552-9117-7447F9E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02000"/>
            <a:ext cx="2413000" cy="304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>
              <a:alpha val="100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C9B0D95-38AA-4EA5-B0D7-81D54325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3492500"/>
            <a:ext cx="2159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500" b="0" i="0" u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通过共同管理患者、及时回顾疗效，利用真实成功案例撬动医生观念。</a:t>
            </a:r>
            <a:endParaRPr sz="1500" b="0" i="0" u="none">
              <a:solidFill>
                <a:schemeClr val="l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DCF3F079-6E3A-4ECB-8DD0-01B0C928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0" y="3302000"/>
            <a:ext cx="2413000" cy="304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>
              <a:alpha val="100000"/>
            </a:scheme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CF029EEC-3F99-4AFC-AF11-2F931010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0" y="3492500"/>
            <a:ext cx="2159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500" b="0" i="0" u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将</a:t>
            </a:r>
            <a:r>
              <a:rPr sz="1500" b="0" i="0" u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青少年患者群体</a:t>
            </a:r>
            <a:r>
              <a:rPr sz="1500" b="0" i="0" u="none">
                <a:solidFill>
                  <a:schemeClr val="lt1"/>
                </a:solidFill>
                <a:latin typeface="+mn-lt"/>
                <a:ea typeface="+mn-lt"/>
                <a:cs typeface="+mn-lt"/>
              </a:rPr>
              <a:t>应用场景从特殊人群扩展至更广泛的斑秃患者，打造临床治疗首选方案；通过长期处方建议提升患者依从性，实现产品全面渗透与观念升级。</a:t>
            </a:r>
            <a:endParaRPr sz="1500" b="0" i="0" u="none">
              <a:solidFill>
                <a:schemeClr val="lt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6" name="标题 15">
            <a:extLst xmlns:a="http://schemas.openxmlformats.org/drawingml/2006/main">
              <a:ext uri="{FF2B5EF4-FFF2-40B4-BE49-F238E27FC236}">
                <a16:creationId xmlns:a16="http://schemas.microsoft.com/office/drawing/2014/main" id="{77F46C8C-25BD-4A82-B9AA-DD85167C40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lvl="0" algn="l">
              <a:buClrTx/>
              <a:buSzTx/>
              <a:buFontTx/>
              <a:buNone/>
            </a:pPr>
            <a:r>
              <a:t>02 干货、方法论与核心做法：四步破局法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98464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3" name="Chart 3"/>
          <p:cNvGraphicFramePr/>
          <p:nvPr/>
        </p:nvGraphicFramePr>
        <p:xfrm>
          <a:off xmlns:a="http://schemas.openxmlformats.org/drawingml/2006/main" x="762000" y="2032000"/>
          <a:ext xmlns:a="http://schemas.openxmlformats.org/drawingml/2006/main" cx="2540000" cy="355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4af297b3414633"/>
          </a:graphicData>
        </a:graphic>
      </p:graphicFrame>
      <p:sp>
        <p:nvSpPr>
          <p:cNvPr id="4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720A6D1-92DB-4FA6-81E2-CD81C087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1630" y="1304925"/>
            <a:ext cx="2286000" cy="3556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accent1">
              <a:alpha val="100000"/>
            </a:schemeClr>
          </a:solidFill>
          <a:ln xmlns:a="http://schemas.openxmlformats.org/drawingml/2006/main" w="12700" cmpd="sng">
            <a:solidFill>
              <a:schemeClr val="accent2">
                <a:alpha val="50000"/>
              </a:scheme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7226061-6795-41E3-B51C-6DCEC7AC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2159000"/>
            <a:ext cx="2032000" cy="330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500" b="1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可复制方法论</a:t>
            </a:r>
            <a:endParaRPr sz="1100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0" indent="0" algn="l">
              <a:lnSpc>
                <a:spcPct val="125000"/>
              </a:lnSpc>
              <a:spcBef>
                <a:spcPts val="1000"/>
              </a:spcBef>
              <a:buNone/>
            </a:pPr>
            <a:r>
              <a:rPr sz="12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1. 锁定关键医生</a:t>
            </a:r>
            <a:endParaRPr sz="12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2. 识别核心需求</a:t>
            </a:r>
            <a:endParaRPr sz="12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3. 锁定突破类型</a:t>
            </a:r>
            <a:endParaRPr sz="12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4. 针对性信息传递</a:t>
            </a:r>
            <a:endParaRPr sz="12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5. 巩固与升级</a:t>
            </a:r>
            <a:endParaRPr sz="1200" b="0" i="0" u="none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BA67FA-1EB1-4362-88C0-D490C1DC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2000"/>
            <a:ext cx="10668000" cy="762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chemeClr val="accent1">
              <a:alpha val="100000"/>
            </a:schemeClr>
          </a:solidFill>
          <a:ln xmlns:a="http://schemas.openxmlformats.org/drawingml/2006/main" w="12700" cmpd="sng">
            <a:solidFill>
              <a:schemeClr val="accent2">
                <a:alpha val="80000"/>
              </a:scheme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7" name="AutoShape 6">
            <a:extLst xmlns:a="http://schemas.openxmlformats.org/drawingml/2006/main">
              <a:ext uri="{FF2B5EF4-FFF2-40B4-BE49-F238E27FC236}">
                <a16:creationId xmlns:a16="http://schemas.microsoft.com/office/drawing/2014/main" id="{0F201156-3EDA-4DF5-9736-2981DB63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969000"/>
            <a:ext cx="1041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300" b="1" i="0" u="none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lt"/>
                <a:cs typeface="+mn-lt"/>
              </a:rPr>
              <a:t>一句话复制：</a:t>
            </a:r>
            <a:r>
              <a:rPr sz="1300" b="0" i="0" u="none">
                <a:solidFill>
                  <a:schemeClr val="accent1">
                    <a:lumMod val="20000"/>
                    <a:lumOff val="80000"/>
                    <a:alpha val="90196"/>
                  </a:schemeClr>
                </a:solidFill>
                <a:latin typeface="+mn-lt"/>
                <a:ea typeface="+mn-lt"/>
                <a:cs typeface="+mn-lt"/>
              </a:rPr>
              <a:t>选对“</a:t>
            </a:r>
            <a:r>
              <a:rPr sz="1300" b="0" i="0" u="none">
                <a:solidFill>
                  <a:schemeClr val="accent1">
                    <a:lumMod val="20000"/>
                    <a:lumOff val="80000"/>
                    <a:alpha val="90196"/>
                  </a:schemeClr>
                </a:solidFill>
                <a:latin typeface="+mn-lt"/>
                <a:ea typeface="+mn-lt"/>
                <a:cs typeface="+mn-lt"/>
              </a:rPr>
              <a:t>核心</a:t>
            </a:r>
            <a:r>
              <a:rPr sz="1300" b="0" i="0" u="none">
                <a:solidFill>
                  <a:schemeClr val="accent1">
                    <a:lumMod val="20000"/>
                    <a:lumOff val="80000"/>
                    <a:alpha val="90196"/>
                  </a:schemeClr>
                </a:solidFill>
                <a:latin typeface="+mn-lt"/>
                <a:ea typeface="+mn-lt"/>
                <a:cs typeface="+mn-lt"/>
              </a:rPr>
              <a:t>KOL</a:t>
            </a:r>
            <a:r>
              <a:rPr sz="1300" b="0" i="0" u="none">
                <a:solidFill>
                  <a:schemeClr val="accent1">
                    <a:lumMod val="20000"/>
                    <a:lumOff val="80000"/>
                    <a:alpha val="90196"/>
                  </a:schemeClr>
                </a:solidFill>
                <a:latin typeface="+mn-lt"/>
                <a:ea typeface="+mn-lt"/>
                <a:cs typeface="+mn-lt"/>
              </a:rPr>
              <a:t>”医生，洞察核心顾虑，用真实病例建立信任，实现观念</a:t>
            </a:r>
            <a:r>
              <a:rPr sz="1300" b="0" i="0" u="none">
                <a:solidFill>
                  <a:schemeClr val="accent1">
                    <a:lumMod val="20000"/>
                    <a:lumOff val="80000"/>
                    <a:alpha val="90196"/>
                  </a:schemeClr>
                </a:solidFill>
                <a:latin typeface="+mn-lt"/>
                <a:ea typeface="+mn-lt"/>
                <a:cs typeface="+mn-lt"/>
              </a:rPr>
              <a:t>进阶</a:t>
            </a:r>
            <a:r>
              <a:rPr sz="1300" b="0" i="0" u="none">
                <a:solidFill>
                  <a:schemeClr val="accent1">
                    <a:lumMod val="20000"/>
                    <a:lumOff val="80000"/>
                    <a:alpha val="90196"/>
                  </a:schemeClr>
                </a:solidFill>
                <a:latin typeface="+mn-lt"/>
                <a:ea typeface="+mn-lt"/>
                <a:cs typeface="+mn-lt"/>
              </a:rPr>
              <a:t>与业绩的双重突破。</a:t>
            </a:r>
            <a:endParaRPr sz="1300" b="0" i="0" u="none">
              <a:solidFill>
                <a:schemeClr val="accent1">
                  <a:lumMod val="20000"/>
                  <a:lumOff val="80000"/>
                  <a:alpha val="90196"/>
                </a:schemeClr>
              </a:solidFill>
              <a:latin typeface="+mn-lt"/>
              <a:ea typeface="+mn-lt"/>
              <a:cs typeface="+mn-lt"/>
            </a:endParaRPr>
          </a:p>
        </p:txBody>
      </p:sp>
      <p:graphicFrame>
        <p:nvGraphicFramePr>
          <p:cNvPr id="18" name="Table 7"/>
          <p:cNvGraphicFramePr/>
          <p:nvPr/>
        </p:nvGraphicFramePr>
        <p:xfrm>
          <a:off xmlns:a="http://schemas.openxmlformats.org/drawingml/2006/main" x="3302635" y="1304290"/>
          <a:ext xmlns:a="http://schemas.openxmlformats.org/drawingml/2006/main" cx="5762625" cy="438531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0865"/>
                <a:gridCol w="1589405"/>
                <a:gridCol w="2332355"/>
              </a:tblGrid>
              <a:tr h="40449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chemeClr val="tx1"/>
                          </a:solidFill>
                        </a:rPr>
                        <a:t>观念维度</a:t>
                      </a:r>
                      <a:endParaRPr sz="1300" b="1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chemeClr val="accent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chemeClr val="tx1"/>
                          </a:solidFill>
                        </a:rPr>
                        <a:t>起始状态</a:t>
                      </a:r>
                      <a:endParaRPr sz="1300" b="1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chemeClr val="accent1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1" i="0" u="none">
                          <a:solidFill>
                            <a:schemeClr val="tx1"/>
                          </a:solidFill>
                        </a:rPr>
                        <a:t>6个月后状态</a:t>
                      </a:r>
                      <a:endParaRPr sz="1300" b="1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chemeClr val="accent1">
                        <a:alpha val="100000"/>
                      </a:schemeClr>
                    </a:solidFill>
                  </a:tcPr>
                </a:tc>
              </a:tr>
              <a:tr h="110807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</a:rPr>
                        <a:t>扩重度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（通过更新传递2026中国斑秃指南和2025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STAGE-AA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中国专家共识，引导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HCP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重新识别重度患者）</a:t>
                      </a:r>
                      <a:endParaRPr sz="9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000"/>
                        </a:lnSpc>
                        <a:buNone/>
                      </a:pPr>
                      <a:r>
                        <a:rPr sz="1100" b="0" i="0" u="none">
                          <a:solidFill>
                            <a:schemeClr val="tx1"/>
                          </a:solidFill>
                        </a:rPr>
                        <a:t>仅偶尔尝试青少年患者使用乐复诺</a:t>
                      </a:r>
                      <a:endParaRPr sz="11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000"/>
                        </a:lnSpc>
                        <a:buNone/>
                      </a:pPr>
                      <a:r>
                        <a:rPr sz="1100" b="1" i="0" u="none">
                          <a:solidFill>
                            <a:schemeClr val="tx1"/>
                          </a:solidFill>
                        </a:rPr>
                        <a:t>独特优势型患者首选乐复诺</a:t>
                      </a:r>
                      <a:r>
                        <a:rPr sz="1100" b="0" i="0" u="none">
                          <a:solidFill>
                            <a:schemeClr val="tx1"/>
                          </a:solidFill>
                        </a:rPr>
                        <a:t>，并向患者全面告知其优势</a:t>
                      </a:r>
                      <a:endParaRPr sz="11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92646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</a:rPr>
                        <a:t>早启动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（传递斑秃疾病特点&amp;国内外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JAK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指南推荐，倡导更早启动系统治疗和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JAK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治疗，改变斑秃患者的病程）</a:t>
                      </a:r>
                      <a:endParaRPr sz="9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000"/>
                        </a:lnSpc>
                        <a:buNone/>
                      </a:pPr>
                      <a:r>
                        <a:rPr sz="1100">
                          <a:solidFill>
                            <a:schemeClr val="tx1"/>
                          </a:solidFill>
                        </a:rPr>
                        <a:t>传统治疗首选升阶梯治疗理念</a:t>
                      </a:r>
                      <a:endParaRPr sz="1100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000"/>
                        </a:lnSpc>
                        <a:buNone/>
                      </a:pPr>
                      <a:r>
                        <a:rPr sz="1100" b="0" i="0" u="none">
                          <a:solidFill>
                            <a:schemeClr val="tx1"/>
                          </a:solidFill>
                        </a:rPr>
                        <a:t>认可</a:t>
                      </a:r>
                      <a:r>
                        <a:rPr sz="1100" b="0" i="0" u="none">
                          <a:solidFill>
                            <a:schemeClr val="tx1"/>
                          </a:solidFill>
                        </a:rPr>
                        <a:t>早起始给患者带来的临床获益</a:t>
                      </a:r>
                      <a:endParaRPr sz="11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94170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</a:rPr>
                        <a:t>赢首选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（通过三类画像优势人群（独特优势/患者主诉/临床需求），分别从讲机制、讲疗效、讲安全性维度，提升乐复诺品牌首选）</a:t>
                      </a:r>
                      <a:endParaRPr sz="9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000"/>
                        </a:lnSpc>
                        <a:buNone/>
                      </a:pPr>
                      <a:r>
                        <a:rPr sz="1100" b="0" i="0" u="none">
                          <a:solidFill>
                            <a:schemeClr val="tx1"/>
                          </a:solidFill>
                        </a:rPr>
                        <a:t>首选巴瑞替尼，仅偶尔尝试青少年患者使用乐复诺</a:t>
                      </a:r>
                      <a:endParaRPr sz="11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000"/>
                        </a:lnSpc>
                        <a:buNone/>
                      </a:pPr>
                      <a:r>
                        <a:rPr sz="1100" b="1" i="0" u="none">
                          <a:solidFill>
                            <a:schemeClr val="tx1"/>
                          </a:solidFill>
                        </a:rPr>
                        <a:t>独特优势型患者首选乐复诺</a:t>
                      </a:r>
                      <a:r>
                        <a:rPr sz="1100" b="0" i="0" u="none">
                          <a:solidFill>
                            <a:schemeClr val="tx1"/>
                          </a:solidFill>
                        </a:rPr>
                        <a:t>，并向患者全面告知其优势</a:t>
                      </a:r>
                      <a:endParaRPr sz="11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00457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</a:rPr>
                        <a:t>久治疗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（建立“3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6123”</a:t>
                      </a:r>
                      <a:r>
                        <a:rPr sz="900" b="0" i="0" u="none">
                          <a:solidFill>
                            <a:schemeClr val="tx1"/>
                          </a:solidFill>
                        </a:rPr>
                        <a:t>评估路径，传递“3个月快速应答、6个月毛发再生、12个月全面修复、3年持久改善”的关键信息）</a:t>
                      </a:r>
                      <a:endParaRPr sz="9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000"/>
                        </a:lnSpc>
                        <a:buNone/>
                      </a:pPr>
                      <a:r>
                        <a:rPr sz="1100" b="0" i="0" u="none">
                          <a:solidFill>
                            <a:schemeClr val="tx1"/>
                          </a:solidFill>
                        </a:rPr>
                        <a:t>处方周期短（DOT 1）</a:t>
                      </a:r>
                      <a:endParaRPr sz="11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 w="12700" cmpd="sng">
                      <a:solidFill>
                        <a:schemeClr val="accent2"/>
                      </a:solidFill>
                      <a:prstDash val="solid"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8000"/>
                        </a:lnSpc>
                        <a:buNone/>
                      </a:pPr>
                      <a:r>
                        <a:rPr sz="1100" b="0" i="0" u="none">
                          <a:solidFill>
                            <a:schemeClr val="tx1"/>
                          </a:solidFill>
                        </a:rPr>
                        <a:t>认可长期治疗方案，处方周期延长（DOT 6）</a:t>
                      </a:r>
                      <a:endParaRPr sz="1100" b="0" i="0" u="none">
                        <a:solidFill>
                          <a:schemeClr val="tx1"/>
                        </a:solidFill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mpd="sng">
                      <a:solidFill>
                        <a:schemeClr val="accent2"/>
                      </a:solidFill>
                      <a:prstDash val="solid"/>
                    </a:lnR>
                    <a:lnT w="12700" cmpd="sng">
                      <a:solidFill>
                        <a:schemeClr val="accent2"/>
                      </a:solidFill>
                      <a:prstDash val="solid"/>
                    </a:lnT>
                    <a:lnB w="12700" cmpd="sng">
                      <a:solidFill>
                        <a:schemeClr val="accent2"/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23BF4633-B89D-4D34-BD0A-4CE9D526AE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lvl="0" algn="l">
              <a:buClrTx/>
              <a:buSzTx/>
              <a:buFontTx/>
              <a:buNone/>
            </a:pPr>
            <a:r>
              <a:t>03 取得的效果：从破冰到引领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26146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BAECA78A-D766-4274-B2A9-9E5886A4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710305"/>
          </a:xfrm>
          <a:custGeom xmlns:a="http://schemas.openxmlformats.org/drawingml/2006/main">
            <a:rect l="l" t="t" r="r" b="b"/>
            <a:pathLst>
              <a:path w="19200" h="5843">
                <a:moveTo>
                  <a:pt x="0" y="0"/>
                </a:moveTo>
                <a:lnTo>
                  <a:pt x="19200" y="0"/>
                </a:lnTo>
                <a:lnTo>
                  <a:pt x="19200" y="1014"/>
                </a:lnTo>
                <a:lnTo>
                  <a:pt x="19191" y="1026"/>
                </a:lnTo>
                <a:cubicBezTo>
                  <a:pt x="17011" y="3950"/>
                  <a:pt x="13527" y="5843"/>
                  <a:pt x="9600" y="5843"/>
                </a:cubicBezTo>
                <a:cubicBezTo>
                  <a:pt x="5673" y="5843"/>
                  <a:pt x="2189" y="3950"/>
                  <a:pt x="9" y="1026"/>
                </a:cubicBezTo>
                <a:lnTo>
                  <a:pt x="0" y="10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>
              <a:solidFill>
                <a:schemeClr val="bg1"/>
              </a:solidFill>
            </a:endParaRPr>
          </a:p>
        </p:txBody>
      </p:sp>
      <p:sp useBgFill="1">
        <p:nvSpPr>
          <p:cNvPr id="225" name="圆角矩形 224">
            <a:extLst xmlns:a="http://schemas.openxmlformats.org/drawingml/2006/main">
              <a:ext uri="{FF2B5EF4-FFF2-40B4-BE49-F238E27FC236}">
                <a16:creationId xmlns:a16="http://schemas.microsoft.com/office/drawing/2014/main" id="{E3541CF8-0DC6-4949-9C60-ABFE227D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101" y="1767510"/>
            <a:ext cx="3171891" cy="4151040"/>
          </a:xfrm>
          <a:prstGeom xmlns:a="http://schemas.openxmlformats.org/drawingml/2006/main" prst="roundRect">
            <a:avLst>
              <a:gd name="adj" fmla="val 13095"/>
            </a:avLst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144145" tIns="539750" rIns="215900" anchor="ctr">
            <a:noAutofit/>
          </a:bodyPr>
          <a:lstStyle xmlns:a="http://schemas.openxmlformats.org/drawingml/2006/main"/>
          <a:p xmlns:a="http://schemas.openxmlformats.org/drawingml/2006/main">
            <a:pPr lvl="0" algn="just">
              <a:lnSpc>
                <a:spcPct val="130000"/>
              </a:lnSpc>
              <a:buClrTx/>
              <a:buSzTx/>
              <a:buFontTx/>
              <a:buNone/>
            </a:pP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 useBgFill="1">
        <p:nvSpPr>
          <p:cNvPr id="226" name="圆角矩形 225">
            <a:extLst xmlns:a="http://schemas.openxmlformats.org/drawingml/2006/main">
              <a:ext uri="{FF2B5EF4-FFF2-40B4-BE49-F238E27FC236}">
                <a16:creationId xmlns:a16="http://schemas.microsoft.com/office/drawing/2014/main" id="{CB3F83C8-00EA-4B2F-B52A-30C6AAD3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906" y="1767510"/>
            <a:ext cx="3173204" cy="4151040"/>
          </a:xfrm>
          <a:prstGeom xmlns:a="http://schemas.openxmlformats.org/drawingml/2006/main" prst="roundRect">
            <a:avLst>
              <a:gd name="adj" fmla="val 13095"/>
            </a:avLst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144145" tIns="539750" rIns="215900" anchor="ctr"/>
          <a:lstStyle xmlns:a="http://schemas.openxmlformats.org/drawingml/2006/main"/>
          <a:p xmlns:a="http://schemas.openxmlformats.org/drawingml/2006/main">
            <a:pPr indent="0" algn="just">
              <a:lnSpc>
                <a:spcPct val="130000"/>
              </a:lnSpc>
              <a:buNone/>
            </a:pP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 useBgFill="1">
        <p:nvSpPr>
          <p:cNvPr id="227" name="圆角矩形 226">
            <a:extLst xmlns:a="http://schemas.openxmlformats.org/drawingml/2006/main">
              <a:ext uri="{FF2B5EF4-FFF2-40B4-BE49-F238E27FC236}">
                <a16:creationId xmlns:a16="http://schemas.microsoft.com/office/drawing/2014/main" id="{64DB1048-3A6C-442A-9A97-6BBAA8A8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24" y="1767510"/>
            <a:ext cx="3171891" cy="4151040"/>
          </a:xfrm>
          <a:prstGeom xmlns:a="http://schemas.openxmlformats.org/drawingml/2006/main" prst="roundRect">
            <a:avLst>
              <a:gd name="adj" fmla="val 13095"/>
            </a:avLst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144145" tIns="539750" rIns="215900" anchor="ctr">
            <a:noAutofit/>
          </a:bodyPr>
          <a:lstStyle xmlns:a="http://schemas.openxmlformats.org/drawingml/2006/main"/>
          <a:p xmlns:a="http://schemas.openxmlformats.org/drawingml/2006/main">
            <a:pPr lvl="0" algn="just">
              <a:lnSpc>
                <a:spcPct val="130000"/>
              </a:lnSpc>
              <a:buClrTx/>
              <a:buSzTx/>
              <a:buFontTx/>
              <a:buNone/>
            </a:pPr>
            <a:endParaRPr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28" name="圆角矩形 227">
            <a:extLst xmlns:a="http://schemas.openxmlformats.org/drawingml/2006/main">
              <a:ext uri="{FF2B5EF4-FFF2-40B4-BE49-F238E27FC236}">
                <a16:creationId xmlns:a16="http://schemas.microsoft.com/office/drawing/2014/main" id="{2FAABDAF-1ABA-41E9-AC03-828DA7C3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101" y="1767510"/>
            <a:ext cx="3171891" cy="415104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FFFFFF">
              <a:alpha val="15000"/>
            </a:srgbClr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144145" tIns="1080135" rIns="215900" anchor="t">
            <a:normAutofit/>
          </a:bodyPr>
          <a:lstStyle xmlns:a="http://schemas.openxmlformats.org/drawingml/2006/main"/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2024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年准入：延安大学咸阳医院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2025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年准入：唐都医院（正式）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2026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准入目标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：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西安医学院第二附属医院（临采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次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）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29" name="椭圆 228">
            <a:extLst xmlns:a="http://schemas.openxmlformats.org/drawingml/2006/main">
              <a:ext uri="{FF2B5EF4-FFF2-40B4-BE49-F238E27FC236}">
                <a16:creationId xmlns:a16="http://schemas.microsoft.com/office/drawing/2014/main" id="{A345DE05-BB42-4CD9-B7CF-6A407895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170" y="2093893"/>
            <a:ext cx="631095" cy="63109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30" name="直接连接符 229">
            <a:extLst xmlns:a="http://schemas.openxmlformats.org/drawingml/2006/main">
              <a:ext uri="{FF2B5EF4-FFF2-40B4-BE49-F238E27FC236}">
                <a16:creationId xmlns:a16="http://schemas.microsoft.com/office/drawing/2014/main" id="{FC94A342-BE85-47AB-8F6C-E7E2EF4F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6377" y="5512706"/>
            <a:ext cx="394680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250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62dc7fbe047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3362" y="2288278"/>
            <a:ext cx="260614" cy="260614"/>
          </a:xfrm>
          <a:prstGeom xmlns:a="http://schemas.openxmlformats.org/drawingml/2006/main" prst="rect">
            <a:avLst/>
          </a:prstGeom>
        </p:spPr>
      </p:pic>
      <p:sp>
        <p:nvSpPr>
          <p:cNvPr id="232" name="圆角矩形 231">
            <a:extLst xmlns:a="http://schemas.openxmlformats.org/drawingml/2006/main">
              <a:ext uri="{FF2B5EF4-FFF2-40B4-BE49-F238E27FC236}">
                <a16:creationId xmlns:a16="http://schemas.microsoft.com/office/drawing/2014/main" id="{0A05456A-D50D-4E7C-B0A7-FC084E24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906" y="1767510"/>
            <a:ext cx="3173204" cy="415104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FFFFFF">
              <a:alpha val="15000"/>
            </a:srgbClr>
          </a:solidFill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144145" tIns="1080135" rIns="215900" anchor="t">
            <a:normAutofit/>
          </a:bodyPr>
          <a:lstStyle xmlns:a="http://schemas.openxmlformats.org/drawingml/2006/main"/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目前辖区已累计处方客户数共计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53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位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,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较去年新增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7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位处方客户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;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超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A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客户：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3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位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A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客户：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3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位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 B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客户：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5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其他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CD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客户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33" name="椭圆 232">
            <a:extLst xmlns:a="http://schemas.openxmlformats.org/drawingml/2006/main">
              <a:ext uri="{FF2B5EF4-FFF2-40B4-BE49-F238E27FC236}">
                <a16:creationId xmlns:a16="http://schemas.microsoft.com/office/drawing/2014/main" id="{11ACE3AF-9621-41B1-B887-5AA1189A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632" y="2093893"/>
            <a:ext cx="631095" cy="63109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25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c9d3a147a46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4823" y="2288278"/>
            <a:ext cx="260614" cy="260614"/>
          </a:xfrm>
          <a:prstGeom xmlns:a="http://schemas.openxmlformats.org/drawingml/2006/main" prst="rect">
            <a:avLst/>
          </a:prstGeom>
        </p:spPr>
      </p:pic>
      <p:sp>
        <p:nvSpPr>
          <p:cNvPr id="235" name="直接连接符 234">
            <a:extLst xmlns:a="http://schemas.openxmlformats.org/drawingml/2006/main">
              <a:ext uri="{FF2B5EF4-FFF2-40B4-BE49-F238E27FC236}">
                <a16:creationId xmlns:a16="http://schemas.microsoft.com/office/drawing/2014/main" id="{C70CEF2F-3B21-4337-95E9-DD82332C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7839" y="5512706"/>
            <a:ext cx="394680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36" name="圆角矩形 235">
            <a:extLst xmlns:a="http://schemas.openxmlformats.org/drawingml/2006/main">
              <a:ext uri="{FF2B5EF4-FFF2-40B4-BE49-F238E27FC236}">
                <a16:creationId xmlns:a16="http://schemas.microsoft.com/office/drawing/2014/main" id="{5DC6C7E7-1862-45BE-B2D9-B657C24C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24" y="1767510"/>
            <a:ext cx="3171891" cy="4151040"/>
          </a:xfrm>
          <a:prstGeom xmlns:a="http://schemas.openxmlformats.org/drawingml/2006/main" prst="roundRect">
            <a:avLst>
              <a:gd name="adj" fmla="val 13095"/>
            </a:avLst>
          </a:prstGeom>
          <a:solidFill xmlns:a="http://schemas.openxmlformats.org/drawingml/2006/main">
            <a:srgbClr val="FFFFFF">
              <a:alpha val="15000"/>
            </a:srgbClr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144145" tIns="1080135" rIns="215900" anchor="t">
            <a:normAutofit/>
          </a:bodyPr>
          <a:lstStyle xmlns:a="http://schemas.openxmlformats.org/drawingml/2006/main"/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辖区市场：西北五省，幅员辽阔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陕西：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9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家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   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破冰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9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家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（7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家</a:t>
            </a:r>
            <a:r>
              <a:rPr sz="1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）</a:t>
            </a:r>
            <a:endParaRPr sz="1400">
              <a:solidFill>
                <a:srgbClr val="FF000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新疆：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3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家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破冰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家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宁夏：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家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 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破冰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1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家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兰州：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3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家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破冰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家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 algn="just">
              <a:lnSpc>
                <a:spcPct val="14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青海：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家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  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破冰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1</a:t>
            </a: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家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37" name="椭圆 236">
            <a:extLst xmlns:a="http://schemas.openxmlformats.org/drawingml/2006/main">
              <a:ext uri="{FF2B5EF4-FFF2-40B4-BE49-F238E27FC236}">
                <a16:creationId xmlns:a16="http://schemas.microsoft.com/office/drawing/2014/main" id="{A092C3C4-DBCC-43BA-B56D-066CAD7B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751" y="2093893"/>
            <a:ext cx="631095" cy="63109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400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257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880da2ebe48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6942" y="2279084"/>
            <a:ext cx="260712" cy="260712"/>
          </a:xfrm>
          <a:prstGeom xmlns:a="http://schemas.openxmlformats.org/drawingml/2006/main" prst="rect">
            <a:avLst/>
          </a:prstGeom>
        </p:spPr>
      </p:pic>
      <p:sp>
        <p:nvSpPr>
          <p:cNvPr id="239" name="直接连接符 238">
            <a:extLst xmlns:a="http://schemas.openxmlformats.org/drawingml/2006/main">
              <a:ext uri="{FF2B5EF4-FFF2-40B4-BE49-F238E27FC236}">
                <a16:creationId xmlns:a16="http://schemas.microsoft.com/office/drawing/2014/main" id="{19B99EC6-70AB-4844-8EC8-26C0E962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301" y="5512706"/>
            <a:ext cx="394680" cy="0"/>
          </a:xfrm>
          <a:prstGeom xmlns:a="http://schemas.openxmlformats.org/drawingml/2006/main" prst="line">
            <a:avLst/>
          </a:prstGeom>
          <a:ln xmlns:a="http://schemas.openxmlformats.org/drawingml/2006/main" w="44450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05794779-4013-44A4-92C2-F30C74B9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00" y="394405"/>
            <a:ext cx="1080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</a:pPr>
            <a:r>
              <a:rPr>
                <a:solidFill>
                  <a:schemeClr val="bg1"/>
                </a:solidFill>
              </a:rPr>
              <a:t>市场回顾</a:t>
            </a:r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897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A266EB7-3CAF-472A-85AC-9C5E7AF48A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lvl="0" algn="l">
              <a:buClrTx/>
              <a:buSzTx/>
              <a:buFontTx/>
              <a:buNone/>
            </a:pPr>
            <a:r>
              <a:t>数据分析</a:t>
            </a:r>
            <a:endParaRPr/>
          </a:p>
        </p:txBody>
      </p:sp>
      <p:graphicFrame>
        <p:nvGraphicFramePr>
          <p:cNvPr id="91" name="图表 43"/>
          <p:cNvGraphicFramePr/>
          <p:nvPr/>
        </p:nvGraphicFramePr>
        <p:xfrm>
          <a:off xmlns:a="http://schemas.openxmlformats.org/drawingml/2006/main" x="0" y="1889760"/>
          <a:ext xmlns:a="http://schemas.openxmlformats.org/drawingml/2006/main" cx="7233920" cy="375348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651ffefc90446a"/>
          </a:graphicData>
        </a:graphic>
      </p:graphicFrame>
      <p:sp>
        <p:nvSpPr>
          <p:cNvPr id="5" name="边界">
            <a:extLst xmlns:a="http://schemas.openxmlformats.org/drawingml/2006/main">
              <a:ext uri="{FF2B5EF4-FFF2-40B4-BE49-F238E27FC236}">
                <a16:creationId xmlns:a16="http://schemas.microsoft.com/office/drawing/2014/main" id="{E11F0DBC-E928-4DF0-BA10-EBCB5A72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3907" y="1502410"/>
            <a:ext cx="4508053" cy="4418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7" name="正文">
            <a:extLst xmlns:a="http://schemas.openxmlformats.org/drawingml/2006/main">
              <a:ext uri="{FF2B5EF4-FFF2-40B4-BE49-F238E27FC236}">
                <a16:creationId xmlns:a16="http://schemas.microsoft.com/office/drawing/2014/main" id="{AC75639A-95D7-42AD-87CF-CAFFE4EB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285" y="1316990"/>
            <a:ext cx="4638675" cy="15336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2024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年全年达成：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139%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，全年增长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700%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；</a:t>
            </a: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初诊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：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全年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200+ ；DOT6.2/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人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，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跑单率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11.3%</a:t>
            </a: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" name="正文">
            <a:extLst xmlns:a="http://schemas.openxmlformats.org/drawingml/2006/main">
              <a:ext uri="{FF2B5EF4-FFF2-40B4-BE49-F238E27FC236}">
                <a16:creationId xmlns:a16="http://schemas.microsoft.com/office/drawing/2014/main" id="{41B5084A-CB98-40BE-BFFD-E174F782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285" y="2293788"/>
            <a:ext cx="4638675" cy="15336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2025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年预计全年达成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100%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，环比去年增长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50%</a:t>
            </a: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上半年初诊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：200+  DOT  4.3/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人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，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跑单率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45%</a:t>
            </a: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rgbClr val="FF0000"/>
                </a:solidFill>
                <a:latin typeface="+mn-ea"/>
                <a:ea typeface="+mn-ea"/>
                <a:cs typeface="+mn-ea"/>
              </a:rPr>
              <a:t>2025</a:t>
            </a:r>
            <a:r>
              <a:rPr sz="1600">
                <a:ln>
                  <a:noFill/>
                  <a:prstDash val="sysDot"/>
                </a:ln>
                <a:solidFill>
                  <a:srgbClr val="FF0000"/>
                </a:solidFill>
                <a:latin typeface="+mn-ea"/>
                <a:ea typeface="+mn-ea"/>
                <a:cs typeface="+mn-ea"/>
              </a:rPr>
              <a:t>全年</a:t>
            </a:r>
            <a:r>
              <a:rPr sz="1600">
                <a:ln>
                  <a:noFill/>
                  <a:prstDash val="sysDot"/>
                </a:ln>
                <a:solidFill>
                  <a:srgbClr val="FF0000"/>
                </a:solidFill>
                <a:latin typeface="+mn-ea"/>
                <a:ea typeface="+mn-ea"/>
                <a:cs typeface="+mn-ea"/>
              </a:rPr>
              <a:t> </a:t>
            </a:r>
            <a:r>
              <a:rPr sz="1600">
                <a:ln>
                  <a:noFill/>
                  <a:prstDash val="sysDot"/>
                </a:ln>
                <a:solidFill>
                  <a:srgbClr val="FF0000"/>
                </a:solidFill>
                <a:latin typeface="+mn-ea"/>
                <a:ea typeface="+mn-ea"/>
                <a:cs typeface="+mn-ea"/>
              </a:rPr>
              <a:t>非核心市场销售占比</a:t>
            </a:r>
            <a:r>
              <a:rPr sz="1600">
                <a:ln>
                  <a:noFill/>
                  <a:prstDash val="sysDot"/>
                </a:ln>
                <a:solidFill>
                  <a:srgbClr val="FF0000"/>
                </a:solidFill>
                <a:latin typeface="+mn-ea"/>
                <a:ea typeface="+mn-ea"/>
                <a:cs typeface="+mn-ea"/>
              </a:rPr>
              <a:t>10.7%</a:t>
            </a:r>
            <a:endParaRPr sz="1600" kern="0">
              <a:ln>
                <a:noFill/>
                <a:prstDash val="sysDot"/>
              </a:ln>
              <a:solidFill>
                <a:srgbClr val="FF000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rgbClr val="FF0000"/>
                </a:solidFill>
                <a:latin typeface="+mn-ea"/>
                <a:ea typeface="+mn-ea"/>
                <a:cs typeface="+mn-ea"/>
              </a:rPr>
              <a:t> </a:t>
            </a:r>
            <a:endParaRPr sz="1600" kern="0">
              <a:ln>
                <a:noFill/>
                <a:prstDash val="sysDot"/>
              </a:ln>
              <a:solidFill>
                <a:srgbClr val="FF0000"/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endParaRPr sz="1600" kern="0">
              <a:ln>
                <a:noFill/>
                <a:prstDash val="sysDot"/>
              </a:ln>
              <a:solidFill>
                <a:srgbClr val="FF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6" name="正文">
            <a:extLst xmlns:a="http://schemas.openxmlformats.org/drawingml/2006/main">
              <a:ext uri="{FF2B5EF4-FFF2-40B4-BE49-F238E27FC236}">
                <a16:creationId xmlns:a16="http://schemas.microsoft.com/office/drawing/2014/main" id="{E403898E-2D46-4D62-90FE-181FDB0D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080385"/>
            <a:ext cx="4683125" cy="1173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既往持续高效达成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：</a:t>
            </a: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核心市场的深耕及区域市场扩面</a:t>
            </a: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处方客户的持续增加及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DOT</a:t>
            </a:r>
            <a:r>
              <a:rPr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管理</a:t>
            </a: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indent="0">
              <a:lnSpc>
                <a:spcPct val="150000"/>
              </a:lnSpc>
              <a:buNone/>
            </a:pPr>
            <a:endParaRPr sz="16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6" name="墨迹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acee7b4eb4c1c"/>
          <a:stretch xmlns:a="http://schemas.openxmlformats.org/drawingml/2006/main"/>
        </p:blipFill>
        <p:spPr>
          <a:xfrm xmlns:a="http://schemas.openxmlformats.org/drawingml/2006/main">
            <a:off x="4840431" y="6250059"/>
            <a:ext cx="274205" cy="3539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07780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2026-09-21T07:29:01.8710000Z</dcterms:created>
  <dcterms:modified xsi:type="dcterms:W3CDTF">2026-09-21T07:29:01.8710000Z</dcterms:modified>
</coreProperties>
</file>