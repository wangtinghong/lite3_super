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299bf1b17b4313" /><Relationship Type="http://schemas.openxmlformats.org/officeDocument/2006/relationships/extended-properties" Target="/docProps/app.xml" Id="R07792c095096486e" /><Relationship Type="http://schemas.openxmlformats.org/officeDocument/2006/relationships/officeDocument" Target="/ppt/presentation.xml" Id="Rc621ff71d4f54f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ab4ee4d5394917"/>
    <p:sldMasterId xmlns:r="http://schemas.openxmlformats.org/officeDocument/2006/relationships" id="2147483660" r:id="Rb727fc22bed34b1a"/>
    <p:sldMasterId xmlns:r="http://schemas.openxmlformats.org/officeDocument/2006/relationships" id="2147483662" r:id="R3b0758c165bd4f58"/>
  </p:sldMasterIdLst>
  <p:notesMasterIdLst>
    <p:notesMasterId xmlns:r="http://schemas.openxmlformats.org/officeDocument/2006/relationships" r:id="Rdb561cc32c694343"/>
  </p:notesMasterIdLst>
  <p:sldIdLst>
    <p:sldId xmlns:r="http://schemas.openxmlformats.org/officeDocument/2006/relationships" id="256" r:id="Rdf909278ee6a4b78"/>
    <p:sldId xmlns:r="http://schemas.openxmlformats.org/officeDocument/2006/relationships" id="257" r:id="Rba0f53455fa2474a"/>
    <p:sldId xmlns:r="http://schemas.openxmlformats.org/officeDocument/2006/relationships" id="258" r:id="R038da9f823b44648"/>
    <p:sldId xmlns:r="http://schemas.openxmlformats.org/officeDocument/2006/relationships" id="259" r:id="Re22c72e7ba1d4ac0"/>
    <p:sldId xmlns:r="http://schemas.openxmlformats.org/officeDocument/2006/relationships" id="260" r:id="R3a58eb9d9e114546"/>
    <p:sldId xmlns:r="http://schemas.openxmlformats.org/officeDocument/2006/relationships" id="261" r:id="R0a1be017e0e442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e3d661209c43cd" /><Relationship Type="http://schemas.openxmlformats.org/officeDocument/2006/relationships/slideMaster" Target="/ppt/slideMasters/slideMaster1.xml" Id="R07ab4ee4d5394917" /><Relationship Type="http://schemas.openxmlformats.org/officeDocument/2006/relationships/slideMaster" Target="/ppt/slideMasters/slideMaster2.xml" Id="Rb727fc22bed34b1a" /><Relationship Type="http://schemas.openxmlformats.org/officeDocument/2006/relationships/slideMaster" Target="/ppt/slideMasters/slideMaster3.xml" Id="R3b0758c165bd4f58" /><Relationship Type="http://schemas.openxmlformats.org/officeDocument/2006/relationships/notesMaster" Target="/ppt/notesMasters/notesMaster1.xml" Id="Rdb561cc32c694343" /><Relationship Type="http://schemas.openxmlformats.org/officeDocument/2006/relationships/presProps" Target="/ppt/presProps.xml" Id="R4544dcf4e7a347a8" /><Relationship Type="http://schemas.openxmlformats.org/officeDocument/2006/relationships/viewProps" Target="/ppt/viewProps.xml" Id="Rb0492098d9594f4c" /><Relationship Type="http://schemas.openxmlformats.org/officeDocument/2006/relationships/tableStyles" Target="/ppt/tableStyles.xml" Id="R4661212f38af4587" /><Relationship Type="http://schemas.openxmlformats.org/officeDocument/2006/relationships/slide" Target="/ppt/slides/slide1.xml" Id="Rdf909278ee6a4b78" /><Relationship Type="http://schemas.openxmlformats.org/officeDocument/2006/relationships/slide" Target="/ppt/slides/slide2.xml" Id="Rba0f53455fa2474a" /><Relationship Type="http://schemas.openxmlformats.org/officeDocument/2006/relationships/slide" Target="/ppt/slides/slide3.xml" Id="R038da9f823b44648" /><Relationship Type="http://schemas.openxmlformats.org/officeDocument/2006/relationships/slide" Target="/ppt/slides/slide4.xml" Id="Re22c72e7ba1d4ac0" /><Relationship Type="http://schemas.openxmlformats.org/officeDocument/2006/relationships/slide" Target="/ppt/slides/slide5.xml" Id="R3a58eb9d9e114546" /><Relationship Type="http://schemas.openxmlformats.org/officeDocument/2006/relationships/slide" Target="/ppt/slides/slide6.xml" Id="R0a1be017e0e442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acab6071f384d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50b2c106ec47b4" /><Relationship Type="http://schemas.openxmlformats.org/officeDocument/2006/relationships/notesMaster" Target="/ppt/notesMasters/notesMaster1.xml" Id="R00d863dffc8649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e431b26de4472b" /><Relationship Type="http://schemas.openxmlformats.org/officeDocument/2006/relationships/notesMaster" Target="/ppt/notesMasters/notesMaster1.xml" Id="R98e6bc29f7db45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f927a92fda4bd8" /><Relationship Type="http://schemas.openxmlformats.org/officeDocument/2006/relationships/notesMaster" Target="/ppt/notesMasters/notesMaster1.xml" Id="R243a1fbb738340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4f34e8d45848fd" /><Relationship Type="http://schemas.openxmlformats.org/officeDocument/2006/relationships/notesMaster" Target="/ppt/notesMasters/notesMaster1.xml" Id="R3f3f86c148e149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092c94ed73413b" /><Relationship Type="http://schemas.openxmlformats.org/officeDocument/2006/relationships/notesMaster" Target="/ppt/notesMasters/notesMaster1.xml" Id="R6edb1ef5ae3c4b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0cfa53b3ff4b40" /><Relationship Type="http://schemas.openxmlformats.org/officeDocument/2006/relationships/notesMaster" Target="/ppt/notesMasters/notesMaster1.xml" Id="R5cadfae306ae43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页重点阐述了乐复诺在西京医院面临的严峻背景与核心痛点。我们的目标客户是西京医院的王胜春教授，尽管其门诊量巨大，但医院有严格的制度壁垒，不处方院外产品。同时，医生对乐复诺缺乏认知，且现有方案已能满足需求，这构成了我们进入市场的三重障碍。医生的灵魂拷问——“为何冒险用新药”，正是我们需要解决的核心问题。目前，产品处于零准入、零使用、零认知的“三零”困境，突破迫在眉睫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面对困境，我们制定了“四步破局法”。第一步，洞察需求。我们发现医生真正需要的是一个能规避风险的方案，而乐复诺唯一的青少年适应症正好满足了这一点。第二步，精准切入。我们锁定青少年患者和竞品应答不佳的患者作为突破口，用一句精准的话术打开了对话。第三步，建立信任。通过共同管理患者、及时回顾疗效，特别是一个成功的青少年案例，让医生亲眼见证了效果。最后一步，观念升级。在建立信任后，我们推动乐复诺成为更广泛人群的首选方案，并通过长期处方建议提升了患者依从性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本页重点展示了我们取得的核心效果。首先是业绩的指数级增长，月均处方量从2盒飙升至150盒。其次是医生观念的根本转变，从最初的抗拒到主动将乐复诺作为优势患者的首选。同时，处方周期也从短期的DOT 1延长到了规范的DOT 6。更重要的是，我们沉淀出了一套可复制的成功方法论。最后总结为一句话：选对关键医生，洞察核心顾虑，用病例建立信任，就能实现观念与业绩的双重突破。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e810057834b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1c1f7ed2d44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f7b208bea146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8ffd91a8a40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a67133fb644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ae9b831da4d9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e2707c89044b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8fddfd15f4fd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6c4168d6441a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b8ec561a2945d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02bf5940c4f7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de5a21b2cb4d8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1c32db8651b431a" /><Relationship Type="http://schemas.openxmlformats.org/officeDocument/2006/relationships/image" Target="/ppt/media/image.png" Id="R2aa8f10b01734c3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2598425b5534ad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7c61232d52a4bb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8394810f0184c2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a5a0e3c533343ba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83393a3c03d44e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ff267cde6664cf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e3e9f16f15e481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20aee95b607478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d01fb24c3a9471f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e2b21d1a1c34015" /><Relationship Type="http://schemas.openxmlformats.org/officeDocument/2006/relationships/image" Target="/ppt/media/image.jpeg" Id="R9b481c33f2ee44ab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C553170-2A63-457C-A3E9-8F899CD600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latin typeface="+mn-lt"/>
                <a:ea typeface="+mn-lt"/>
                <a:cs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7B7621F9-35DA-453E-9EDF-D2CD8CE937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+mn-lt"/>
                <a:ea typeface="+mn-lt"/>
                <a:cs typeface="+mn-lt"/>
              </a:defRPr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F4D9F7C1-3724-41AC-A61D-CE6C21E0AF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8C5B8931-710A-47F3-9748-9C4DDAAF57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07B8FCD5-D269-438D-A707-BCD1E2B9BD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FA507A2D-C84A-4D72-AEE9-B3FFFF12B3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81F03F49-A31C-4D73-9C70-B0DE6AE29F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EFF82044-1B3B-49C7-8FD6-311A86FF7D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D5C99376-C599-4F29-BC05-AFBCB9EC74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7D06D551-3AA8-4847-A42F-F9438FCD61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133905F1-4706-4C64-85EF-2BBB57C4FC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22172C61-3BE6-4430-90D4-8B4E96E64F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27C8EFCD-5805-4674-982C-3019D087DE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9C5B84-6F69-448B-B6CC-AD0967B752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92F43307-6EF6-4873-8AA1-9F00F24B4D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3095C4FC-A8BB-4DB9-B091-8A9255456C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B96B7545-A9E4-4368-A337-C3E17714E1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EEC1340F-1DCD-4B86-B833-096C97228B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98E00736-8F7B-4FDD-A1E9-AEAB1C2523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CAC91A47-3748-40DF-A7E9-436D9F784B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7F627E75-C13E-458E-862F-87A179A833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B4B5D047-9F6D-45F1-9838-7DC3CDB15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0E9B15C8-411A-4CFD-9296-F89885FADA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57AA3B2-DE63-4A18-AE8B-5A8FA9EDFB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515D9056-4CBE-4E11-84F5-34BFDF7EDD2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5C46D88-4565-4DDE-A8A5-8232708D8CA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A29202E4-1137-4802-867F-B7EC0C3400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65F8D8C-C2D0-4FF1-A1DB-24C9249D35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8ACCDB72-C6BB-4DDF-A670-F5FA92C53D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B5C1529A-E929-4A6E-9435-7F5D4EA8B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02522799-8D4D-4580-B5C7-6CF94B40F0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3F98AA16-5558-44F5-8337-E54B1B435A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52763F8B-1FAD-40CA-A3EC-FBD78D9AC0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6E526258-FE1E-41D8-9A4D-312606D8A1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047E4E4F-533A-4501-BAF9-9C6D950185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30C70DB8-52B1-42E5-9D7A-E17E02F004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534109-1399-43A0-AF40-FFCA1A269D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90B6B9CE-E477-457B-98CB-AB66A44D51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+mn-lt"/>
                <a:ea typeface="+mn-lt"/>
                <a:cs typeface="+mn-lt"/>
              </a:defRPr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6381D173-7A8D-4C79-AA7B-68A6F64D45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9D0F9372-D8DD-47F5-8ECC-8FEE9E40F1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A6BFE4AF-0013-4EF3-B94E-126B5C3456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B202FFF4-8AE0-4666-BFAA-ED44CAFE3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02E1698A-B392-4DA9-8ED0-C5D6D63988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6D48705A-7530-4EA4-8CF4-646C5507475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E9B14544-513D-449C-B922-6ECC934C21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E47890B9-AF19-4445-827F-888A752DB1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D63D27CA-5A60-4057-8381-2C04B8572A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59E0E319-A7E4-4C3D-8018-CAE18DA6E0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963E8DA3-F900-4244-959A-F5F4FD01F3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44AE7574-4FE6-45C2-A2EE-F109E46CFF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49B30288-E1BC-4A0E-8513-4E4A8FD478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34517378-BC2B-4663-A570-C9516CA407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7527C830-2D2B-4116-85F2-D01103396B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1FF7E0C6-7C09-4F16-9CB5-EF1B6BC33F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8F33B2EC-A440-4559-B396-22125464EF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5C479610-E67C-4031-A0D9-880AAC845D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84D0CF41-AB94-4C6E-A042-1B06220EEA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75142586-5192-423C-A510-9229CC3478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9C9B1AD-9C02-4D89-902F-27247118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55000">
                <a:schemeClr val="bg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8" name="任意多边形: 形状 7">
            <a:extLst xmlns:a="http://schemas.openxmlformats.org/drawingml/2006/main">
              <a:ext uri="{FF2B5EF4-FFF2-40B4-BE49-F238E27FC236}">
                <a16:creationId xmlns:a16="http://schemas.microsoft.com/office/drawing/2014/main" id="{AC0C339F-0CA0-4299-B18B-CB132C00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02312"/>
            <a:ext cx="1055687" cy="1055688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pic>
        <p:nvPicPr>
          <p:cNvPr id="28" name="图片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a8f10b01734c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0633" y="0"/>
            <a:ext cx="4971367" cy="4971368"/>
          </a:xfrm>
        </p:spPr>
      </p:pic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BFBC7AC8-0A12-4FCD-ABD9-06C3FF18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426266" y="0"/>
            <a:ext cx="5765734" cy="5776914"/>
          </a:xfrm>
          <a:custGeom xmlns:a="http://schemas.openxmlformats.org/drawingml/2006/main">
            <a:gdLst>
              <a:gd name="connsiteX0" fmla="*/ 0 w 3976914"/>
              <a:gd name="connsiteY0" fmla="*/ 0 h 3984625"/>
              <a:gd name="connsiteX1" fmla="*/ 3976914 w 3976914"/>
              <a:gd name="connsiteY1" fmla="*/ 3976914 h 3984625"/>
              <a:gd name="connsiteX2" fmla="*/ 3976719 w 3976914"/>
              <a:gd name="connsiteY2" fmla="*/ 3984625 h 3984625"/>
              <a:gd name="connsiteX3" fmla="*/ 2582139 w 3976914"/>
              <a:gd name="connsiteY3" fmla="*/ 3984625 h 3984625"/>
              <a:gd name="connsiteX4" fmla="*/ 2582528 w 3976914"/>
              <a:gd name="connsiteY4" fmla="*/ 3976914 h 3984625"/>
              <a:gd name="connsiteX5" fmla="*/ 0 w 3976914"/>
              <a:gd name="connsiteY5" fmla="*/ 1394386 h 3984625"/>
            </a:gdLst>
            <a:rect l="l" t="t" r="r" b="b"/>
            <a:pathLst>
              <a:path w="3976914" h="3984625">
                <a:moveTo>
                  <a:pt x="0" y="0"/>
                </a:moveTo>
                <a:cubicBezTo>
                  <a:pt x="2196389" y="0"/>
                  <a:pt x="3976914" y="1780525"/>
                  <a:pt x="3976914" y="3976914"/>
                </a:cubicBezTo>
                <a:lnTo>
                  <a:pt x="3976719" y="3984625"/>
                </a:lnTo>
                <a:lnTo>
                  <a:pt x="2582139" y="3984625"/>
                </a:lnTo>
                <a:lnTo>
                  <a:pt x="2582528" y="3976914"/>
                </a:lnTo>
                <a:cubicBezTo>
                  <a:pt x="2582528" y="2550623"/>
                  <a:pt x="1426291" y="1394386"/>
                  <a:pt x="0" y="139438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310513D6-C223-4B3B-A1A6-3CDDB09B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50846" y="0"/>
            <a:ext cx="2041154" cy="2041154"/>
          </a:xfrm>
          <a:custGeom xmlns:a="http://schemas.openxmlformats.org/drawingml/2006/main"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E51FA382-45DE-4F82-8897-F5668B0C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82" y="5776912"/>
            <a:ext cx="3585818" cy="1081087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22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36178AFE-25E8-49E2-BA5D-A81F6EF8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608" y="5568399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A22FC9F5-092B-46BE-B558-8E945EE4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863874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AD57B94-9DF4-4EAA-8D94-99AF3BDC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20961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5792A32B-21C0-47D2-9034-0E688AEE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78048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190B361-945F-436B-BA09-B9533816767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7581" y="1615544"/>
            <a:ext cx="5646700" cy="2086340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B46B872-A2DB-4116-8243-1E539B42FD0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7581" y="3845884"/>
            <a:ext cx="5646700" cy="972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02E5EF-6C8A-4530-ACD4-BB7BDD2474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3F31B4-2890-4F6E-B171-A7AC1E75D2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83EF0C-F53E-4986-9D6F-AE5FDDF2F0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公司名占位符 6">
            <a:extLst xmlns:a="http://schemas.openxmlformats.org/drawingml/2006/main">
              <a:ext uri="{FF2B5EF4-FFF2-40B4-BE49-F238E27FC236}">
                <a16:creationId xmlns:a16="http://schemas.microsoft.com/office/drawing/2014/main" id="{830B9D3A-C225-41FB-8405-3330A540A27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365140" y="6787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公司名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F38BF963-936F-4187-997E-CBB14B9D05AD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67581" y="5254864"/>
            <a:ext cx="2880000" cy="50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E87162-D6FC-4767-BCC5-CD2506092D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3F5B3E7-DF8B-4C17-95BA-2BEF751635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7827C5-EC90-413F-B577-C2554F7C01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C7EEB53-E718-4596-9EBA-EEE5F495DA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C3DEA45-5078-4CD0-9F4C-6F8A20939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8DF6D0-4C20-4CE9-AC2C-1C8F0F92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2">
                  <a:lumMod val="90000"/>
                </a:schemeClr>
              </a:gs>
              <a:gs pos="100000">
                <a:schemeClr val="bg2"/>
              </a:gs>
            </a:gsLst>
            <a:lin ang="135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99F2B6C5-F679-40B5-A390-272D86E2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483599" y="0"/>
            <a:ext cx="3708400" cy="1118044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5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E3639B34-B09C-497C-9A10-E2A3A3BB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431652" y="739775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0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57380E3B-102D-44EB-BF15-B7095338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02312"/>
            <a:ext cx="1055687" cy="1055688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03CD5344-553D-476C-8D53-07F0D5C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598" y="802733"/>
            <a:ext cx="482602" cy="482602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663985-B522-43EF-BDBB-00AA1FBB148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55687" y="503490"/>
            <a:ext cx="1687513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>
              <a:buNone/>
              <a:defRPr sz="5400"/>
            </a:lvl1pPr>
          </a:lstStyle>
          <a:p xmlns:a="http://schemas.openxmlformats.org/drawingml/2006/main">
            <a:r>
              <a:t>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35B74B1-BB64-4FC6-B545-13465DB357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7BD2157-D930-43DD-A24A-35A10DD775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CC71D3-9C08-41D1-A6D8-FEC87985C1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9F6A419-44D3-40CE-AD2F-E124D5BB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C69A0788-8C2B-4B37-8D5C-05691229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82" y="5776913"/>
            <a:ext cx="3585818" cy="1081087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8DF523FE-BB31-4DE0-A0BD-DCA89291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608" y="5568399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790B1D6E-1222-4946-BCE3-662498DB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415314" y="0"/>
            <a:ext cx="5776686" cy="5776686"/>
          </a:xfrm>
          <a:custGeom xmlns:a="http://schemas.openxmlformats.org/drawingml/2006/main"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CF93143D-0719-4DAA-8C21-3F2E1FCD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194298"/>
            <a:ext cx="1663700" cy="1663702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4BE969-3B16-4069-B37C-E6143A6A08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6400" y="3625730"/>
            <a:ext cx="5903100" cy="1790041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l">
              <a:buNone/>
              <a:defRPr sz="5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F0E71F3C-0A48-416C-99BE-85709762EAE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524000" y="1859048"/>
            <a:ext cx="5903100" cy="1663702"/>
          </a:xfrm>
        </p:spPr>
        <p:txBody>
          <a:bodyPr xmlns:a="http://schemas.openxmlformats.org/drawingml/2006/main" wrap="none" anchor="b">
            <a:normAutofit/>
          </a:bodyPr>
          <a:lstStyle xmlns:a="http://schemas.openxmlformats.org/drawingml/2006/main">
            <a:lvl1pPr marL="0" indent="0" algn="l">
              <a:buNone/>
              <a:defRPr sz="72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节编号</a:t>
            </a:r>
            <a:endParaRPr/>
          </a:p>
        </p:txBody>
      </p:sp>
      <p:sp>
        <p:nvSpPr>
          <p:cNvPr id="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E11F030-A029-40C5-B425-AB3C1FBBC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5E8D673-65EB-4297-B862-82910C2ADD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070B5FB-8451-4630-AC88-29AAA03225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A3BA9A3-016C-4CF0-A29F-BF3D158229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933F574-3C35-4BD4-96F1-226FA3681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A97B0FE-686F-4755-A3A8-C8739C21760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7C68DA1-A4DA-4CB0-8C0D-EF2853EC8D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A805685-A174-490F-866B-B969441F86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65DA65E-3A98-4062-A270-65B059EC4A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D269612-35A2-4591-8988-AF12B9D29C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0000"/>
            <a:ext cx="10515600" cy="864000"/>
          </a:xfr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E921C01-ABB5-4DAD-B167-35B247F6303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385D5EE-55B2-476B-A552-9DB8C066748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0F72B29-1140-4635-A4B9-AF374A3E471A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B191722-8A55-49BD-AF26-FB372A8A97A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17BCBE2-6A07-4CD9-BB9C-E3A6028EE3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B3A4D80-E0E6-48DD-ADF3-46DAA78C13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A7F1AA1-FFB7-4432-9433-BC7B3EA86F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D33D0D-087F-49C2-99B6-410743E47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E6C2C2D-B933-4918-903F-166785ADE8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F74A373-B2F6-466F-AB70-3D63915227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0EE0F5E-B9D2-4426-B30B-48EA1554E8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369C648-E70B-4E14-AFC7-711991CE79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1105905-5420-4D17-A69C-8F56F7FD10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DA1A3F7-BED6-4D47-ABE6-A6C06E04E2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2950FED0-C264-4A59-A78C-81E6F16057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8B42061-FCCB-476F-90AB-30932FF714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2F41110-99FB-4CDD-BB91-D6D96B50DB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CAEC96F-DAA2-49ED-B5CB-EEE49194B2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9DE9A-3EB1-456C-B683-04C123800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0000"/>
            <a:ext cx="10515600" cy="864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E5E5069-0B9C-4F4A-A3AA-1D1C0778D1C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6C0379-CA3D-4B40-9541-D418639C23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12DC88-6C26-4A20-BEC8-E44EE19BF3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754569B-A854-4705-9074-20C700D3FA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04FD997-6ECC-400B-AE8F-DCD6446C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55000">
                <a:schemeClr val="bg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AE2C72D2-2D50-4265-AF03-6F42FFA6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82" y="5776912"/>
            <a:ext cx="3585818" cy="1081087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22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9066B436-12F6-4AE8-8AA0-E1B7D82E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608" y="5568399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8" name="任意多边形: 形状 7">
            <a:extLst xmlns:a="http://schemas.openxmlformats.org/drawingml/2006/main">
              <a:ext uri="{FF2B5EF4-FFF2-40B4-BE49-F238E27FC236}">
                <a16:creationId xmlns:a16="http://schemas.microsoft.com/office/drawing/2014/main" id="{4EB72410-D4F4-431D-803A-8B92B3E6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02312"/>
            <a:ext cx="1055687" cy="1055688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3319DAEB-6AC8-4101-AB80-77493214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863874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5E89D7D7-D42F-4EE2-A496-1A7214F9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20961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F23EF76B-A9DD-44AE-91FF-AD0B33B3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78048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任意多边形: 形状 8">
            <a:extLst xmlns:a="http://schemas.openxmlformats.org/drawingml/2006/main">
              <a:ext uri="{FF2B5EF4-FFF2-40B4-BE49-F238E27FC236}">
                <a16:creationId xmlns:a16="http://schemas.microsoft.com/office/drawing/2014/main" id="{13C429B9-0873-4AD7-867B-8D6339E3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50845" y="0"/>
            <a:ext cx="2041155" cy="2041155"/>
          </a:xfrm>
          <a:custGeom xmlns:a="http://schemas.openxmlformats.org/drawingml/2006/main"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pic>
        <p:nvPicPr>
          <p:cNvPr id="34" name="图片 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481c33f2ee44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0633" y="2"/>
            <a:ext cx="4971367" cy="4971368"/>
          </a:xfrm>
        </p:spPr>
      </p:pic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B68509E7-20C2-4A78-BC27-2CCC1507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426267" y="0"/>
            <a:ext cx="5765733" cy="5776914"/>
          </a:xfrm>
          <a:custGeom xmlns:a="http://schemas.openxmlformats.org/drawingml/2006/main">
            <a:gdLst>
              <a:gd name="connsiteX0" fmla="*/ 0 w 3976914"/>
              <a:gd name="connsiteY0" fmla="*/ 0 h 3984625"/>
              <a:gd name="connsiteX1" fmla="*/ 3976914 w 3976914"/>
              <a:gd name="connsiteY1" fmla="*/ 3976914 h 3984625"/>
              <a:gd name="connsiteX2" fmla="*/ 3976719 w 3976914"/>
              <a:gd name="connsiteY2" fmla="*/ 3984625 h 3984625"/>
              <a:gd name="connsiteX3" fmla="*/ 2582139 w 3976914"/>
              <a:gd name="connsiteY3" fmla="*/ 3984625 h 3984625"/>
              <a:gd name="connsiteX4" fmla="*/ 2582528 w 3976914"/>
              <a:gd name="connsiteY4" fmla="*/ 3976914 h 3984625"/>
              <a:gd name="connsiteX5" fmla="*/ 0 w 3976914"/>
              <a:gd name="connsiteY5" fmla="*/ 1394386 h 3984625"/>
            </a:gdLst>
            <a:rect l="l" t="t" r="r" b="b"/>
            <a:pathLst>
              <a:path w="3976914" h="3984625">
                <a:moveTo>
                  <a:pt x="0" y="0"/>
                </a:moveTo>
                <a:cubicBezTo>
                  <a:pt x="2196389" y="0"/>
                  <a:pt x="3976914" y="1780525"/>
                  <a:pt x="3976914" y="3976914"/>
                </a:cubicBezTo>
                <a:lnTo>
                  <a:pt x="3976719" y="3984625"/>
                </a:lnTo>
                <a:lnTo>
                  <a:pt x="2582139" y="3984625"/>
                </a:lnTo>
                <a:lnTo>
                  <a:pt x="2582528" y="3976914"/>
                </a:lnTo>
                <a:cubicBezTo>
                  <a:pt x="2582528" y="2550623"/>
                  <a:pt x="1426291" y="1394386"/>
                  <a:pt x="0" y="139438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DF6BC66-5DF1-4D3D-8311-9221B589BCF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7581" y="1438875"/>
            <a:ext cx="5841220" cy="2090350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A76B934-0854-4A02-8134-9586CC2709D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7581" y="3673225"/>
            <a:ext cx="5841220" cy="972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06E86B2-99DB-477E-9E99-FDAA4AEECE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2ACFCAF-1873-4682-A674-0F4BE610C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410B19-D5F2-4CEF-A607-BACA26C43B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公司名占位符 6">
            <a:extLst xmlns:a="http://schemas.openxmlformats.org/drawingml/2006/main">
              <a:ext uri="{FF2B5EF4-FFF2-40B4-BE49-F238E27FC236}">
                <a16:creationId xmlns:a16="http://schemas.microsoft.com/office/drawing/2014/main" id="{CED70C17-C4E9-4DB7-995E-830908367B2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446737" y="6660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公司名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E6F3A1BE-3CB1-4CEC-A1C8-CE8BBF0FAF6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67581" y="5258398"/>
            <a:ext cx="2880000" cy="50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ea2be44a6043d6" /><Relationship Type="http://schemas.openxmlformats.org/officeDocument/2006/relationships/slideLayout" Target="/ppt/slideLayouts/slideLayout1.xml" Id="R47d3a4687fbb4050" /><Relationship Type="http://schemas.openxmlformats.org/officeDocument/2006/relationships/slideLayout" Target="/ppt/slideLayouts/slideLayout2.xml" Id="R27459fd5f1a245f8" /><Relationship Type="http://schemas.openxmlformats.org/officeDocument/2006/relationships/slideLayout" Target="/ppt/slideLayouts/slideLayout3.xml" Id="Rb645d868dc414bd5" /><Relationship Type="http://schemas.openxmlformats.org/officeDocument/2006/relationships/slideLayout" Target="/ppt/slideLayouts/slideLayout4.xml" Id="R2b23b3239cee4398" /><Relationship Type="http://schemas.openxmlformats.org/officeDocument/2006/relationships/slideLayout" Target="/ppt/slideLayouts/slideLayout5.xml" Id="Red3b1d8871a14c04" /><Relationship Type="http://schemas.openxmlformats.org/officeDocument/2006/relationships/slideLayout" Target="/ppt/slideLayouts/slideLayout6.xml" Id="R78c97860874c4a2f" /><Relationship Type="http://schemas.openxmlformats.org/officeDocument/2006/relationships/slideLayout" Target="/ppt/slideLayouts/slideLayout7.xml" Id="R987d19a829e94d6b" /><Relationship Type="http://schemas.openxmlformats.org/officeDocument/2006/relationships/slideLayout" Target="/ppt/slideLayouts/slideLayout8.xml" Id="R3ccac8bdc9ce4e97" /><Relationship Type="http://schemas.openxmlformats.org/officeDocument/2006/relationships/slideLayout" Target="/ppt/slideLayouts/slideLayout9.xml" Id="R470fbb11788d4715" /><Relationship Type="http://schemas.openxmlformats.org/officeDocument/2006/relationships/slideLayout" Target="/ppt/slideLayouts/slideLayout10.xml" Id="R14d8b3457aea4b04" /><Relationship Type="http://schemas.openxmlformats.org/officeDocument/2006/relationships/slideLayout" Target="/ppt/slideLayouts/slideLayout11.xml" Id="R827d9f24cf6644f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867ad3a7a604ec5" /><Relationship Type="http://schemas.openxmlformats.org/officeDocument/2006/relationships/slideLayout" Target="/ppt/slideLayouts/slideLayout12.xml" Id="R2006794fc3f74e6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cdac1df250645fb" /><Relationship Type="http://schemas.openxmlformats.org/officeDocument/2006/relationships/slideLayout" Target="/ppt/slideLayouts/slideLayout13.xml" Id="R66d44bf1a69a4ff5" /><Relationship Type="http://schemas.openxmlformats.org/officeDocument/2006/relationships/slideLayout" Target="/ppt/slideLayouts/slideLayout14.xml" Id="Ra5d841fc40b84db1" /><Relationship Type="http://schemas.openxmlformats.org/officeDocument/2006/relationships/slideLayout" Target="/ppt/slideLayouts/slideLayout15.xml" Id="Ree3d856bd36d4124" /><Relationship Type="http://schemas.openxmlformats.org/officeDocument/2006/relationships/slideLayout" Target="/ppt/slideLayouts/slideLayout16.xml" Id="R96ddc2ea27074de4" /><Relationship Type="http://schemas.openxmlformats.org/officeDocument/2006/relationships/slideLayout" Target="/ppt/slideLayouts/slideLayout17.xml" Id="Rb0c4df03de584d13" /><Relationship Type="http://schemas.openxmlformats.org/officeDocument/2006/relationships/slideLayout" Target="/ppt/slideLayouts/slideLayout18.xml" Id="R34f5c0589bb84740" /><Relationship Type="http://schemas.openxmlformats.org/officeDocument/2006/relationships/slideLayout" Target="/ppt/slideLayouts/slideLayout19.xml" Id="R1732863dc50b4d38" /><Relationship Type="http://schemas.openxmlformats.org/officeDocument/2006/relationships/slideLayout" Target="/ppt/slideLayouts/slideLayout20.xml" Id="Rbfa694e09ba44058" /><Relationship Type="http://schemas.openxmlformats.org/officeDocument/2006/relationships/slideLayout" Target="/ppt/slideLayouts/slideLayout21.xml" Id="Rb4c1cb021fae4c7b" /><Relationship Type="http://schemas.openxmlformats.org/officeDocument/2006/relationships/slideLayout" Target="/ppt/slideLayouts/slideLayout22.xml" Id="Raf5343b478e44f96" /><Relationship Type="http://schemas.openxmlformats.org/officeDocument/2006/relationships/slideLayout" Target="/ppt/slideLayouts/slideLayout23.xml" Id="R9dfc1146710f4ef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EBE02A22-28A9-4377-B26E-53FB1715FD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88CED283-C1A7-4FCF-9539-58EEF9FFC6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BD938946-2385-4213-94B3-780861DCEA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0CF1D1C5-41D3-40A0-BC8F-5589A09346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8E49328-1B45-4628-BAAA-9016A072BD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d3a4687fbb4050"/>
    <p:sldLayoutId xmlns:r="http://schemas.openxmlformats.org/officeDocument/2006/relationships" id="2147483650" r:id="R27459fd5f1a245f8"/>
    <p:sldLayoutId xmlns:r="http://schemas.openxmlformats.org/officeDocument/2006/relationships" id="2147483651" r:id="Rb645d868dc414bd5"/>
    <p:sldLayoutId xmlns:r="http://schemas.openxmlformats.org/officeDocument/2006/relationships" id="2147483652" r:id="R2b23b3239cee4398"/>
    <p:sldLayoutId xmlns:r="http://schemas.openxmlformats.org/officeDocument/2006/relationships" id="2147483653" r:id="Red3b1d8871a14c04"/>
    <p:sldLayoutId xmlns:r="http://schemas.openxmlformats.org/officeDocument/2006/relationships" id="2147483654" r:id="R78c97860874c4a2f"/>
    <p:sldLayoutId xmlns:r="http://schemas.openxmlformats.org/officeDocument/2006/relationships" id="2147483655" r:id="R987d19a829e94d6b"/>
    <p:sldLayoutId xmlns:r="http://schemas.openxmlformats.org/officeDocument/2006/relationships" id="2147483656" r:id="R3ccac8bdc9ce4e97"/>
    <p:sldLayoutId xmlns:r="http://schemas.openxmlformats.org/officeDocument/2006/relationships" id="2147483657" r:id="R470fbb11788d4715"/>
    <p:sldLayoutId xmlns:r="http://schemas.openxmlformats.org/officeDocument/2006/relationships" id="2147483658" r:id="R14d8b3457aea4b04"/>
    <p:sldLayoutId xmlns:r="http://schemas.openxmlformats.org/officeDocument/2006/relationships" id="2147483659" r:id="R827d9f24cf6644f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+mj-lt"/>
          <a:ea typeface="+mj-lt"/>
          <a:cs typeface="+mj-lt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006794fc3f74e6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390F808-B1FF-4941-8DD7-C470572A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/>
              </a:gs>
              <a:gs pos="55000">
                <a:schemeClr val="bg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9" name="任意多边形: 形状 8">
            <a:extLst xmlns:a="http://schemas.openxmlformats.org/drawingml/2006/main">
              <a:ext uri="{FF2B5EF4-FFF2-40B4-BE49-F238E27FC236}">
                <a16:creationId xmlns:a16="http://schemas.microsoft.com/office/drawing/2014/main" id="{748AC933-B28D-4FEE-92F5-8A60A499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050" y="6104029"/>
            <a:ext cx="1250950" cy="753971"/>
          </a:xfrm>
          <a:custGeom xmlns:a="http://schemas.openxmlformats.org/drawingml/2006/main">
            <a:gdLst>
              <a:gd name="connsiteX0" fmla="*/ 1250950 w 1250950"/>
              <a:gd name="connsiteY0" fmla="*/ 0 h 753971"/>
              <a:gd name="connsiteX1" fmla="*/ 1250950 w 1250950"/>
              <a:gd name="connsiteY1" fmla="*/ 753971 h 753971"/>
              <a:gd name="connsiteX2" fmla="*/ 0 w 1250950"/>
              <a:gd name="connsiteY2" fmla="*/ 753971 h 753971"/>
              <a:gd name="connsiteX3" fmla="*/ 4704 w 1250950"/>
              <a:gd name="connsiteY3" fmla="*/ 744208 h 753971"/>
              <a:gd name="connsiteX4" fmla="*/ 1056691 w 1250950"/>
              <a:gd name="connsiteY4" fmla="*/ 13476 h 753971"/>
            </a:gdLst>
            <a:rect l="l" t="t" r="r" b="b"/>
            <a:pathLst>
              <a:path w="1250950" h="753971">
                <a:moveTo>
                  <a:pt x="1250950" y="0"/>
                </a:moveTo>
                <a:lnTo>
                  <a:pt x="1250950" y="753971"/>
                </a:lnTo>
                <a:lnTo>
                  <a:pt x="0" y="753971"/>
                </a:lnTo>
                <a:lnTo>
                  <a:pt x="4704" y="744208"/>
                </a:lnTo>
                <a:cubicBezTo>
                  <a:pt x="215501" y="356165"/>
                  <a:pt x="601588" y="77164"/>
                  <a:pt x="1056691" y="134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0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6E9CC243-22B8-4A5B-A84D-7DA14A4D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050" y="6350351"/>
            <a:ext cx="1034820" cy="261325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5AD4573-2E9A-4384-AD3A-352ED3614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FE3321E-CC7D-45BB-BEDD-0302659B3A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7DE8EF1-04D5-47E3-AB4A-4C9D3BBEBB7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2579735-08AB-409D-A527-651D754FA7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9E9E5DC-F545-4DAE-AABB-E7E1E4CFA5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15E63E28-37A3-405B-B550-19987DD0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66d44bf1a69a4ff5"/>
    <p:sldLayoutId xmlns:r="http://schemas.openxmlformats.org/officeDocument/2006/relationships" id="2147483664" r:id="Ra5d841fc40b84db1"/>
    <p:sldLayoutId xmlns:r="http://schemas.openxmlformats.org/officeDocument/2006/relationships" id="2147483665" r:id="Ree3d856bd36d4124"/>
    <p:sldLayoutId xmlns:r="http://schemas.openxmlformats.org/officeDocument/2006/relationships" id="2147483666" r:id="R96ddc2ea27074de4"/>
    <p:sldLayoutId xmlns:r="http://schemas.openxmlformats.org/officeDocument/2006/relationships" id="2147483667" r:id="Rb0c4df03de584d13"/>
    <p:sldLayoutId xmlns:r="http://schemas.openxmlformats.org/officeDocument/2006/relationships" id="2147483668" r:id="R34f5c0589bb84740"/>
    <p:sldLayoutId xmlns:r="http://schemas.openxmlformats.org/officeDocument/2006/relationships" id="2147483669" r:id="R1732863dc50b4d38"/>
    <p:sldLayoutId xmlns:r="http://schemas.openxmlformats.org/officeDocument/2006/relationships" id="2147483670" r:id="Rbfa694e09ba44058"/>
    <p:sldLayoutId xmlns:r="http://schemas.openxmlformats.org/officeDocument/2006/relationships" id="2147483671" r:id="Rb4c1cb021fae4c7b"/>
    <p:sldLayoutId xmlns:r="http://schemas.openxmlformats.org/officeDocument/2006/relationships" id="2147483672" r:id="Raf5343b478e44f96"/>
    <p:sldLayoutId xmlns:r="http://schemas.openxmlformats.org/officeDocument/2006/relationships" id="2147483673" r:id="R9dfc1146710f4ef1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00000419-1">
      <a:dk1>
        <a:srgbClr val="333333"/>
      </a:dk1>
      <a:lt1>
        <a:srgbClr val="FFFFFF"/>
      </a:lt1>
      <a:dk2>
        <a:srgbClr val="102544"/>
      </a:dk2>
      <a:lt2>
        <a:srgbClr val="EFF4FB"/>
      </a:lt2>
      <a:accent1>
        <a:srgbClr val="749FDE"/>
      </a:accent1>
      <a:accent2>
        <a:srgbClr val="2E69C0"/>
      </a:accent2>
      <a:accent3>
        <a:srgbClr val="7486DE"/>
      </a:accent3>
      <a:accent4>
        <a:srgbClr val="7C74DE"/>
      </a:accent4>
      <a:accent5>
        <a:srgbClr val="9574DE"/>
      </a:accent5>
      <a:accent6>
        <a:srgbClr val="AE74DE"/>
      </a:accent6>
      <a:hlink>
        <a:srgbClr val="304FFE"/>
      </a:hlink>
      <a:folHlink>
        <a:srgbClr val="492067"/>
      </a:folHlink>
    </a:clrScheme>
    <a:fontScheme name="02-微软雅黑唯一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00000419-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bc9245a64ec14209" /><Relationship Type="http://schemas.openxmlformats.org/officeDocument/2006/relationships/notesSlide" Target="/ppt/notesSlides/notesSlide1.xml" Id="R059ae988ac3a44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32ff2650c17491f" /><Relationship Type="http://schemas.openxmlformats.org/officeDocument/2006/relationships/notesSlide" Target="/ppt/notesSlides/notesSlide2.xml" Id="R977a54be714640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5cc1d0c5ebba4308" /><Relationship Type="http://schemas.openxmlformats.org/officeDocument/2006/relationships/notesSlide" Target="/ppt/notesSlides/notesSlide3.xml" Id="R6ab3f0bd74234c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b66cb4642624e89" /><Relationship Type="http://schemas.openxmlformats.org/officeDocument/2006/relationships/chart" Target="/ppt/slides/charts/chart1.xml" Id="R68e3fda8f2aa4d38" /><Relationship Type="http://schemas.openxmlformats.org/officeDocument/2006/relationships/notesSlide" Target="/ppt/notesSlides/notesSlide4.xml" Id="R25dd0f92209141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c20400cfd40246c0" /><Relationship Type="http://schemas.openxmlformats.org/officeDocument/2006/relationships/image" Target="/ppt/media/image2.png" Id="R74a227715aa141b5" /><Relationship Type="http://schemas.openxmlformats.org/officeDocument/2006/relationships/image" Target="/ppt/media/image3.png" Id="R1dcef418675e48d9" /><Relationship Type="http://schemas.openxmlformats.org/officeDocument/2006/relationships/image" Target="/ppt/media/image4.png" Id="R64eab63af1e44405" /><Relationship Type="http://schemas.openxmlformats.org/officeDocument/2006/relationships/notesSlide" Target="/ppt/notesSlides/notesSlide5.xml" Id="R8a33fdfb15894a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4ba71f535f3473d" /><Relationship Type="http://schemas.openxmlformats.org/officeDocument/2006/relationships/chart" Target="/ppt/slides/charts/chart2.xml" Id="R70689ba13a674bb9" /><Relationship Type="http://schemas.openxmlformats.org/officeDocument/2006/relationships/image" Target="/ppt/media/image5.png" Id="R485804300314433c" /><Relationship Type="http://schemas.openxmlformats.org/officeDocument/2006/relationships/notesSlide" Target="/ppt/notesSlides/notesSlide6.xml" Id="R8533089e49594b63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业绩增长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635"/>
          <c:y val="0.22375"/>
          <c:w val="0.89"/>
          <c:h val="0.6875714285714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"处方量(盒)"</c:f>
              <c:strCache>
                <c:ptCount val="1"/>
                <c:pt idx="0">
                  <c:v>处方量(盒)</c:v>
                </c:pt>
              </c:strCache>
            </c:strRef>
          </c:tx>
          <c:spPr>
            <a:ln xmlns:a="http://schemas.openxmlformats.org/drawingml/2006/main">
              <a:noFill/>
            </a:ln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/>
                    <a:ea typeface="微软雅黑"/>
                    <a:cs typeface="微软雅黑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{"起始","3个月","6个月"}</c:f>
              <c:strCache>
                <c:ptCount val="3"/>
                <c:pt idx="0">
                  <c:v>起始</c:v>
                </c:pt>
                <c:pt idx="1">
                  <c:v>3个月</c:v>
                </c:pt>
                <c:pt idx="2">
                  <c:v>6个月</c:v>
                </c:pt>
              </c:strCache>
            </c:strRef>
          </c:cat>
          <c:val>
            <c:numRef>
              <c:f>{2,20,150}</c:f>
              <c:numCache>
                <c:formatCode>General</c:formatCode>
                <c:ptCount val="3"/>
                <c:pt idx="0">
                  <c:v>2</c:v>
                </c:pt>
                <c:pt idx="1">
                  <c:v>20</c:v>
                </c:pt>
                <c:pt idx="2">
                  <c:v>150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40"/>
        <c:axId val="754001152"/>
        <c:axId val="753999904"/>
      </c:barChart>
      <c:catAx>
        <c:axId val="754001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6350" cmpd="sng">
            <a:solidFill>
              <a:schemeClr val="tx1">
                <a:lumMod val="50000"/>
                <a:lumOff val="50000"/>
                <a:alpha val="25000"/>
              </a:schemeClr>
            </a:solidFill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753999904"/>
        <c:crosses val="autoZero"/>
        <c:lblOffset val="100"/>
      </c:catAx>
      <c:valAx>
        <c:axId val="7539999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754001152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6350" cmpd="sng">
      <a:solidFill>
        <a:schemeClr val="tx1">
          <a:lumMod val="50000"/>
          <a:lumOff val="50000"/>
          <a:alpha val="25000"/>
        </a:schemeClr>
      </a:solidFill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8"/>
    </mc:Choice>
    <mc:Fallback>
      <c:style val="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44110942405576"/>
          <c:y val="0.0385591688069517"/>
          <c:w val="0.879823270665399"/>
          <c:h val="0.755351584028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指标</c:v>
                </c:pt>
              </c:strCache>
            </c:strRef>
          </c:tx>
          <c:spPr>
            <a:solidFill xmlns:a="http://schemas.openxmlformats.org/drawingml/2006/main">
              <a:schemeClr val="accent3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5" b="0" i="0" u="non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/>
                    <a:ea typeface="微软雅黑"/>
                    <a:cs typeface="微软雅黑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Sheet1!$A$2:$A$10</c:f>
              <c:strCache>
                <c:ptCount val="9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  <c:pt idx="8">
                  <c:v>26Q1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49.2</c:v>
                </c:pt>
                <c:pt idx="1">
                  <c:v>196.8</c:v>
                </c:pt>
                <c:pt idx="2">
                  <c:v>299.2</c:v>
                </c:pt>
                <c:pt idx="3">
                  <c:v>336.1</c:v>
                </c:pt>
                <c:pt idx="4">
                  <c:v>363.4</c:v>
                </c:pt>
                <c:pt idx="5">
                  <c:v>432.9</c:v>
                </c:pt>
                <c:pt idx="6">
                  <c:v>450.8</c:v>
                </c:pt>
                <c:pt idx="7">
                  <c:v>370</c:v>
                </c:pt>
                <c:pt idx="8">
                  <c:v>480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销售</c:v>
                </c:pt>
              </c:strCache>
            </c:strRef>
          </c:tx>
          <c:spPr>
            <a:gradFill xmlns:a="http://schemas.openxmlformats.org/drawingml/2006/main" rotWithShape="1">
              <a:gsLst>
                <a:gs pos="0">
                  <a:schemeClr val="accent1">
                    <a:tint val="94000"/>
                    <a:lumMod val="98000"/>
                    <a:lumOff val="2000"/>
                    <a:satMod val="103000"/>
                  </a:schemeClr>
                </a:gs>
                <a:gs pos="50000">
                  <a:schemeClr val="accent1">
                    <a:shade val="100000"/>
                    <a:satMod val="110000"/>
                  </a:schemeClr>
                </a:gs>
                <a:gs pos="100000">
                  <a:schemeClr val="accent1">
                    <a:shade val="78000"/>
                    <a:lumMod val="99000"/>
                    <a:satMod val="120000"/>
                  </a:schemeClr>
                </a:gs>
              </a:gsLst>
              <a:lin ang="5400000" scaled="0"/>
            </a:gra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5" b="0" i="0" u="non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/>
                    <a:ea typeface="微软雅黑"/>
                    <a:cs typeface="微软雅黑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Sheet1!$A$2:$A$10</c:f>
              <c:strCache>
                <c:ptCount val="9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  <c:pt idx="8">
                  <c:v>26Q1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98</c:v>
                </c:pt>
                <c:pt idx="1">
                  <c:v>276</c:v>
                </c:pt>
                <c:pt idx="2">
                  <c:v>332</c:v>
                </c:pt>
                <c:pt idx="3">
                  <c:v>354</c:v>
                </c:pt>
                <c:pt idx="4">
                  <c:v>421</c:v>
                </c:pt>
                <c:pt idx="5">
                  <c:v>433</c:v>
                </c:pt>
                <c:pt idx="6">
                  <c:v>322</c:v>
                </c:pt>
                <c:pt idx="7">
                  <c:v>425</c:v>
                </c:pt>
                <c:pt idx="8">
                  <c:v>250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45603472"/>
        <c:axId val="36302286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达成</c:v>
                </c:pt>
              </c:strCache>
            </c:strRef>
          </c:tx>
          <c:spPr>
            <a:ln xmlns:a="http://schemas.openxmlformats.org/drawingml/2006/main" w="34925">
              <a:solidFill>
                <a:schemeClr val="accent1">
                  <a:tint val="65000"/>
                </a:schemeClr>
              </a:solidFill>
            </a:ln>
          </c:spPr>
          <c:marker>
            <c:symbol val="none"/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5" b="0" i="0" u="non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/>
                    <a:ea typeface="微软雅黑"/>
                    <a:cs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Sheet1!$A$2:$A$10</c:f>
              <c:strCache>
                <c:ptCount val="9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  <c:pt idx="8">
                  <c:v>26Q1</c:v>
                </c:pt>
              </c:strCache>
            </c:strRef>
          </c:cat>
          <c:val>
            <c:numRef>
              <c:f>Sheet1!$D$2:$D$10</c:f>
              <c:numCache>
                <c:formatCode>0.00%</c:formatCode>
                <c:ptCount val="9"/>
                <c:pt idx="0">
                  <c:v>1.99186991869919</c:v>
                </c:pt>
                <c:pt idx="1">
                  <c:v>1.40243902439024</c:v>
                </c:pt>
                <c:pt idx="2">
                  <c:v>1.1096256684492</c:v>
                </c:pt>
                <c:pt idx="3">
                  <c:v>1.05325795894079</c:v>
                </c:pt>
                <c:pt idx="4">
                  <c:v>1.15850302696753</c:v>
                </c:pt>
                <c:pt idx="5">
                  <c:v>1.000231000231</c:v>
                </c:pt>
                <c:pt idx="6">
                  <c:v>0.714285714285714</c:v>
                </c:pt>
                <c:pt idx="7">
                  <c:v>1.14864864864865</c:v>
                </c:pt>
                <c:pt idx="8">
                  <c:v>0.520833333333333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4632512"/>
        <c:axId val="614811264"/>
      </c:lineChart>
      <c:catAx>
        <c:axId val="645603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12700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95" b="0" i="0" u="non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363022864"/>
        <c:crosses val="autoZero"/>
        <c:lblAlgn val="ctr"/>
        <c:noMultiLvlLbl val="0"/>
        <c:lblOffset val="100"/>
      </c:catAx>
      <c:valAx>
        <c:axId val="363022864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5" b="0" i="0" u="non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645603472"/>
        <c:crosses val="autoZero"/>
        <c:crossBetween val="between"/>
      </c:valAx>
      <c:catAx>
        <c:axId val="6146325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195" b="0" i="0" u="non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614811264"/>
        <c:crosses val="autoZero"/>
        <c:lblAlgn val="ctr"/>
        <c:noMultiLvlLbl val="0"/>
        <c:lblOffset val="100"/>
      </c:catAx>
      <c:valAx>
        <c:axId val="614811264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5" b="0" i="0" u="non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614632512"/>
        <c:crosses val="max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5" b="0" i="0" u="none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1028FDAE-84B4-4307-B6E1-AADE7EC15E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45"/>
            <a:ext cx="10800080" cy="2094865"/>
          </a:xfr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</a:pPr>
            <a:r>
              <a:rPr sz="4000"/>
              <a:t>重点突击-全面开花</a:t>
            </a:r>
            <a:endParaRPr sz="4000"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EFA382F-9D6A-4766-9000-442324FC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210" y="4837430"/>
            <a:ext cx="2978785" cy="1893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>
                <a:latin typeface="+mn-ea"/>
                <a:ea typeface="+mn-ea"/>
                <a:cs typeface="+mn-ea"/>
              </a:rPr>
              <a:t>汇报人：郑阳阳</a:t>
            </a:r>
            <a:endParaRPr kern="100">
              <a:latin typeface="+mn-ea"/>
              <a:ea typeface="+mn-ea"/>
              <a:cs typeface="+mn-ea"/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>
                <a:latin typeface="+mn-ea"/>
                <a:ea typeface="+mn-ea"/>
                <a:cs typeface="+mn-ea"/>
              </a:rPr>
              <a:t>DM</a:t>
            </a:r>
            <a:r>
              <a:rPr>
                <a:latin typeface="+mn-ea"/>
                <a:ea typeface="+mn-ea"/>
                <a:cs typeface="+mn-ea"/>
              </a:rPr>
              <a:t>：北京</a:t>
            </a:r>
            <a:r>
              <a:rPr>
                <a:latin typeface="+mn-ea"/>
                <a:ea typeface="+mn-ea"/>
                <a:cs typeface="+mn-ea"/>
              </a:rPr>
              <a:t>-</a:t>
            </a:r>
            <a:r>
              <a:rPr>
                <a:latin typeface="+mn-ea"/>
                <a:ea typeface="+mn-ea"/>
                <a:cs typeface="+mn-ea"/>
              </a:rPr>
              <a:t>赵国兴</a:t>
            </a:r>
            <a:endParaRPr kern="100">
              <a:latin typeface="+mn-ea"/>
              <a:ea typeface="+mn-ea"/>
              <a:cs typeface="+mn-ea"/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>
                <a:latin typeface="+mn-ea"/>
                <a:ea typeface="+mn-ea"/>
                <a:cs typeface="+mn-ea"/>
              </a:rPr>
              <a:t>RM</a:t>
            </a:r>
            <a:r>
              <a:rPr>
                <a:latin typeface="+mn-ea"/>
                <a:ea typeface="+mn-ea"/>
                <a:cs typeface="+mn-ea"/>
              </a:rPr>
              <a:t>：北京</a:t>
            </a:r>
            <a:r>
              <a:rPr>
                <a:latin typeface="+mn-ea"/>
                <a:ea typeface="+mn-ea"/>
                <a:cs typeface="+mn-ea"/>
              </a:rPr>
              <a:t>-</a:t>
            </a:r>
            <a:r>
              <a:rPr>
                <a:latin typeface="+mn-ea"/>
                <a:ea typeface="+mn-ea"/>
                <a:cs typeface="+mn-ea"/>
              </a:rPr>
              <a:t>李萍</a:t>
            </a:r>
            <a:endParaRPr kern="100"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181452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D17DE5E-76DB-4379-A108-325CA107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452245"/>
            <a:ext cx="3048000" cy="413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目标客户：西京医院</a:t>
            </a:r>
            <a:endParaRPr sz="11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专家：王*春教授 (主任医师, 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西京毛发门诊专家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)</a:t>
            </a:r>
            <a:endParaRPr sz="14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竞品：托法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/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巴瑞院内准入；</a:t>
            </a:r>
            <a:endParaRPr sz="14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月门诊量：1000人次</a:t>
            </a:r>
            <a:endParaRPr sz="14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核心特征：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部队医院，军事化管理，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不处方院外产品</a:t>
            </a:r>
            <a:endParaRPr sz="14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26E1E5A-76F4-428B-86B3-89D59BA5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206500"/>
            <a:ext cx="4064000" cy="4304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600" b="1" i="0" u="none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01. 制度壁垒：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医院管理严格，医生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用药以院内为主，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明确表示不处方院外产品。</a:t>
            </a:r>
            <a:endParaRPr sz="11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600" b="1" i="0" u="none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02. 认知壁垒：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医生对乐复诺无任何使用经验，无法认可。</a:t>
            </a:r>
            <a:endParaRPr sz="14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600" b="1" i="0" u="none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03. 替代方案满足：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医生认为现有方案已足够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（疗效性价比）皆满足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，不愿承担额外风险。</a:t>
            </a:r>
            <a:endParaRPr sz="14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9A50FF08-65DD-4986-9D9F-27B5D9BB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993775"/>
            <a:ext cx="2794000" cy="398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“现有疗法效果挺好，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费用还便宜还在院内，</a:t>
            </a:r>
            <a:r>
              <a: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我为什么要冒险给病人用一个院外的新药？”</a:t>
            </a:r>
            <a:endParaRPr sz="14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05000D2-4B4A-4CF8-8825-BF56B844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0"/>
            <a:ext cx="10668000" cy="762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2F6BCA"/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94982491-A045-49AA-990F-13075F81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715000"/>
            <a:ext cx="1041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350" b="1">
                <a:solidFill>
                  <a:srgbClr val="0E2B4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 u="none">
                <a:solidFill>
                  <a:srgbClr val="0E2B4D"/>
                </a:solidFill>
                <a:latin typeface="PingFang SC"/>
                <a:ea typeface="PingFang SC"/>
                <a:cs typeface="PingFang SC"/>
              </a:rPr>
              <a:t>产品现状：</a:t>
            </a:r>
            <a:r>
              <a:rPr sz="1350" b="1" i="0" u="none">
                <a:solidFill>
                  <a:srgbClr val="0E2B4D"/>
                </a:solidFill>
                <a:latin typeface="PingFang SC"/>
                <a:ea typeface="PingFang SC"/>
                <a:cs typeface="PingFang SC"/>
              </a:rPr>
              <a:t>零准入、零使用、零认知</a:t>
            </a:r>
            <a:r>
              <a:rPr sz="1350" b="1" i="0" u="none">
                <a:solidFill>
                  <a:srgbClr val="0E2B4D"/>
                </a:solidFill>
                <a:latin typeface="PingFang SC"/>
                <a:ea typeface="PingFang SC"/>
                <a:cs typeface="PingFang SC"/>
              </a:rPr>
              <a:t>的“三零”困境。</a:t>
            </a:r>
            <a:endParaRPr sz="14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2A1895C6-FF16-406A-B5F1-C0EE2A375B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342900"/>
            <a:ext cx="10820400" cy="533400"/>
          </a:xfr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  <a:defRPr sz="2550" b="1">
                <a:solidFill>
                  <a:srgbClr val="0E2B4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E2B4D"/>
                </a:solidFill>
                <a:latin typeface="PingFang SC"/>
                <a:ea typeface="PingFang SC"/>
                <a:cs typeface="PingFang SC"/>
              </a:rPr>
              <a:t>01 背景与痛点｜西京医院进入壁垒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12088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CD6350E-6A1D-4C97-8265-E6F0E88D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2286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2000" b="1" i="0" u="none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01 需求洞察</a:t>
            </a:r>
            <a:endParaRPr sz="2000" b="1" i="0" u="none">
              <a:solidFill>
                <a:schemeClr val="accen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41E0500-51E3-4DB2-B377-C7295751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159000"/>
            <a:ext cx="2286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2000" b="1" i="0" u="none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02 精准切入</a:t>
            </a:r>
            <a:endParaRPr sz="2000" b="1" i="0" u="none">
              <a:solidFill>
                <a:schemeClr val="accen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D50B631-8746-459F-9F74-75640F60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159000"/>
            <a:ext cx="2286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2000" b="1" i="0" u="none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03 建立信任</a:t>
            </a:r>
            <a:endParaRPr sz="2000" b="1" i="0" u="none">
              <a:solidFill>
                <a:schemeClr val="accen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D015AB0-34DB-4C9F-9255-2F43150D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9000"/>
            <a:ext cx="2286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2000" b="1" i="0" u="none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04 观念升级</a:t>
            </a:r>
            <a:endParaRPr sz="2000" b="1" i="0" u="none">
              <a:solidFill>
                <a:schemeClr val="accen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B9309AF-C473-4693-8E45-03912BA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302000"/>
            <a:ext cx="2413000" cy="304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>
              <a:alpha val="100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421B7430-E4E7-4809-85CA-AA563CD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492500"/>
            <a:ext cx="215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识别客户对“安全”和“无风险”的深层诉求，利用乐复诺唯一的青少年适应症作为机会点</a:t>
            </a: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切入</a:t>
            </a: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。</a:t>
            </a:r>
            <a:endParaRPr sz="1500" b="0" i="0" u="none"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EEB71F46-A550-402B-B483-7AE2ACBB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0" y="3302000"/>
            <a:ext cx="2413000" cy="304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>
              <a:alpha val="100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BD0857EC-236B-4013-829F-615A6D94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92500"/>
            <a:ext cx="215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锁定青少年患者和竞品应答不佳患者，用“一句话话术”打开对话。</a:t>
            </a:r>
            <a:endParaRPr sz="1500" b="0" i="0" u="none"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5AF2A56-3987-4947-9823-BB749C79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02000"/>
            <a:ext cx="2413000" cy="304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>
              <a:alpha val="100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A03066D0-A110-4462-8654-4193AACA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492500"/>
            <a:ext cx="215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通过共同管理患者、及时回顾疗效，利用真实成功案例撬动医生观念。</a:t>
            </a:r>
            <a:endParaRPr sz="1500" b="0" i="0" u="none"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EFE1A855-07BC-42DF-B6B6-0CC3814C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0" y="3302000"/>
            <a:ext cx="2413000" cy="304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>
              <a:alpha val="100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63BADC6A-544C-46AD-B929-8399B6A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3492500"/>
            <a:ext cx="215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将</a:t>
            </a: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青少年患者群体</a:t>
            </a: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应用场景从特殊人群扩展至更广泛的斑秃患者，打造临床治疗首选方案；通过长期处方建议提升患者依从性，实现产品全面渗透与观念升级。</a:t>
            </a:r>
            <a:endParaRPr sz="1500" b="0" i="0" u="none"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6" name="标题 15">
            <a:extLst xmlns:a="http://schemas.openxmlformats.org/drawingml/2006/main">
              <a:ext uri="{FF2B5EF4-FFF2-40B4-BE49-F238E27FC236}">
                <a16:creationId xmlns:a16="http://schemas.microsoft.com/office/drawing/2014/main" id="{31253699-C74E-4242-BCB4-5BCCB5E67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</a:pPr>
            <a:r>
              <a:t>02 干货、方法论与核心做法：四步破局法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4338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3" name="Chart 3"/>
          <p:cNvGraphicFramePr/>
          <p:nvPr/>
        </p:nvGraphicFramePr>
        <p:xfrm>
          <a:off xmlns:a="http://schemas.openxmlformats.org/drawingml/2006/main" x="762000" y="2032000"/>
          <a:ext xmlns:a="http://schemas.openxmlformats.org/drawingml/2006/main" cx="2540000" cy="355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e3fda8f2aa4d38"/>
          </a:graphicData>
        </a:graphic>
      </p:graphicFrame>
      <p:sp>
        <p:nvSpPr>
          <p:cNvPr id="4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5107355-8FF5-4F5F-9FFB-15D91C73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1630" y="1304925"/>
            <a:ext cx="2286000" cy="355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>
              <a:alpha val="100000"/>
            </a:schemeClr>
          </a:solidFill>
          <a:ln xmlns:a="http://schemas.openxmlformats.org/drawingml/2006/main" w="12700" cmpd="sng">
            <a:solidFill>
              <a:schemeClr val="accent2">
                <a:alpha val="50000"/>
              </a:scheme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285ACD1-3AE7-455B-ACB3-7C64F8C1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2159000"/>
            <a:ext cx="2032000" cy="33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500" b="1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可复制方法论</a:t>
            </a:r>
            <a:endParaRPr sz="11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0" indent="0" algn="l">
              <a:lnSpc>
                <a:spcPct val="125000"/>
              </a:lnSpc>
              <a:spcBef>
                <a:spcPts val="1000"/>
              </a:spcBef>
              <a:buNone/>
            </a:pPr>
            <a:r>
              <a:rPr sz="12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1. 锁定关键医生</a:t>
            </a:r>
            <a:endParaRPr sz="12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2. 识别核心需求</a:t>
            </a:r>
            <a:endParaRPr sz="12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3. 锁定突破类型</a:t>
            </a:r>
            <a:endParaRPr sz="12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4. 针对性信息传递</a:t>
            </a:r>
            <a:endParaRPr sz="12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5. 巩固与升级</a:t>
            </a:r>
            <a:endParaRPr sz="12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653A6D2-0993-4B6C-8399-3FD05305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2000"/>
            <a:ext cx="10668000" cy="762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chemeClr val="accent1">
              <a:alpha val="100000"/>
            </a:schemeClr>
          </a:solidFill>
          <a:ln xmlns:a="http://schemas.openxmlformats.org/drawingml/2006/main" w="12700" cmpd="sng">
            <a:solidFill>
              <a:schemeClr val="accent2">
                <a:alpha val="80000"/>
              </a:scheme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543DA52-89CC-4117-BCFD-75182CCD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969000"/>
            <a:ext cx="1041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300" b="1" i="0" u="none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lt"/>
                <a:cs typeface="+mn-lt"/>
              </a:rPr>
              <a:t>一句话复制：</a:t>
            </a:r>
            <a:r>
              <a:rPr sz="1300" b="0" i="0" u="none">
                <a:solidFill>
                  <a:schemeClr val="accent1">
                    <a:lumMod val="20000"/>
                    <a:lumOff val="80000"/>
                    <a:alpha val="90196"/>
                  </a:schemeClr>
                </a:solidFill>
                <a:latin typeface="+mn-lt"/>
                <a:ea typeface="+mn-lt"/>
                <a:cs typeface="+mn-lt"/>
              </a:rPr>
              <a:t>选对“</a:t>
            </a:r>
            <a:r>
              <a:rPr sz="1300" b="0" i="0" u="none">
                <a:solidFill>
                  <a:schemeClr val="accent1">
                    <a:lumMod val="20000"/>
                    <a:lumOff val="80000"/>
                    <a:alpha val="90196"/>
                  </a:schemeClr>
                </a:solidFill>
                <a:latin typeface="+mn-lt"/>
                <a:ea typeface="+mn-lt"/>
                <a:cs typeface="+mn-lt"/>
              </a:rPr>
              <a:t>核心</a:t>
            </a:r>
            <a:r>
              <a:rPr sz="1300" b="0" i="0" u="none">
                <a:solidFill>
                  <a:schemeClr val="accent1">
                    <a:lumMod val="20000"/>
                    <a:lumOff val="80000"/>
                    <a:alpha val="90196"/>
                  </a:schemeClr>
                </a:solidFill>
                <a:latin typeface="+mn-lt"/>
                <a:ea typeface="+mn-lt"/>
                <a:cs typeface="+mn-lt"/>
              </a:rPr>
              <a:t>KOL</a:t>
            </a:r>
            <a:r>
              <a:rPr sz="1300" b="0" i="0" u="none">
                <a:solidFill>
                  <a:schemeClr val="accent1">
                    <a:lumMod val="20000"/>
                    <a:lumOff val="80000"/>
                    <a:alpha val="90196"/>
                  </a:schemeClr>
                </a:solidFill>
                <a:latin typeface="+mn-lt"/>
                <a:ea typeface="+mn-lt"/>
                <a:cs typeface="+mn-lt"/>
              </a:rPr>
              <a:t>”医生，洞察核心顾虑，用真实病例建立信任，实现观念</a:t>
            </a:r>
            <a:r>
              <a:rPr sz="1300" b="0" i="0" u="none">
                <a:solidFill>
                  <a:schemeClr val="accent1">
                    <a:lumMod val="20000"/>
                    <a:lumOff val="80000"/>
                    <a:alpha val="90196"/>
                  </a:schemeClr>
                </a:solidFill>
                <a:latin typeface="+mn-lt"/>
                <a:ea typeface="+mn-lt"/>
                <a:cs typeface="+mn-lt"/>
              </a:rPr>
              <a:t>进阶</a:t>
            </a:r>
            <a:r>
              <a:rPr sz="1300" b="0" i="0" u="none">
                <a:solidFill>
                  <a:schemeClr val="accent1">
                    <a:lumMod val="20000"/>
                    <a:lumOff val="80000"/>
                    <a:alpha val="90196"/>
                  </a:schemeClr>
                </a:solidFill>
                <a:latin typeface="+mn-lt"/>
                <a:ea typeface="+mn-lt"/>
                <a:cs typeface="+mn-lt"/>
              </a:rPr>
              <a:t>与业绩的双重突破。</a:t>
            </a:r>
            <a:endParaRPr sz="1300" b="0" i="0" u="none">
              <a:solidFill>
                <a:schemeClr val="accent1">
                  <a:lumMod val="20000"/>
                  <a:lumOff val="80000"/>
                  <a:alpha val="90196"/>
                </a:schemeClr>
              </a:solidFill>
              <a:latin typeface="+mn-lt"/>
              <a:ea typeface="+mn-lt"/>
              <a:cs typeface="+mn-lt"/>
            </a:endParaRP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3302635" y="1304290"/>
          <a:ext xmlns:a="http://schemas.openxmlformats.org/drawingml/2006/main" cx="5762625" cy="438531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0865"/>
                <a:gridCol w="1589405"/>
                <a:gridCol w="2332355"/>
              </a:tblGrid>
              <a:tr h="40449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chemeClr val="tx1"/>
                          </a:solidFill>
                        </a:rPr>
                        <a:t>观念维度</a:t>
                      </a:r>
                      <a:endParaRPr sz="1300" b="1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chemeClr val="tx1"/>
                          </a:solidFill>
                        </a:rPr>
                        <a:t>起始状态</a:t>
                      </a:r>
                      <a:endParaRPr sz="1300" b="1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chemeClr val="tx1"/>
                          </a:solidFill>
                        </a:rPr>
                        <a:t>6个月后状态</a:t>
                      </a:r>
                      <a:endParaRPr sz="1300" b="1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alpha val="100000"/>
                      </a:schemeClr>
                    </a:solidFill>
                  </a:tcPr>
                </a:tc>
              </a:tr>
              <a:tr h="11080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</a:rPr>
                        <a:t>扩重度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（通过更新传递2026中国斑秃指南和2025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STAGE-AA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中国专家共识，引导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HCP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重新识别重度患者）</a:t>
                      </a:r>
                      <a:endParaRPr sz="9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仅偶尔尝试青少年患者使用乐复诺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1" i="0" u="none">
                          <a:solidFill>
                            <a:schemeClr val="tx1"/>
                          </a:solidFill>
                        </a:rPr>
                        <a:t>独特优势型患者首选乐复诺</a:t>
                      </a: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，并向患者全面告知其优势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92646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</a:rPr>
                        <a:t>早启动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（传递斑秃疾病特点&amp;国内外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JAK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指南推荐，倡导更早启动系统治疗和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JAK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治疗，改变斑秃患者的病程）</a:t>
                      </a:r>
                      <a:endParaRPr sz="9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>
                          <a:solidFill>
                            <a:schemeClr val="tx1"/>
                          </a:solidFill>
                        </a:rPr>
                        <a:t>传统治疗首选升阶梯治疗理念</a:t>
                      </a:r>
                      <a:endParaRPr sz="1100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认可</a:t>
                      </a: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早起始给患者带来的临床获益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9417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</a:rPr>
                        <a:t>赢首选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（通过三类画像优势人群（独特优势/患者主诉/临床需求），分别从讲机制、讲疗效、讲安全性维度，提升乐复诺品牌首选）</a:t>
                      </a:r>
                      <a:endParaRPr sz="9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首选巴瑞替尼，仅偶尔尝试青少年患者使用乐复诺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1" i="0" u="none">
                          <a:solidFill>
                            <a:schemeClr val="tx1"/>
                          </a:solidFill>
                        </a:rPr>
                        <a:t>独特优势型患者首选乐复诺</a:t>
                      </a: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，并向患者全面告知其优势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0045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</a:rPr>
                        <a:t>久治疗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（建立“3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6123”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评估路径，传递“3个月快速应答、6个月毛发再生、12个月全面修复、3年持久改善”的关键信息）</a:t>
                      </a:r>
                      <a:endParaRPr sz="9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处方周期短（DOT 1）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认可长期治疗方案，处方周期延长（DOT 6）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3D6DA549-C124-4F8D-BA1C-E3B6D5EF9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</a:pPr>
            <a:r>
              <a:t>03 取得的效果：从破冰到引领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72361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BC40CE44-BD9A-4B5F-A664-991EBB1D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710305"/>
          </a:xfrm>
          <a:custGeom xmlns:a="http://schemas.openxmlformats.org/drawingml/2006/main">
            <a:rect l="l" t="t" r="r" b="b"/>
            <a:pathLst>
              <a:path w="19200" h="5843">
                <a:moveTo>
                  <a:pt x="0" y="0"/>
                </a:moveTo>
                <a:lnTo>
                  <a:pt x="19200" y="0"/>
                </a:lnTo>
                <a:lnTo>
                  <a:pt x="19200" y="1014"/>
                </a:lnTo>
                <a:lnTo>
                  <a:pt x="19191" y="1026"/>
                </a:lnTo>
                <a:cubicBezTo>
                  <a:pt x="17011" y="3950"/>
                  <a:pt x="13527" y="5843"/>
                  <a:pt x="9600" y="5843"/>
                </a:cubicBezTo>
                <a:cubicBezTo>
                  <a:pt x="5673" y="5843"/>
                  <a:pt x="2189" y="3950"/>
                  <a:pt x="9" y="1026"/>
                </a:cubicBezTo>
                <a:lnTo>
                  <a:pt x="0" y="10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>
              <a:solidFill>
                <a:schemeClr val="bg1"/>
              </a:solidFill>
            </a:endParaRPr>
          </a:p>
        </p:txBody>
      </p:sp>
      <p:sp useBgFill="1">
        <p:nvSpPr>
          <p:cNvPr id="225" name="圆角矩形 224">
            <a:extLst xmlns:a="http://schemas.openxmlformats.org/drawingml/2006/main">
              <a:ext uri="{FF2B5EF4-FFF2-40B4-BE49-F238E27FC236}">
                <a16:creationId xmlns:a16="http://schemas.microsoft.com/office/drawing/2014/main" id="{A7051002-12C6-4BF0-8399-8C79F275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101" y="1767510"/>
            <a:ext cx="3171891" cy="4151040"/>
          </a:xfrm>
          <a:prstGeom xmlns:a="http://schemas.openxmlformats.org/drawingml/2006/main" prst="roundRect">
            <a:avLst>
              <a:gd name="adj" fmla="val 13095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144145" tIns="539750" rIns="215900" anchor="ctr">
            <a:noAutofit/>
          </a:bodyPr>
          <a:lstStyle xmlns:a="http://schemas.openxmlformats.org/drawingml/2006/main"/>
          <a:p xmlns:a="http://schemas.openxmlformats.org/drawingml/2006/main">
            <a:pPr lvl="0" algn="just">
              <a:lnSpc>
                <a:spcPct val="130000"/>
              </a:lnSpc>
              <a:buClrTx/>
              <a:buSzTx/>
              <a:buFontTx/>
              <a:buNone/>
            </a:pP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 useBgFill="1">
        <p:nvSpPr>
          <p:cNvPr id="226" name="圆角矩形 225">
            <a:extLst xmlns:a="http://schemas.openxmlformats.org/drawingml/2006/main">
              <a:ext uri="{FF2B5EF4-FFF2-40B4-BE49-F238E27FC236}">
                <a16:creationId xmlns:a16="http://schemas.microsoft.com/office/drawing/2014/main" id="{255A9F9F-C35F-4C3E-9C5C-81FE6F06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906" y="1767510"/>
            <a:ext cx="3173204" cy="4151040"/>
          </a:xfrm>
          <a:prstGeom xmlns:a="http://schemas.openxmlformats.org/drawingml/2006/main" prst="roundRect">
            <a:avLst>
              <a:gd name="adj" fmla="val 13095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145" tIns="539750" rIns="215900" anchor="ctr"/>
          <a:lstStyle xmlns:a="http://schemas.openxmlformats.org/drawingml/2006/main"/>
          <a:p xmlns:a="http://schemas.openxmlformats.org/drawingml/2006/main">
            <a:pPr indent="0" algn="just">
              <a:lnSpc>
                <a:spcPct val="130000"/>
              </a:lnSpc>
              <a:buNone/>
            </a:pP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 useBgFill="1">
        <p:nvSpPr>
          <p:cNvPr id="227" name="圆角矩形 226">
            <a:extLst xmlns:a="http://schemas.openxmlformats.org/drawingml/2006/main">
              <a:ext uri="{FF2B5EF4-FFF2-40B4-BE49-F238E27FC236}">
                <a16:creationId xmlns:a16="http://schemas.microsoft.com/office/drawing/2014/main" id="{7ED06D18-B337-4292-B2B1-28858941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24" y="1767510"/>
            <a:ext cx="3171891" cy="4151040"/>
          </a:xfrm>
          <a:prstGeom xmlns:a="http://schemas.openxmlformats.org/drawingml/2006/main" prst="roundRect">
            <a:avLst>
              <a:gd name="adj" fmla="val 13095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144145" tIns="539750" rIns="215900" anchor="ctr">
            <a:noAutofit/>
          </a:bodyPr>
          <a:lstStyle xmlns:a="http://schemas.openxmlformats.org/drawingml/2006/main"/>
          <a:p xmlns:a="http://schemas.openxmlformats.org/drawingml/2006/main">
            <a:pPr lvl="0" algn="just">
              <a:lnSpc>
                <a:spcPct val="130000"/>
              </a:lnSpc>
              <a:buClrTx/>
              <a:buSzTx/>
              <a:buFontTx/>
              <a:buNone/>
            </a:pP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28" name="圆角矩形 227">
            <a:extLst xmlns:a="http://schemas.openxmlformats.org/drawingml/2006/main">
              <a:ext uri="{FF2B5EF4-FFF2-40B4-BE49-F238E27FC236}">
                <a16:creationId xmlns:a16="http://schemas.microsoft.com/office/drawing/2014/main" id="{79028EE5-9E41-4F25-BC99-8507A6E0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101" y="1767510"/>
            <a:ext cx="3171891" cy="415104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144145" tIns="1080135" rIns="215900" anchor="t">
            <a:normAutofit/>
          </a:bodyPr>
          <a:lstStyle xmlns:a="http://schemas.openxmlformats.org/drawingml/2006/main"/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2024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年准入：延安大学咸阳医院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2025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年准入：唐都医院（正式）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2026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准入目标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西安医学院第二附属医院（临采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次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）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29" name="椭圆 228">
            <a:extLst xmlns:a="http://schemas.openxmlformats.org/drawingml/2006/main">
              <a:ext uri="{FF2B5EF4-FFF2-40B4-BE49-F238E27FC236}">
                <a16:creationId xmlns:a16="http://schemas.microsoft.com/office/drawing/2014/main" id="{C475751B-2441-4B8B-A24C-1294FBA2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170" y="2093893"/>
            <a:ext cx="631095" cy="63109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30" name="直接连接符 229">
            <a:extLst xmlns:a="http://schemas.openxmlformats.org/drawingml/2006/main">
              <a:ext uri="{FF2B5EF4-FFF2-40B4-BE49-F238E27FC236}">
                <a16:creationId xmlns:a16="http://schemas.microsoft.com/office/drawing/2014/main" id="{F3E6BC18-995A-448F-A558-5468B71A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377" y="5512706"/>
            <a:ext cx="394680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250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227715aa141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3362" y="2288278"/>
            <a:ext cx="260614" cy="260614"/>
          </a:xfrm>
          <a:prstGeom xmlns:a="http://schemas.openxmlformats.org/drawingml/2006/main" prst="rect">
            <a:avLst/>
          </a:prstGeom>
        </p:spPr>
      </p:pic>
      <p:sp>
        <p:nvSpPr>
          <p:cNvPr id="232" name="圆角矩形 231">
            <a:extLst xmlns:a="http://schemas.openxmlformats.org/drawingml/2006/main">
              <a:ext uri="{FF2B5EF4-FFF2-40B4-BE49-F238E27FC236}">
                <a16:creationId xmlns:a16="http://schemas.microsoft.com/office/drawing/2014/main" id="{FED544D8-0DBB-4FE5-8383-41782F2B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906" y="1767510"/>
            <a:ext cx="3173204" cy="415104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144145" tIns="1080135" rIns="215900" anchor="t">
            <a:normAutofit/>
          </a:bodyPr>
          <a:lstStyle xmlns:a="http://schemas.openxmlformats.org/drawingml/2006/main"/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目前辖区已累计处方客户数共计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53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位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,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较去年新增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7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位处方客户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;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超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客户：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3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位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客户：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3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位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 B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客户：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5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其他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CD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客户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33" name="椭圆 232">
            <a:extLst xmlns:a="http://schemas.openxmlformats.org/drawingml/2006/main">
              <a:ext uri="{FF2B5EF4-FFF2-40B4-BE49-F238E27FC236}">
                <a16:creationId xmlns:a16="http://schemas.microsoft.com/office/drawing/2014/main" id="{ED337B7A-9881-4FEC-A4F9-5CC7A0EB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632" y="2093893"/>
            <a:ext cx="631095" cy="63109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25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ef418675e48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4823" y="2288278"/>
            <a:ext cx="260614" cy="260614"/>
          </a:xfrm>
          <a:prstGeom xmlns:a="http://schemas.openxmlformats.org/drawingml/2006/main" prst="rect">
            <a:avLst/>
          </a:prstGeom>
        </p:spPr>
      </p:pic>
      <p:sp>
        <p:nvSpPr>
          <p:cNvPr id="235" name="直接连接符 234">
            <a:extLst xmlns:a="http://schemas.openxmlformats.org/drawingml/2006/main">
              <a:ext uri="{FF2B5EF4-FFF2-40B4-BE49-F238E27FC236}">
                <a16:creationId xmlns:a16="http://schemas.microsoft.com/office/drawing/2014/main" id="{A97F388A-324B-44F1-B5FC-FF9758DB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7839" y="5512706"/>
            <a:ext cx="394680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36" name="圆角矩形 235">
            <a:extLst xmlns:a="http://schemas.openxmlformats.org/drawingml/2006/main">
              <a:ext uri="{FF2B5EF4-FFF2-40B4-BE49-F238E27FC236}">
                <a16:creationId xmlns:a16="http://schemas.microsoft.com/office/drawing/2014/main" id="{51501C03-13BB-4D42-A6EB-CECF86AE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24" y="1767510"/>
            <a:ext cx="3171891" cy="415104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144145" tIns="1080135" rIns="215900" anchor="t">
            <a:normAutofit/>
          </a:bodyPr>
          <a:lstStyle xmlns:a="http://schemas.openxmlformats.org/drawingml/2006/main"/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辖区市场：西北五省，幅员辽阔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陕西：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9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   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破冰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9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（7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）</a:t>
            </a:r>
            <a:endParaRPr sz="1400">
              <a:solidFill>
                <a:srgbClr val="FF000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新疆：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3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破冰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宁夏：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 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破冰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1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兰州：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3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破冰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青海：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破冰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1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37" name="椭圆 236">
            <a:extLst xmlns:a="http://schemas.openxmlformats.org/drawingml/2006/main">
              <a:ext uri="{FF2B5EF4-FFF2-40B4-BE49-F238E27FC236}">
                <a16:creationId xmlns:a16="http://schemas.microsoft.com/office/drawing/2014/main" id="{8884A480-87A9-42A7-858A-EDF5DB1F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751" y="2093893"/>
            <a:ext cx="631095" cy="63109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257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ab63af1e444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6942" y="2279084"/>
            <a:ext cx="260712" cy="260712"/>
          </a:xfrm>
          <a:prstGeom xmlns:a="http://schemas.openxmlformats.org/drawingml/2006/main" prst="rect">
            <a:avLst/>
          </a:prstGeom>
        </p:spPr>
      </p:pic>
      <p:sp>
        <p:nvSpPr>
          <p:cNvPr id="239" name="直接连接符 238">
            <a:extLst xmlns:a="http://schemas.openxmlformats.org/drawingml/2006/main">
              <a:ext uri="{FF2B5EF4-FFF2-40B4-BE49-F238E27FC236}">
                <a16:creationId xmlns:a16="http://schemas.microsoft.com/office/drawing/2014/main" id="{8AFE1FB1-6295-4568-B5DE-E8177EF8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301" y="5512706"/>
            <a:ext cx="394680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F79AC2D2-6F80-4190-8E5C-D86BB84B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00" y="394405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>
                <a:solidFill>
                  <a:schemeClr val="bg1"/>
                </a:solidFill>
              </a:rPr>
              <a:t>市场回顾</a:t>
            </a:r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2658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4AE6BF4-AD19-4330-89BF-F3C02FBFC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</a:pPr>
            <a:r>
              <a:t>数据分析</a:t>
            </a:r>
            <a:endParaRPr/>
          </a:p>
        </p:txBody>
      </p:sp>
      <p:graphicFrame>
        <p:nvGraphicFramePr>
          <p:cNvPr id="91" name="图表 43"/>
          <p:cNvGraphicFramePr/>
          <p:nvPr/>
        </p:nvGraphicFramePr>
        <p:xfrm>
          <a:off xmlns:a="http://schemas.openxmlformats.org/drawingml/2006/main" x="0" y="1889760"/>
          <a:ext xmlns:a="http://schemas.openxmlformats.org/drawingml/2006/main" cx="7233920" cy="375348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689ba13a674bb9"/>
          </a:graphicData>
        </a:graphic>
      </p:graphicFrame>
      <p:sp>
        <p:nvSpPr>
          <p:cNvPr id="5" name="边界">
            <a:extLst xmlns:a="http://schemas.openxmlformats.org/drawingml/2006/main">
              <a:ext uri="{FF2B5EF4-FFF2-40B4-BE49-F238E27FC236}">
                <a16:creationId xmlns:a16="http://schemas.microsoft.com/office/drawing/2014/main" id="{75B17A13-0906-4914-91EA-3422B81B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3907" y="1502410"/>
            <a:ext cx="4508053" cy="4418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7" name="正文">
            <a:extLst xmlns:a="http://schemas.openxmlformats.org/drawingml/2006/main">
              <a:ext uri="{FF2B5EF4-FFF2-40B4-BE49-F238E27FC236}">
                <a16:creationId xmlns:a16="http://schemas.microsoft.com/office/drawing/2014/main" id="{CD67F599-AE1B-41BC-B905-F6CC32D8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285" y="1316990"/>
            <a:ext cx="4638675" cy="15336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2024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年全年达成：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139%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，全年增长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700%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；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初诊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：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全年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200+ ；DOT6.2/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人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，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跑单率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11.3%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" name="正文">
            <a:extLst xmlns:a="http://schemas.openxmlformats.org/drawingml/2006/main">
              <a:ext uri="{FF2B5EF4-FFF2-40B4-BE49-F238E27FC236}">
                <a16:creationId xmlns:a16="http://schemas.microsoft.com/office/drawing/2014/main" id="{F294EC1C-3E69-47AE-A339-3C9E24EC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285" y="2293788"/>
            <a:ext cx="4638675" cy="15336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2025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年预计全年达成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100%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，环比去年增长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50%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上半年初诊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：200+  DOT  4.3/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人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，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跑单率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45%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ea typeface="+mn-ea"/>
                <a:cs typeface="+mn-ea"/>
              </a:rPr>
              <a:t>2025</a:t>
            </a:r>
            <a:r>
              <a:rPr sz="160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ea typeface="+mn-ea"/>
                <a:cs typeface="+mn-ea"/>
              </a:rPr>
              <a:t>全年</a:t>
            </a:r>
            <a:r>
              <a:rPr sz="160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ea typeface="+mn-ea"/>
                <a:cs typeface="+mn-ea"/>
              </a:rPr>
              <a:t> </a:t>
            </a:r>
            <a:r>
              <a:rPr sz="160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ea typeface="+mn-ea"/>
                <a:cs typeface="+mn-ea"/>
              </a:rPr>
              <a:t>非核心市场销售占比</a:t>
            </a:r>
            <a:r>
              <a:rPr sz="160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ea typeface="+mn-ea"/>
                <a:cs typeface="+mn-ea"/>
              </a:rPr>
              <a:t>10.7%</a:t>
            </a:r>
            <a:endParaRPr sz="1600" kern="0">
              <a:ln>
                <a:noFill/>
                <a:prstDash val="sysDot"/>
              </a:ln>
              <a:solidFill>
                <a:srgbClr val="FF000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ea typeface="+mn-ea"/>
                <a:cs typeface="+mn-ea"/>
              </a:rPr>
              <a:t> </a:t>
            </a:r>
            <a:endParaRPr sz="1600" kern="0">
              <a:ln>
                <a:noFill/>
                <a:prstDash val="sysDot"/>
              </a:ln>
              <a:solidFill>
                <a:srgbClr val="FF000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rgbClr val="FF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12AD5DC7-7CFF-48C0-B3B5-41992748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080385"/>
            <a:ext cx="4683125" cy="1173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既往持续高效达成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：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核心市场的深耕及区域市场扩面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处方客户的持续增加及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DOT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管理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6" name="墨迹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804300314433c"/>
          <a:stretch xmlns:a="http://schemas.openxmlformats.org/drawingml/2006/main"/>
        </p:blipFill>
        <p:spPr>
          <a:xfrm xmlns:a="http://schemas.openxmlformats.org/drawingml/2006/main">
            <a:off x="4840431" y="6250059"/>
            <a:ext cx="274205" cy="3539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22365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2026-09-21T07:25:34.7120000Z</dcterms:created>
  <dcterms:modified xsi:type="dcterms:W3CDTF">2026-09-21T07:25:34.7120000Z</dcterms:modified>
</coreProperties>
</file>