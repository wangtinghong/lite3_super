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4e84a6b754ff6" /><Relationship Type="http://schemas.openxmlformats.org/officeDocument/2006/relationships/extended-properties" Target="/docProps/app.xml" Id="R7359e0906fe241ce" /><Relationship Type="http://schemas.openxmlformats.org/officeDocument/2006/relationships/officeDocument" Target="/ppt/presentation.xml" Id="R436b98674fcf48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8dcec6e4af4250"/>
    <p:sldMasterId xmlns:r="http://schemas.openxmlformats.org/officeDocument/2006/relationships" id="2147483660" r:id="Rdc91828d2d834a0f"/>
    <p:sldMasterId xmlns:r="http://schemas.openxmlformats.org/officeDocument/2006/relationships" id="2147483662" r:id="R684a61f5ea56412a"/>
  </p:sldMasterIdLst>
  <p:notesMasterIdLst>
    <p:notesMasterId xmlns:r="http://schemas.openxmlformats.org/officeDocument/2006/relationships" r:id="R38da4ca1720d40c8"/>
  </p:notesMasterIdLst>
  <p:sldIdLst>
    <p:sldId xmlns:r="http://schemas.openxmlformats.org/officeDocument/2006/relationships" id="256" r:id="R362b8417d325452c"/>
    <p:sldId xmlns:r="http://schemas.openxmlformats.org/officeDocument/2006/relationships" id="257" r:id="Re91fa5981dec4ec7"/>
    <p:sldId xmlns:r="http://schemas.openxmlformats.org/officeDocument/2006/relationships" id="258" r:id="R93cecce918294323"/>
    <p:sldId xmlns:r="http://schemas.openxmlformats.org/officeDocument/2006/relationships" id="259" r:id="R59d3bcbec83b47ad"/>
    <p:sldId xmlns:r="http://schemas.openxmlformats.org/officeDocument/2006/relationships" id="260" r:id="R0a1380b964b548fe"/>
    <p:sldId xmlns:r="http://schemas.openxmlformats.org/officeDocument/2006/relationships" id="261" r:id="Rb67a7a2429e644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9cb59217064ed5" /><Relationship Type="http://schemas.openxmlformats.org/officeDocument/2006/relationships/slideMaster" Target="/ppt/slideMasters/slideMaster1.xml" Id="R468dcec6e4af4250" /><Relationship Type="http://schemas.openxmlformats.org/officeDocument/2006/relationships/slideMaster" Target="/ppt/slideMasters/slideMaster2.xml" Id="Rdc91828d2d834a0f" /><Relationship Type="http://schemas.openxmlformats.org/officeDocument/2006/relationships/slideMaster" Target="/ppt/slideMasters/slideMaster3.xml" Id="R684a61f5ea56412a" /><Relationship Type="http://schemas.openxmlformats.org/officeDocument/2006/relationships/notesMaster" Target="/ppt/notesMasters/notesMaster1.xml" Id="R38da4ca1720d40c8" /><Relationship Type="http://schemas.openxmlformats.org/officeDocument/2006/relationships/presProps" Target="/ppt/presProps.xml" Id="Rdc592b39bfa344e8" /><Relationship Type="http://schemas.openxmlformats.org/officeDocument/2006/relationships/viewProps" Target="/ppt/viewProps.xml" Id="R1777e146f7204995" /><Relationship Type="http://schemas.openxmlformats.org/officeDocument/2006/relationships/tableStyles" Target="/ppt/tableStyles.xml" Id="Rbf67e56490d8434a" /><Relationship Type="http://schemas.openxmlformats.org/officeDocument/2006/relationships/slide" Target="/ppt/slides/slide1.xml" Id="R362b8417d325452c" /><Relationship Type="http://schemas.openxmlformats.org/officeDocument/2006/relationships/slide" Target="/ppt/slides/slide2.xml" Id="Re91fa5981dec4ec7" /><Relationship Type="http://schemas.openxmlformats.org/officeDocument/2006/relationships/slide" Target="/ppt/slides/slide3.xml" Id="R93cecce918294323" /><Relationship Type="http://schemas.openxmlformats.org/officeDocument/2006/relationships/slide" Target="/ppt/slides/slide4.xml" Id="R59d3bcbec83b47ad" /><Relationship Type="http://schemas.openxmlformats.org/officeDocument/2006/relationships/slide" Target="/ppt/slides/slide5.xml" Id="R0a1380b964b548fe" /><Relationship Type="http://schemas.openxmlformats.org/officeDocument/2006/relationships/slide" Target="/ppt/slides/slide6.xml" Id="Rb67a7a2429e644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e4e043a58074d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e9005284f4503" /><Relationship Type="http://schemas.openxmlformats.org/officeDocument/2006/relationships/notesMaster" Target="/ppt/notesMasters/notesMaster1.xml" Id="Rfc317c999dc2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7a23581c54ab6" /><Relationship Type="http://schemas.openxmlformats.org/officeDocument/2006/relationships/notesMaster" Target="/ppt/notesMasters/notesMaster1.xml" Id="R9e28d106338b4f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6391f553ce4590" /><Relationship Type="http://schemas.openxmlformats.org/officeDocument/2006/relationships/notesMaster" Target="/ppt/notesMasters/notesMaster1.xml" Id="R4ef23f88c8034c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73b2cadf3a4a38" /><Relationship Type="http://schemas.openxmlformats.org/officeDocument/2006/relationships/notesMaster" Target="/ppt/notesMasters/notesMaster1.xml" Id="R8287c095b3ea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772c0c52a14c7e" /><Relationship Type="http://schemas.openxmlformats.org/officeDocument/2006/relationships/notesMaster" Target="/ppt/notesMasters/notesMaster1.xml" Id="Ra47ec9fac2144d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ef225318ae4812" /><Relationship Type="http://schemas.openxmlformats.org/officeDocument/2006/relationships/notesMaster" Target="/ppt/notesMasters/notesMaster1.xml" Id="R7045c38bf35e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重点阐述了乐复诺在西京医院面临的严峻背景与核心痛点。我们的目标客户是西京医院的王胜春教授，尽管其门诊量巨大，但医院有严格的制度壁垒，不处方院外产品。同时，医生对乐复诺缺乏认知，且现有方案已能满足需求，这构成了我们进入市场的三重障碍。医生的灵魂拷问——“为何冒险用新药”，正是我们需要解决的核心问题。目前，产品处于零准入、零使用、零认知的“三零”困境，突破迫在眉睫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面对困境，我们制定了“四步破局法”。第一步，洞察需求。我们发现医生真正需要的是一个能规避风险的方案，而乐复诺唯一的青少年适应症正好满足了这一点。第二步，精准切入。我们锁定青少年患者和竞品应答不佳的患者作为突破口，用一句精准的话术打开了对话。第三步，建立信任。通过共同管理患者、及时回顾疗效，特别是一个成功的青少年案例，让医生亲眼见证了效果。最后一步，观念升级。在建立信任后，我们推动乐复诺成为更广泛人群的首选方案，并通过长期处方建议提升了患者依从性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本页重点展示了我们取得的核心效果。首先是业绩的指数级增长，月均处方量从2盒飙升至150盒。其次是医生观念的根本转变，从最初的抗拒到主动将乐复诺作为优势患者的首选。同时，处方周期也从短期的DOT 1延长到了规范的DOT 6。更重要的是，我们沉淀出了一套可复制的成功方法论。最后总结为一句话：选对关键医生，洞察核心顾虑，用病例建立信任，就能实现观念与业绩的双重突破。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5f0ca05f345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1c5778a8d40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567d0a7c441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6dc8bb2d94a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90bc0cb7e45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d63638be54d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fdb0a197345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a441e19e842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f7e039a904d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c7b5671ed43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174bec6c3412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c4bde218444ef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fc416b4c64b488d" /><Relationship Type="http://schemas.openxmlformats.org/officeDocument/2006/relationships/image" Target="/ppt/media/image.png" Id="Rb96f4f32e2cd4ca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0d84e91f65840f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ea682f7a550411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79375c39c048b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3f2d2c36e494c1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d351d9e43af4ba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6d6ad8553b04cd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db77febe0cb478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4938616939741f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f49314ac5b43c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8df10cd6fd749a6" /><Relationship Type="http://schemas.openxmlformats.org/officeDocument/2006/relationships/image" Target="/ppt/media/image.jpeg" Id="Re6f58cae079642aa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DC65E884-815D-41ED-8DFE-04BCF74721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+mn-lt"/>
                <a:ea typeface="+mn-lt"/>
                <a:cs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13EE8428-7668-4E45-A8D1-2EFC7E716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+mn-lt"/>
                <a:ea typeface="+mn-lt"/>
                <a:cs typeface="+mn-lt"/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57EEBD72-7116-4009-A7AA-8244AA3F07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15F5E13D-B76A-4663-B006-DA21E6055D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75CD6DE8-D7B8-4250-BBFB-9C6A361C69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126E01AD-553E-4667-8897-DA1C040EAB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A728EFCA-23DD-47EF-8393-88CE9C99FD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5701945A-CCDF-4A1A-AADC-D5B24D12A1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0C6876D5-5D24-4216-A54B-94147BA66C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041141B3-811A-44D7-80C7-6C231BB895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89D5232A-5CA0-4353-BB9F-7F61DA952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B4474EF1-565A-4D4E-BA86-61A5AE4520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2DD777BE-D533-4AD7-843A-6DEAD942E8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59BF706E-2945-4A01-AFBB-62335650A8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6C5D0908-E8FB-4145-9B72-6BC1CD202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5A0B8F9B-A692-48C3-9A14-D571B97F4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3BD17D5E-4809-46C0-B4DB-88118357CD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46101853-17AA-4291-85B4-62EEA5463F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97625980-F76A-4AA2-8063-11803D0EF3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B7761256-69B0-46D0-AEE3-11455D4FB6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3FC50947-1474-4D31-B2F1-98A87EB376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7E89CF5-2BDC-4541-9BC2-ECE3DF47D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A8D3D13-AFB0-4117-AE4D-9C3796D1D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9EF5355F-9563-46F1-9F61-CA1C258616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D59B864-4D24-4FA7-B099-83F1A20FBC5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85B709C-4FEA-4553-9A60-D543090F11C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9AB3337-3690-4F00-B6C2-427418130C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44F21609-F6A3-4000-B182-D14829FD1C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93F1B0D-B996-443A-A2D7-EB3D707833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60EB7C62-E830-42AD-B4B5-4A81BD409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B4404772-08D4-4677-B4DD-EDDFA2F742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05BC7421-6A9A-4840-8F00-AE5A4D4722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09DD693D-62F0-4E5E-80A1-06DABF74DB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A4867DBF-3929-49D0-A8BB-DEAB8F569D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E42E10F2-B879-439A-ABB2-848DA666B4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AAB1BE9-D871-49FE-B055-1D9D8C69D3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B292B846-030E-4BCE-8382-0FE9DBABB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D7123C26-6163-4604-995E-0D221DF7BD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+mn-lt"/>
                <a:ea typeface="+mn-lt"/>
                <a:cs typeface="+mn-lt"/>
              </a:defRPr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A88E0DB7-5CE7-4023-BB69-861BE19341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3438AAC0-ACA8-4B97-8172-03EEDCCA97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770F84B-EC3A-41D1-B6BB-8142C4144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B2A62BFF-6BB5-4C34-B384-463ACBC608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A6D38B0C-7BE6-42B6-94D0-478805B28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A53A3955-B375-4B85-92FF-3282AC2F3A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E4C03F01-B3AF-4BE7-B83F-7F1EB5899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9EF75406-B608-44C0-BC33-EC340CEEE0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2FD48BD4-77F9-4625-85E4-7708CC5405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7044EECC-5665-40F7-9DF3-800BDDE493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23717F0E-8174-47F6-B2DA-D8761176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56816073-0A4C-4204-B71A-177E88F18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58B92095-DE50-49AC-B4DF-13B2A6B02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7E08B2ED-734E-47A2-9CD8-BC6A238E6A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5F20D69C-768F-4705-8CAC-527809ECCA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8B68E01F-8CB0-4AED-8D36-6622AAAC3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00A961E8-37C8-4B59-BAE7-C2FD827D14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3DE1B90A-3BB0-4377-8B9B-47C6B6D4DF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D44CEE99-198A-4F95-9552-B1D3D1377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CBF4DAD3-A6B6-4639-9C63-3BE21DB414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BB0EEDC-7DC8-4926-B298-D1E024E4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4F6F422E-517D-45A4-AAB9-13AB1560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pic>
        <p:nvPicPr>
          <p:cNvPr id="28" name="图片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6f4f32e2cd4c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0633" y="0"/>
            <a:ext cx="4971367" cy="4971368"/>
          </a:xfrm>
        </p:spPr>
      </p:pic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FCCB230D-92EC-47C0-9843-A52A8EFF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26266" y="0"/>
            <a:ext cx="5765734" cy="5776914"/>
          </a:xfrm>
          <a:custGeom xmlns:a="http://schemas.openxmlformats.org/drawingml/2006/main"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199175AB-B339-4BCC-A712-60FC69B2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0846" y="0"/>
            <a:ext cx="2041154" cy="2041154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99BD37A8-2EE8-4968-8233-A31B8A9C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2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F7A1096B-8A94-4A41-A149-3162C9C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D808173C-881A-44BB-930E-91A7F32C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863874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D407DD20-4919-483D-938A-BDF7C91B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20961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5E5DA901-669B-4D9E-B1DC-E9A56F95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78048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384088-552B-4A1B-8EFD-DDF3225C2C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7581" y="1615544"/>
            <a:ext cx="5646700" cy="208634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315243E-889D-44E6-BEF2-ECC0D524736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7581" y="3845884"/>
            <a:ext cx="5646700" cy="972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4E146F-500D-4781-A548-C5735F82F9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D8BF12-01D7-411E-BEB0-8B45EA0284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4BD48C-5999-4AEF-9699-56CC1D88A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公司名占位符 6">
            <a:extLst xmlns:a="http://schemas.openxmlformats.org/drawingml/2006/main">
              <a:ext uri="{FF2B5EF4-FFF2-40B4-BE49-F238E27FC236}">
                <a16:creationId xmlns:a16="http://schemas.microsoft.com/office/drawing/2014/main" id="{8408C142-3076-4AFF-8371-86F9B1E98BF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365140" y="6787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公司名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25DA50FC-7F71-4754-8946-00648AEF617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67581" y="5254864"/>
            <a:ext cx="2880000" cy="50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1BD5A1-089E-4F86-B72F-B3DC5CFF2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59FE7C4-8BFC-4A70-8F87-E48811C8D2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68B87E-DA3F-469C-8E41-E14703F7DB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330A59A-7DDF-4251-A516-4153C54B83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E4587B-0284-4BA5-B15A-C3F68ECD75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1D516B-BC50-483D-92D9-726B84E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2">
                  <a:lumMod val="90000"/>
                </a:schemeClr>
              </a:gs>
              <a:gs pos="100000">
                <a:schemeClr val="bg2"/>
              </a:gs>
            </a:gsLst>
            <a:lin ang="135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DB664DD-93FA-4798-A1D5-0EC2D5AF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483599" y="0"/>
            <a:ext cx="3708400" cy="1118044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5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D4E45CE5-A332-4ABA-A13A-4D9B04CC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1652" y="739775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F4F5E2BB-1739-4541-B28A-B318E37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E94AFD18-674F-4BF6-9721-1B56C7E9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598" y="802733"/>
            <a:ext cx="482602" cy="482602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B8B818-E7BA-4F7D-BBDA-B9C1818916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55687" y="503490"/>
            <a:ext cx="1687513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>
              <a:buNone/>
              <a:defRPr sz="5400"/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42EF7D-02B1-40D4-9A36-25ACF5C3C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52D932-DA06-4940-A710-0F55F7C943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B8E4A9F-F83F-413A-80B6-BB4AF60C0D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F886A8A-C2D2-450D-9149-2F6EFD1C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19078361-0631-48CD-B53F-732DEDF6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3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C846CE2D-B81B-4FC8-B6CC-6CDB3AF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B378F8F5-B414-4E33-A52D-0C65747C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15314" y="0"/>
            <a:ext cx="5776686" cy="5776686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A40F74DA-2719-43BE-972C-7B3C6C0A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194298"/>
            <a:ext cx="1663700" cy="1663702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125386-5C59-4F98-BAEE-DBDA91C95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6400" y="3625730"/>
            <a:ext cx="5903100" cy="1790041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l">
              <a:buNone/>
              <a:defRPr sz="5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FD74D8D2-DC04-4798-A753-70B5F210A57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524000" y="1859048"/>
            <a:ext cx="5903100" cy="1663702"/>
          </a:xfrm>
        </p:spPr>
        <p:txBody>
          <a:bodyPr xmlns:a="http://schemas.openxmlformats.org/drawingml/2006/main" wrap="none" anchor="b">
            <a:normAutofit/>
          </a:bodyPr>
          <a:lstStyle xmlns:a="http://schemas.openxmlformats.org/drawingml/2006/main">
            <a:lvl1pPr marL="0" indent="0" algn="l">
              <a:buNone/>
              <a:defRPr sz="72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节编号</a:t>
            </a:r>
            <a:endParaRPr/>
          </a:p>
        </p:txBody>
      </p:sp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E1B700C-6246-4B45-879F-892F033C62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9AA82B-812C-4F5B-A909-EDE07193FA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51D75BF-4ADB-4B4A-A70A-0FEF8C2C73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73E4F3A-BB23-4B2D-8CE2-47C7CC157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3BF133-76CA-4AB4-BB83-4C67120D08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D91C4F9-C50F-49EB-BE95-0FE300A551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312489C-6BC5-407C-96B4-0206380D85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0E40CFF-4B33-489C-94B2-2B02691C4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B4FCAB-46F5-4CA8-BAFD-8AD6E31498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A3537A-EB7B-4A38-A75F-132072229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0000"/>
            <a:ext cx="10515600" cy="864000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B4ED4F9-5076-482E-B68E-CA445E1AB59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A09037A-F202-46E0-BCCC-BA4A6576236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77BCB31-F1D8-40D0-98DD-4C48EFB37418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3A820D1-21C2-43C6-9775-1FC4D957E2F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42D6444-8452-4F47-A857-68E8686EDD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789EE2C-F351-4210-8178-DA5020B28F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9FDA195-0433-410F-9542-6DCFEA702F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F9C760-4E30-47D5-9C20-8412A9F96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5AFECDD-6781-4EC8-80C2-D078F38C21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611D521-D44D-40D2-B6F2-DF07D4333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6ECC95A-9C0B-48D4-8CA8-98E7C4C2A6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A5C19CF-6CC4-4DFE-908A-9A3505288F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9394945-12CB-4582-A3A9-737F6ED77B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929B2BF-65A3-4FA8-ADF4-BB974BEAF4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8284ADCB-F767-4D8E-BCDC-66F9D6C014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3EDF581-989E-469C-B1B3-FC9BBE224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7465E21-EE6D-4899-93E5-70FF33C128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B8C7575-0F2D-4028-8F0D-CD5BF6C720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7ACD41-ECC8-4966-BE0B-B9E144452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0000"/>
            <a:ext cx="10515600" cy="864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243AD26-00A8-4512-8EAA-1B8E58FDBF8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08F954-8030-4A38-9825-008409EC52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A1BE61-9669-4BDF-BE54-A56888DB71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749AB61-5CE7-4B07-8D55-B941F54AF9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B7AEAE9-EB80-4AB5-82CE-924F6B28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8FA43D6D-EBEA-4E1C-9BAE-758BE57F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2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F39B21C8-28D1-4D0A-98C6-9039249E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1FF1E472-222F-4838-B961-C0B4A395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12DE5DCF-A791-4551-A265-C92409D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863874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D374BF9F-DD68-400C-AA6C-40D6C9F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20961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CAE337D7-0468-4311-9EED-0DC37D29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78048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84525CE6-0AAE-4808-890A-CBF30D3C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0845" y="0"/>
            <a:ext cx="2041155" cy="2041155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pic>
        <p:nvPicPr>
          <p:cNvPr id="34" name="图片 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f58cae079642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0633" y="2"/>
            <a:ext cx="4971367" cy="4971368"/>
          </a:xfrm>
        </p:spPr>
      </p:pic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5E6D4102-A54C-4121-84B5-2341A228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26267" y="0"/>
            <a:ext cx="5765733" cy="5776914"/>
          </a:xfrm>
          <a:custGeom xmlns:a="http://schemas.openxmlformats.org/drawingml/2006/main"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F28C3E-017B-4CD4-9144-A92A492BB4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7581" y="1438875"/>
            <a:ext cx="5841220" cy="209035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610BE46-3BFF-4C75-8A92-9D0DE92E94E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7581" y="3673225"/>
            <a:ext cx="5841220" cy="972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2CC5E2-FCE3-417A-82A4-3CF7A9E02C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512938-E5FA-4701-9590-1E0EF14F87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5F6D7BD-4B7B-40D3-BB68-97A23B9173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公司名占位符 6">
            <a:extLst xmlns:a="http://schemas.openxmlformats.org/drawingml/2006/main">
              <a:ext uri="{FF2B5EF4-FFF2-40B4-BE49-F238E27FC236}">
                <a16:creationId xmlns:a16="http://schemas.microsoft.com/office/drawing/2014/main" id="{CF5B32E0-E70F-40F0-B034-65C7265E97B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46737" y="6660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公司名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EF6C8656-539A-4E25-B0D8-294D85F9E32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67581" y="5258398"/>
            <a:ext cx="2880000" cy="50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02b378fbd045d5" /><Relationship Type="http://schemas.openxmlformats.org/officeDocument/2006/relationships/slideLayout" Target="/ppt/slideLayouts/slideLayout1.xml" Id="Rfcb7f7ee906e42b9" /><Relationship Type="http://schemas.openxmlformats.org/officeDocument/2006/relationships/slideLayout" Target="/ppt/slideLayouts/slideLayout2.xml" Id="R95819ca0a92a4c70" /><Relationship Type="http://schemas.openxmlformats.org/officeDocument/2006/relationships/slideLayout" Target="/ppt/slideLayouts/slideLayout3.xml" Id="R4a32886c8a914e54" /><Relationship Type="http://schemas.openxmlformats.org/officeDocument/2006/relationships/slideLayout" Target="/ppt/slideLayouts/slideLayout4.xml" Id="R5d438cf198d94fa6" /><Relationship Type="http://schemas.openxmlformats.org/officeDocument/2006/relationships/slideLayout" Target="/ppt/slideLayouts/slideLayout5.xml" Id="R5a369de15e954c14" /><Relationship Type="http://schemas.openxmlformats.org/officeDocument/2006/relationships/slideLayout" Target="/ppt/slideLayouts/slideLayout6.xml" Id="R9718495f0774416f" /><Relationship Type="http://schemas.openxmlformats.org/officeDocument/2006/relationships/slideLayout" Target="/ppt/slideLayouts/slideLayout7.xml" Id="R78231f0d0309475f" /><Relationship Type="http://schemas.openxmlformats.org/officeDocument/2006/relationships/slideLayout" Target="/ppt/slideLayouts/slideLayout8.xml" Id="Rf667eac57d4d4d17" /><Relationship Type="http://schemas.openxmlformats.org/officeDocument/2006/relationships/slideLayout" Target="/ppt/slideLayouts/slideLayout9.xml" Id="Ra866a176de5d46cb" /><Relationship Type="http://schemas.openxmlformats.org/officeDocument/2006/relationships/slideLayout" Target="/ppt/slideLayouts/slideLayout10.xml" Id="Re2351a5022724471" /><Relationship Type="http://schemas.openxmlformats.org/officeDocument/2006/relationships/slideLayout" Target="/ppt/slideLayouts/slideLayout11.xml" Id="Rdc0a3c9bc076449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a5008f3d95e4f4c" /><Relationship Type="http://schemas.openxmlformats.org/officeDocument/2006/relationships/slideLayout" Target="/ppt/slideLayouts/slideLayout12.xml" Id="R681808a66126409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1838ca5b15f418a" /><Relationship Type="http://schemas.openxmlformats.org/officeDocument/2006/relationships/slideLayout" Target="/ppt/slideLayouts/slideLayout13.xml" Id="R8867b79f469848ac" /><Relationship Type="http://schemas.openxmlformats.org/officeDocument/2006/relationships/slideLayout" Target="/ppt/slideLayouts/slideLayout14.xml" Id="Re9a6cf493c1a4d37" /><Relationship Type="http://schemas.openxmlformats.org/officeDocument/2006/relationships/slideLayout" Target="/ppt/slideLayouts/slideLayout15.xml" Id="R24cf40d9c50d49e7" /><Relationship Type="http://schemas.openxmlformats.org/officeDocument/2006/relationships/slideLayout" Target="/ppt/slideLayouts/slideLayout16.xml" Id="Rc2e27726a62443b7" /><Relationship Type="http://schemas.openxmlformats.org/officeDocument/2006/relationships/slideLayout" Target="/ppt/slideLayouts/slideLayout17.xml" Id="Rc90c70cb09404ff7" /><Relationship Type="http://schemas.openxmlformats.org/officeDocument/2006/relationships/slideLayout" Target="/ppt/slideLayouts/slideLayout18.xml" Id="Rf87f2a47b82a402d" /><Relationship Type="http://schemas.openxmlformats.org/officeDocument/2006/relationships/slideLayout" Target="/ppt/slideLayouts/slideLayout19.xml" Id="R04bb09875aec44e7" /><Relationship Type="http://schemas.openxmlformats.org/officeDocument/2006/relationships/slideLayout" Target="/ppt/slideLayouts/slideLayout20.xml" Id="R17a656041df249ec" /><Relationship Type="http://schemas.openxmlformats.org/officeDocument/2006/relationships/slideLayout" Target="/ppt/slideLayouts/slideLayout21.xml" Id="R62490eab5eba4854" /><Relationship Type="http://schemas.openxmlformats.org/officeDocument/2006/relationships/slideLayout" Target="/ppt/slideLayouts/slideLayout22.xml" Id="Raab009957ad84a52" /><Relationship Type="http://schemas.openxmlformats.org/officeDocument/2006/relationships/slideLayout" Target="/ppt/slideLayouts/slideLayout23.xml" Id="R13f82717e365421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81D87C15-891F-4153-A936-0C4915FBF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00C6A80-01C1-4572-871D-7C3D72B438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9787E35-8B84-45D1-9498-0FDADE51F6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4B88E822-CC3A-4441-A010-1C31961A44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0249CBB7-3A0B-402B-94DE-47DD35B2F2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7f7ee906e42b9"/>
    <p:sldLayoutId xmlns:r="http://schemas.openxmlformats.org/officeDocument/2006/relationships" id="2147483650" r:id="R95819ca0a92a4c70"/>
    <p:sldLayoutId xmlns:r="http://schemas.openxmlformats.org/officeDocument/2006/relationships" id="2147483651" r:id="R4a32886c8a914e54"/>
    <p:sldLayoutId xmlns:r="http://schemas.openxmlformats.org/officeDocument/2006/relationships" id="2147483652" r:id="R5d438cf198d94fa6"/>
    <p:sldLayoutId xmlns:r="http://schemas.openxmlformats.org/officeDocument/2006/relationships" id="2147483653" r:id="R5a369de15e954c14"/>
    <p:sldLayoutId xmlns:r="http://schemas.openxmlformats.org/officeDocument/2006/relationships" id="2147483654" r:id="R9718495f0774416f"/>
    <p:sldLayoutId xmlns:r="http://schemas.openxmlformats.org/officeDocument/2006/relationships" id="2147483655" r:id="R78231f0d0309475f"/>
    <p:sldLayoutId xmlns:r="http://schemas.openxmlformats.org/officeDocument/2006/relationships" id="2147483656" r:id="Rf667eac57d4d4d17"/>
    <p:sldLayoutId xmlns:r="http://schemas.openxmlformats.org/officeDocument/2006/relationships" id="2147483657" r:id="Ra866a176de5d46cb"/>
    <p:sldLayoutId xmlns:r="http://schemas.openxmlformats.org/officeDocument/2006/relationships" id="2147483658" r:id="Re2351a5022724471"/>
    <p:sldLayoutId xmlns:r="http://schemas.openxmlformats.org/officeDocument/2006/relationships" id="2147483659" r:id="Rdc0a3c9bc076449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81808a66126409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464A41-C1C2-4D8F-AF74-CE65BF2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5BB76274-1E17-41BC-AFC7-374CB665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050" y="6104029"/>
            <a:ext cx="1250950" cy="753971"/>
          </a:xfrm>
          <a:custGeom xmlns:a="http://schemas.openxmlformats.org/drawingml/2006/main">
            <a:gdLst>
              <a:gd name="connsiteX0" fmla="*/ 1250950 w 1250950"/>
              <a:gd name="connsiteY0" fmla="*/ 0 h 753971"/>
              <a:gd name="connsiteX1" fmla="*/ 1250950 w 1250950"/>
              <a:gd name="connsiteY1" fmla="*/ 753971 h 753971"/>
              <a:gd name="connsiteX2" fmla="*/ 0 w 1250950"/>
              <a:gd name="connsiteY2" fmla="*/ 753971 h 753971"/>
              <a:gd name="connsiteX3" fmla="*/ 4704 w 1250950"/>
              <a:gd name="connsiteY3" fmla="*/ 744208 h 753971"/>
              <a:gd name="connsiteX4" fmla="*/ 1056691 w 1250950"/>
              <a:gd name="connsiteY4" fmla="*/ 13476 h 753971"/>
            </a:gdLst>
            <a:rect l="l" t="t" r="r" b="b"/>
            <a:pathLst>
              <a:path w="1250950" h="753971">
                <a:moveTo>
                  <a:pt x="1250950" y="0"/>
                </a:moveTo>
                <a:lnTo>
                  <a:pt x="1250950" y="753971"/>
                </a:lnTo>
                <a:lnTo>
                  <a:pt x="0" y="753971"/>
                </a:lnTo>
                <a:lnTo>
                  <a:pt x="4704" y="744208"/>
                </a:lnTo>
                <a:cubicBezTo>
                  <a:pt x="215501" y="356165"/>
                  <a:pt x="601588" y="77164"/>
                  <a:pt x="1056691" y="134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6535B01B-D972-4662-BE71-A6AAB91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050" y="6350351"/>
            <a:ext cx="1034820" cy="261325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45EAE12-A2A7-4A13-A55F-5E5FF920F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E7D3DC3-FD84-4AAA-B26E-8111354DB2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325DD7A-607D-4A8E-9123-850DBAE7BCA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F42C7BE-F2E9-48DF-BFBD-57C59D0F50F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69011B-7D67-4B86-8D8D-704DD52FD4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F2B078E6-2273-4E2E-9F5B-973B3704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8867b79f469848ac"/>
    <p:sldLayoutId xmlns:r="http://schemas.openxmlformats.org/officeDocument/2006/relationships" id="2147483664" r:id="Re9a6cf493c1a4d37"/>
    <p:sldLayoutId xmlns:r="http://schemas.openxmlformats.org/officeDocument/2006/relationships" id="2147483665" r:id="R24cf40d9c50d49e7"/>
    <p:sldLayoutId xmlns:r="http://schemas.openxmlformats.org/officeDocument/2006/relationships" id="2147483666" r:id="Rc2e27726a62443b7"/>
    <p:sldLayoutId xmlns:r="http://schemas.openxmlformats.org/officeDocument/2006/relationships" id="2147483667" r:id="Rc90c70cb09404ff7"/>
    <p:sldLayoutId xmlns:r="http://schemas.openxmlformats.org/officeDocument/2006/relationships" id="2147483668" r:id="Rf87f2a47b82a402d"/>
    <p:sldLayoutId xmlns:r="http://schemas.openxmlformats.org/officeDocument/2006/relationships" id="2147483669" r:id="R04bb09875aec44e7"/>
    <p:sldLayoutId xmlns:r="http://schemas.openxmlformats.org/officeDocument/2006/relationships" id="2147483670" r:id="R17a656041df249ec"/>
    <p:sldLayoutId xmlns:r="http://schemas.openxmlformats.org/officeDocument/2006/relationships" id="2147483671" r:id="R62490eab5eba4854"/>
    <p:sldLayoutId xmlns:r="http://schemas.openxmlformats.org/officeDocument/2006/relationships" id="2147483672" r:id="Raab009957ad84a52"/>
    <p:sldLayoutId xmlns:r="http://schemas.openxmlformats.org/officeDocument/2006/relationships" id="2147483673" r:id="R13f82717e3654219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00000419-1">
      <a:dk1>
        <a:srgbClr val="333333"/>
      </a:dk1>
      <a:lt1>
        <a:srgbClr val="FFFFFF"/>
      </a:lt1>
      <a:dk2>
        <a:srgbClr val="102544"/>
      </a:dk2>
      <a:lt2>
        <a:srgbClr val="EFF4FB"/>
      </a:lt2>
      <a:accent1>
        <a:srgbClr val="749FDE"/>
      </a:accent1>
      <a:accent2>
        <a:srgbClr val="2E69C0"/>
      </a:accent2>
      <a:accent3>
        <a:srgbClr val="7486DE"/>
      </a:accent3>
      <a:accent4>
        <a:srgbClr val="7C74DE"/>
      </a:accent4>
      <a:accent5>
        <a:srgbClr val="9574DE"/>
      </a:accent5>
      <a:accent6>
        <a:srgbClr val="AE74DE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00000419-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35f74bc5265246b9" /><Relationship Type="http://schemas.openxmlformats.org/officeDocument/2006/relationships/notesSlide" Target="/ppt/notesSlides/notesSlide1.xml" Id="R69e97f481ffd41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c52f667aef84061" /><Relationship Type="http://schemas.openxmlformats.org/officeDocument/2006/relationships/notesSlide" Target="/ppt/notesSlides/notesSlide2.xml" Id="Rc0177f3fea4e46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e8d15a84f56a47a9" /><Relationship Type="http://schemas.openxmlformats.org/officeDocument/2006/relationships/notesSlide" Target="/ppt/notesSlides/notesSlide3.xml" Id="R9107ee0974f044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a4e2ea44eb14ee5" /><Relationship Type="http://schemas.openxmlformats.org/officeDocument/2006/relationships/chart" Target="/ppt/slides/charts/chart1.xml" Id="Rd4738106182f454e" /><Relationship Type="http://schemas.openxmlformats.org/officeDocument/2006/relationships/notesSlide" Target="/ppt/notesSlides/notesSlide4.xml" Id="R684e8e5a9ba641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960eb9874e68428f" /><Relationship Type="http://schemas.openxmlformats.org/officeDocument/2006/relationships/notesSlide" Target="/ppt/notesSlides/notesSlide5.xml" Id="R721596ec67f34c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6cd5c7d7bd54947" /><Relationship Type="http://schemas.openxmlformats.org/officeDocument/2006/relationships/chart" Target="/ppt/slides/charts/chart2.xml" Id="Ra38ca27fe8c64e96" /><Relationship Type="http://schemas.openxmlformats.org/officeDocument/2006/relationships/chart" Target="/ppt/slides/charts/chart3.xml" Id="R97f15c4054724b5c" /><Relationship Type="http://schemas.openxmlformats.org/officeDocument/2006/relationships/notesSlide" Target="/ppt/notesSlides/notesSlide6.xml" Id="R90b0c1a06ea04d7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处方量</c:v>
          </c:tx>
          <c:spPr>
            <a:solidFill xmlns:a="http://schemas.openxmlformats.org/drawingml/2006/main">
              <a:srgbClr val="2F6BCA"/>
            </a:solidFill>
          </c:spPr>
          <c:cat>
            <c:strRef>
              <c:f>'Chart Data'!$A$2:$A$4</c:f>
              <c:strCache>
                <c:ptCount val="3"/>
                <c:pt idx="0">
                  <c:v>起始</c:v>
                </c:pt>
                <c:pt idx="1">
                  <c:v>3个月</c:v>
                </c:pt>
                <c:pt idx="2">
                  <c:v>6个月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</c:v>
                </c:pt>
                <c:pt idx="1">
                  <c:v>20</c:v>
                </c:pt>
                <c:pt idx="2">
                  <c:v>150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8E7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达成率</c:v>
          </c:tx>
          <c:spPr>
            <a:ln xmlns:a="http://schemas.openxmlformats.org/drawingml/2006/main" w="28575">
              <a:solidFill>
                <a:srgbClr val="2F6BCA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F6BCA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'Chart Data'!$B$2:$B$10</c:f>
              <c:numCache>
                <c:formatCode>0%</c:formatCode>
                <c:ptCount val="9"/>
                <c:pt idx="0">
                  <c:v>1.99186991869919</c:v>
                </c:pt>
                <c:pt idx="1">
                  <c:v>1.40243902439024</c:v>
                </c:pt>
                <c:pt idx="2">
                  <c:v>1.1096256684492</c:v>
                </c:pt>
                <c:pt idx="3">
                  <c:v>1.05325795894079</c:v>
                </c:pt>
                <c:pt idx="4">
                  <c:v>1.15850302696753</c:v>
                </c:pt>
                <c:pt idx="5">
                  <c:v>1.000231000231</c:v>
                </c:pt>
                <c:pt idx="6">
                  <c:v>0.714285714285714</c:v>
                </c:pt>
                <c:pt idx="7">
                  <c:v>1.14864864864865</c:v>
                </c:pt>
                <c:pt idx="8">
                  <c:v>0.520833333333333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2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8E7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指标</c:v>
          </c:tx>
          <c:spPr>
            <a:solidFill xmlns:a="http://schemas.openxmlformats.org/drawingml/2006/main">
              <a:srgbClr val="9CB7E5"/>
            </a:solidFill>
          </c:spPr>
          <c:cat>
            <c:strRef>
              <c:f>'Chart Data'!$A$2:$A$10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49.2</c:v>
                </c:pt>
                <c:pt idx="1">
                  <c:v>196.8</c:v>
                </c:pt>
                <c:pt idx="2">
                  <c:v>299.2</c:v>
                </c:pt>
                <c:pt idx="3">
                  <c:v>336.1</c:v>
                </c:pt>
                <c:pt idx="4">
                  <c:v>363.4</c:v>
                </c:pt>
                <c:pt idx="5">
                  <c:v>432.9</c:v>
                </c:pt>
                <c:pt idx="6">
                  <c:v>450.8</c:v>
                </c:pt>
                <c:pt idx="7">
                  <c:v>370</c:v>
                </c:pt>
                <c:pt idx="8">
                  <c:v>480</c:v>
                </c:pt>
              </c:numCache>
            </c:numRef>
          </c:val>
        </c:ser>
        <c:ser>
          <c:idx val="1"/>
          <c:order val="1"/>
          <c:tx>
            <c:v>销售</c:v>
          </c:tx>
          <c:spPr>
            <a:solidFill xmlns:a="http://schemas.openxmlformats.org/drawingml/2006/main">
              <a:srgbClr val="2F6BCA"/>
            </a:solidFill>
          </c:spPr>
          <c:cat>
            <c:strRef>
              <c:f>'Chart Data'!$C$2:$C$10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98</c:v>
                </c:pt>
                <c:pt idx="1">
                  <c:v>276</c:v>
                </c:pt>
                <c:pt idx="2">
                  <c:v>332</c:v>
                </c:pt>
                <c:pt idx="3">
                  <c:v>354</c:v>
                </c:pt>
                <c:pt idx="4">
                  <c:v>421</c:v>
                </c:pt>
                <c:pt idx="5">
                  <c:v>433</c:v>
                </c:pt>
                <c:pt idx="6">
                  <c:v>322</c:v>
                </c:pt>
                <c:pt idx="7">
                  <c:v>425</c:v>
                </c:pt>
                <c:pt idx="8">
                  <c:v>250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53657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8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3657A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8E7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42A40-7D08-459F-AADB-39627B9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62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rPr>
              <a:t>区域市场汇报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57BB2-A33C-4E10-A3BC-18F3635E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7A0B7-D472-417D-AC6F-50A599C8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重点突击，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全面开花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DC64E-5CE2-41E3-B9E1-2BDCCC2A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西京医院突破案例与区域市场进展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F9583-D18F-4455-AFDD-E1C04C2B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5F3AC-893E-4369-BB62-5E47F6F4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汇报人：郑阳阳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DM：北京-赵国兴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RM：北京-李萍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542A4-0F51-40E5-8601-8D5DA2E3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28448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FE786-B3F0-4F9B-BE66-62A896B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01 背景与痛点｜西京医院进入壁垒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EDB5-9604-43C5-975A-134D86AA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02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852A0-81F0-45A8-AB93-1A43371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56039-DD5C-49DA-B81F-4578578B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B2249-80BE-45F4-9F3B-56B8EB7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制度、认知与替代方案共同构成进入壁垒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96C5-B114-4E70-8A02-C1D47905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目标客户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CEAF9-4095-4A10-8B46-CE2E16C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西京医院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5D09E-C9E3-4CAC-B8F1-3F02294C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专家：王*春教授（主任医师，西京毛发门诊专家）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竞品：托法 / 巴瑞院内准入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月门诊量：1,000 人次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核心特征：部队医院、军事化管理，不处方院外产品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8FA1C-4944-4223-9617-BF650DF1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621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76FB5-E26A-4DEC-A756-99215EEC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43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三重进入壁垒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F48C9-BE17-44FB-8B85-880398D4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57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7AE0B-0F3D-4CC4-B94C-82A0343D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76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770B0-3BF1-491F-A18B-87759682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制度壁垒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9B640-3691-483D-BEEF-6C74508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医院管理严格，医生以院内用药为主，不处方院外产品。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EEEC6-EEE8-4AA9-96DB-7E53A93B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3B526-9D22-4E21-A87A-32D6EFC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0CD9E-789E-422C-9801-6376544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认知壁垒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766D9-A3B5-4108-855E-C39BA564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医生对乐复诺暂无使用经验，难以形成认可。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D232B-2230-475D-A584-C074A9F5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A2A0A-A718-46E5-9748-984154C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33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CAE38-CBB5-4E3B-A39E-CD68C32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替代方案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552F1-7F35-46F3-BC7C-CAEF73E4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现有方案已能满足疗效与费用需求，医生不愿承担额外风险。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FC132C-99C3-41D8-9913-CC4F4AAD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70D0A-1011-4C11-A8D7-2C65A546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43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rPr>
              <a:t>医生原话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CA15C-9CAD-44AC-89F4-B4EF42DA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686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“现有疗法效果挺好，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费用还便宜还在院内，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我为什么要冒险给病人用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一个院外的新药？”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1281E-77F8-4A15-90F8-1D25B4E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F4F9A"/>
          </a:solidFill>
          <a:ln xmlns:a="http://schemas.openxmlformats.org/drawingml/2006/main" w="9525">
            <a:solidFill>
              <a:srgbClr val="1F4F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C5ADF-56A0-4545-8048-AF8CBF84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07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CFE1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CFE1F6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F2925-39AD-4175-8813-852BB0D0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零准入  ·  零使用  ·  零认知</a:t>
            </a:r>
          </a:p>
        </p:txBody>
      </p:sp>
    </p:spTree>
    <p:extLst>
      <p:ext uri="{BB962C8B-B14F-4D97-AF65-F5344CB8AC3E}">
        <p14:creationId xmlns:p14="http://schemas.microsoft.com/office/powerpoint/2010/main" val="587624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6EE473-7E3A-4DDC-BBF0-65C35E2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02 四步破局法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C7BCB-4BC8-4F27-B9F1-EEF7313F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03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46CDE-9F8F-45A6-928F-2FB6111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159EC-8342-4B7D-874D-34E041D9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755F0-4815-49E6-AFF1-CF112A65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从需求识别到观念升级，逐步降低进入风险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C50BB-9D0D-400E-995F-8A473234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52650"/>
            <a:ext cx="785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F9980-6923-4BC8-8CB0-E32B1847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0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0C86F-14A9-4D8A-A602-BD3EE730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18AD8-FDE9-4713-ABF2-011B99CB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需求洞察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95B6D-D570-43C8-B26B-5AB3EFB2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55E3E-CFB6-4E97-811A-1FB7B4E9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识别客户对安全与无风险的深层诉求，以乐复诺唯一的青少年适应症切入。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6F8F7-82C4-4220-BF8B-EAE57D93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53F07-8F7C-41A8-AB1A-A65EEED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0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B422C-2E36-4F1F-BA32-50DC521A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09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D94C7-DB81-44E3-B658-2505496F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精准切入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AB7DF-C2A2-422F-A5DA-0B025FFF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62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56864-DFA7-4940-AE4B-F7AE1898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29000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锁定青少年患者与竞品应答不佳患者，用一句话术打开对话。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90028-C3D2-4F2E-B350-6F8D43E9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241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1D9D3-6DD2-48E6-A4F8-FE461AE9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D7D99-9B7F-4865-B344-3509749E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9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D96A8-5CC4-4653-A8E8-2856F76D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建立信任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0BAF2-12DF-42CF-A1A4-C1B1F76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A9663-9473-4016-B043-918BD0A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29000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共同管理患者，及时回顾疗效，用真实成功案例改变医生判断。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0E429-5C1F-42E5-9441-8095E87E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09357-422C-4A6B-A464-5524EB42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90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A638A-95A3-4125-BB1D-74FAD73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09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04FDD4-0579-457A-A0CB-21F8A8A4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观念升级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78C1D9-85F3-467B-90C4-283B56E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623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50C18-7FA7-4570-81BC-966D8FCE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29000"/>
            <a:ext cx="1981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将青少年应用场景扩展至更广泛的斑秃患者，推动首选方案与长期处方。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52145-EC83-4D67-84E9-180E38D5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EAF2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6001E-5006-40A4-A672-CD4A96FF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破局逻辑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EE27A8-152A-48F4-9870-69E0D2A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864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先解决风险顾虑，再用病例推动处方习惯升级。</a:t>
            </a:r>
          </a:p>
        </p:txBody>
      </p:sp>
    </p:spTree>
    <p:extLst>
      <p:ext uri="{BB962C8B-B14F-4D97-AF65-F5344CB8AC3E}">
        <p14:creationId xmlns:p14="http://schemas.microsoft.com/office/powerpoint/2010/main" val="808938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93F6D-6A0C-42C1-88A5-4C4D535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03 结果｜从破冰到引领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9EF4F-0BDF-482D-8C43-BD03F54B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04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4FB68-8D27-4A2E-948C-D5040040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E9FC5-BDA2-478D-A8CF-7E16A889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1850F-D149-4734-B4A2-E29DEFD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月均处方量增长，医生观念与处方周期同步升级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752B9-ABEC-40DC-81C7-4CA35B8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月均处方量（盒）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2857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738106182f454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CB651-1A3A-4252-91C7-CC812D7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371600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000500" y="1371600"/>
          <a:ext xmlns:a="http://schemas.openxmlformats.org/drawingml/2006/main" cx="5219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9900"/>
                <a:gridCol w="1739900"/>
                <a:gridCol w="1739900"/>
              </a:tblGrid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观念维度</a:t>
                      </a:r>
                    </a:p>
                  </a:txBody>
                  <a:tcPr marL="91440" marR="91440" marT="45720" marB="45720" anchor="ctr">
                    <a:solidFill>
                      <a:srgbClr val="2F6BCA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起始状态</a:t>
                      </a:r>
                    </a:p>
                  </a:txBody>
                  <a:tcPr marL="91440" marR="91440" marT="45720" marB="45720" anchor="ctr">
                    <a:solidFill>
                      <a:srgbClr val="2F6BCA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6个月后状态</a:t>
                      </a:r>
                    </a:p>
                  </a:txBody>
                  <a:tcPr marL="91440" marR="91440" marT="45720" marB="45720" anchor="ctr">
                    <a:solidFill>
                      <a:srgbClr val="2F6BCA"/>
                    </a:solidFill>
                  </a:tcPr>
                </a:tc>
              </a:tr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1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扩重度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偶尔尝试青少年患者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优势患者首选乐复诺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1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早启动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传统升阶梯治疗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认可早起始的临床获益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1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赢首选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首选巴瑞替尼，偶尔尝试青少年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优势患者首选乐复诺，并主动告知优势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1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久治疗</a:t>
                      </a:r>
                    </a:p>
                  </a:txBody>
                  <a:tcPr marL="91440" marR="91440" marT="45720" marB="45720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处方周期短（DOT 1）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rm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900" b="0">
                          <a:solidFill>
                            <a:srgbClr val="102A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认可长期方案，延长至 DOT 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1B6C1-CCB5-4918-946E-BE54E839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71600"/>
            <a:ext cx="2038350" cy="35433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EAF2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805D9-80B7-45CD-8876-86BCE107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57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可复制方法论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53E8F-7707-4178-9B27-EB5D6661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764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6A21A-9B6C-4597-A2B3-6F80351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61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1  锁定关键医生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  识别核心需求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3  找到突破类型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4  传递针对性信息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5  巩固并推动升级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30B2D-F096-425D-8D89-DED7275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6BCA"/>
          </a:solidFill>
          <a:ln xmlns:a="http://schemas.openxmlformats.org/drawingml/2006/main" w="9525">
            <a:solidFill>
              <a:srgbClr val="2F6B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B8702-ECD7-4801-8655-A9BCF21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CFE1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CFE1F6"/>
                </a:solidFill>
                <a:latin typeface="PingFang SC"/>
                <a:ea typeface="PingFang SC"/>
                <a:cs typeface="PingFang SC"/>
              </a:rPr>
              <a:t>一句话复制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D22F2-93F2-4B3A-8464-CD1CEB5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150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选对核心 KOL，洞察顾虑，用真实病例建立信任，让观念与业绩同步突破。</a:t>
            </a:r>
          </a:p>
        </p:txBody>
      </p:sp>
    </p:spTree>
    <p:extLst>
      <p:ext uri="{BB962C8B-B14F-4D97-AF65-F5344CB8AC3E}">
        <p14:creationId xmlns:p14="http://schemas.microsoft.com/office/powerpoint/2010/main" val="184863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6BF96-4941-43A1-9F69-50C52CC1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市场回顾｜西北五省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E786C-7E5F-4F53-9110-AA507A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05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71FC0-CF0A-4464-A4E2-23FC5574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577AC-4CA8-40E1-A5F9-9437C8C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088F4-ABB4-49FF-B52A-92CD2FA9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市场覆盖、处方客户与医院准入进展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4F383-1760-4223-9BA7-94CB7B74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24200" cy="3962400"/>
          </a:xfrm>
          <a:prstGeom xmlns:a="http://schemas.openxmlformats.org/drawingml/2006/main" prst="roundRect">
            <a:avLst>
              <a:gd name="adj" fmla="val 4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D5843-BB53-4015-8E61-9D95238A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D0523-D88E-4985-B82E-AFADE1B7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市场覆盖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14535-3A85-412F-927C-8C23DCF9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rPr>
              <a:t>5省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EFDE3-AEAA-4AFC-9A9E-C9F9D0ED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19 家医院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9CF1B-0910-4E42-9A6A-37496B1F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4592A-B1C6-4608-8117-A16937BC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陕西 9 家｜破冰 9 家（7 家处方）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新疆 3 家｜破冰 2 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宁夏 2 家｜破冰 1 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兰州 3 家｜破冰 2 家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青海 2 家｜破冰 1 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B39E0-697A-4251-8AD2-BE1A5EA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3124200" cy="3962400"/>
          </a:xfrm>
          <a:prstGeom xmlns:a="http://schemas.openxmlformats.org/drawingml/2006/main" prst="roundRect">
            <a:avLst>
              <a:gd name="adj" fmla="val 4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D9850-0F62-4964-885A-7DEF0A8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932C3-592B-4008-A492-CF19C38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处方客户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71508-07E6-455A-B726-76BCC5F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 i="0">
                <a:solidFill>
                  <a:srgbClr val="2E9C9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i="0">
                <a:solidFill>
                  <a:srgbClr val="2E9C9A"/>
                </a:solidFill>
                <a:latin typeface="PingFang SC"/>
                <a:ea typeface="PingFang SC"/>
                <a:cs typeface="PingFang SC"/>
              </a:rPr>
              <a:t>53位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62CF4-C39F-427B-8F2E-455235C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+7 位较去年新增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A0293-82CD-4388-B4CA-5F421CE0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C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20A93-CC4D-47E4-8681-5E1A357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超 A 客户：3 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 客户：3 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B 客户：5 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其他 C / D 客户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49D30-678F-4ADA-B9AE-B5E71948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124200" cy="3962400"/>
          </a:xfrm>
          <a:prstGeom xmlns:a="http://schemas.openxmlformats.org/drawingml/2006/main" prst="roundRect">
            <a:avLst>
              <a:gd name="adj" fmla="val 4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2D0B2-B9CD-4EB9-971B-DCDED76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571EF-592D-4049-B706-0B89CA36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F4F9A"/>
                </a:solidFill>
                <a:latin typeface="PingFang SC"/>
                <a:ea typeface="PingFang SC"/>
                <a:cs typeface="PingFang SC"/>
              </a:rPr>
              <a:t>医院准入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DE343-4C87-4154-864E-C6CFA48C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 i="0">
                <a:solidFill>
                  <a:srgbClr val="E39A22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i="0">
                <a:solidFill>
                  <a:srgbClr val="E39A22"/>
                </a:solidFill>
                <a:latin typeface="PingFang SC"/>
                <a:ea typeface="PingFang SC"/>
                <a:cs typeface="PingFang SC"/>
              </a:rPr>
              <a:t>2家正式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8ED74-A254-49D2-8D9F-394AA4BA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2024–2025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B6DB1-FB83-4993-AE65-F69662EB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BC3E6-2E0B-472C-A325-EBAADE43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2024｜延安大学咸阳医院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2025｜唐都医院（正式）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2026 目标｜西安医学院第二附属医院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（临采 2 次）</a:t>
            </a:r>
          </a:p>
        </p:txBody>
      </p:sp>
    </p:spTree>
    <p:extLst>
      <p:ext uri="{BB962C8B-B14F-4D97-AF65-F5344CB8AC3E}">
        <p14:creationId xmlns:p14="http://schemas.microsoft.com/office/powerpoint/2010/main" val="676446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40A6B-2605-476D-90C3-62BEA03A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数据分析｜达成与增长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838B9-7212-4F11-A602-73BF3388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06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31A8C-0E37-4224-8FB4-61CE159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B183E-E2A3-4218-86B2-CE5505BD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D05F5-8E12-4990-8CD5-E67E0801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季度指标、销售与达成率的变化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0EEC5-1502-4762-9850-C6CCBF31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达成率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6572250" cy="1485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8ca27fe8c64e9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81C4E-82D8-4AAE-8201-B3612A8C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指标与销售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85800" y="3314700"/>
          <a:ext xmlns:a="http://schemas.openxmlformats.org/drawingml/2006/main" cx="6572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f15c4054724b5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8F4B7-6AAD-443E-BC97-E1BA6F4A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190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9398B-1BE2-448B-9695-13031F38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71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2024 实际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8BF0C-400E-45CA-93E4-CFC3C1C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81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2F6BCA"/>
                </a:solidFill>
                <a:latin typeface="PingFang SC"/>
                <a:ea typeface="PingFang SC"/>
                <a:cs typeface="PingFang SC"/>
              </a:rPr>
              <a:t>139%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67211-33AC-4C87-9435-17A4A8C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全年增长 700%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全年初诊 200+｜DOT 6.2 / 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跑单率 11.3%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D487C-CD79-4D8A-81C0-60993C3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BF677-9316-4DDC-9D3E-D06E00B8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2025 预计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FD0B9-1CF5-4556-A6C9-95FBF71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2E9C9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2E9C9A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F3215-F846-407F-B501-D2AF63E6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较去年增长 50%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上半年初诊 200+｜DOT 4.3 / 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跑单率 45%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1B9E6-36D2-42E9-8330-FEE5C1E2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523E1-292A-47CE-B0E7-6AB17BEE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38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53657A"/>
                </a:solidFill>
                <a:latin typeface="PingFang SC"/>
                <a:ea typeface="PingFang SC"/>
                <a:cs typeface="PingFang SC"/>
              </a:rPr>
              <a:t>非核心市场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7AC10-5D62-4826-990B-7B96C7E4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 i="0">
                <a:solidFill>
                  <a:srgbClr val="E39A2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E39A22"/>
                </a:solidFill>
                <a:latin typeface="PingFang SC"/>
                <a:ea typeface="PingFang SC"/>
                <a:cs typeface="PingFang SC"/>
              </a:rPr>
              <a:t>10.7%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4EC1C-9FBD-4BCB-B218-DCBEB002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19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2025 全年销售占比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增长来自核心市场深耕、区域扩面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以及处方客户与 DOT 管理</a:t>
            </a:r>
          </a:p>
        </p:txBody>
      </p:sp>
    </p:spTree>
    <p:extLst>
      <p:ext uri="{BB962C8B-B14F-4D97-AF65-F5344CB8AC3E}">
        <p14:creationId xmlns:p14="http://schemas.microsoft.com/office/powerpoint/2010/main" val="8343867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2026-09-21T07:42:29.4830000Z</dcterms:created>
  <dcterms:modified xsi:type="dcterms:W3CDTF">2026-09-21T07:42:29.4830000Z</dcterms:modified>
</coreProperties>
</file>