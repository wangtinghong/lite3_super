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9161a30034517" /><Relationship Type="http://schemas.openxmlformats.org/officeDocument/2006/relationships/extended-properties" Target="/docProps/app.xml" Id="Re551fb92b7a74e62" /><Relationship Type="http://schemas.openxmlformats.org/officeDocument/2006/relationships/officeDocument" Target="/ppt/presentation.xml" Id="Rebb5881b57c44c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fd69355494bed"/>
  </p:sldMasterIdLst>
  <p:notesMasterIdLst>
    <p:notesMasterId xmlns:r="http://schemas.openxmlformats.org/officeDocument/2006/relationships" r:id="Reb1bf3d7152a4122"/>
  </p:notesMasterIdLst>
  <p:sldIdLst>
    <p:sldId xmlns:r="http://schemas.openxmlformats.org/officeDocument/2006/relationships" id="256" r:id="Rbbdf87395097447c"/>
    <p:sldId xmlns:r="http://schemas.openxmlformats.org/officeDocument/2006/relationships" id="257" r:id="R06736e7a48434dbe"/>
    <p:sldId xmlns:r="http://schemas.openxmlformats.org/officeDocument/2006/relationships" id="258" r:id="R7b191881d97f48cf"/>
    <p:sldId xmlns:r="http://schemas.openxmlformats.org/officeDocument/2006/relationships" id="259" r:id="Re6e83436c640441a"/>
    <p:sldId xmlns:r="http://schemas.openxmlformats.org/officeDocument/2006/relationships" id="260" r:id="Ra646ba2529fa4bb0"/>
    <p:sldId xmlns:r="http://schemas.openxmlformats.org/officeDocument/2006/relationships" id="261" r:id="R21a71de7c8d044da"/>
    <p:sldId xmlns:r="http://schemas.openxmlformats.org/officeDocument/2006/relationships" id="262" r:id="R5d3e84180f4d4cc5"/>
    <p:sldId xmlns:r="http://schemas.openxmlformats.org/officeDocument/2006/relationships" id="263" r:id="Rfa92eaa1eb274a11"/>
    <p:sldId xmlns:r="http://schemas.openxmlformats.org/officeDocument/2006/relationships" id="264" r:id="R055b58ec79964a58"/>
    <p:sldId xmlns:r="http://schemas.openxmlformats.org/officeDocument/2006/relationships" id="265" r:id="R2236f7d2a5e74a6a"/>
    <p:sldId xmlns:r="http://schemas.openxmlformats.org/officeDocument/2006/relationships" id="266" r:id="Rce37a91faf8d46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5f27266c94aeb" /><Relationship Type="http://schemas.openxmlformats.org/officeDocument/2006/relationships/slideMaster" Target="/ppt/slideMasters/slideMaster1.xml" Id="R7d9fd69355494bed" /><Relationship Type="http://schemas.openxmlformats.org/officeDocument/2006/relationships/notesMaster" Target="/ppt/notesMasters/notesMaster1.xml" Id="Reb1bf3d7152a4122" /><Relationship Type="http://schemas.openxmlformats.org/officeDocument/2006/relationships/presProps" Target="/ppt/presProps.xml" Id="Re09ab82f992e424f" /><Relationship Type="http://schemas.openxmlformats.org/officeDocument/2006/relationships/tableStyles" Target="/ppt/tableStyles.xml" Id="R0065c809b1c04e88" /><Relationship Type="http://schemas.openxmlformats.org/officeDocument/2006/relationships/slide" Target="/ppt/slides/slide1.xml" Id="Rbbdf87395097447c" /><Relationship Type="http://schemas.openxmlformats.org/officeDocument/2006/relationships/slide" Target="/ppt/slides/slide2.xml" Id="R06736e7a48434dbe" /><Relationship Type="http://schemas.openxmlformats.org/officeDocument/2006/relationships/slide" Target="/ppt/slides/slide3.xml" Id="R7b191881d97f48cf" /><Relationship Type="http://schemas.openxmlformats.org/officeDocument/2006/relationships/slide" Target="/ppt/slides/slide4.xml" Id="Re6e83436c640441a" /><Relationship Type="http://schemas.openxmlformats.org/officeDocument/2006/relationships/slide" Target="/ppt/slides/slide5.xml" Id="Ra646ba2529fa4bb0" /><Relationship Type="http://schemas.openxmlformats.org/officeDocument/2006/relationships/slide" Target="/ppt/slides/slide6.xml" Id="R21a71de7c8d044da" /><Relationship Type="http://schemas.openxmlformats.org/officeDocument/2006/relationships/slide" Target="/ppt/slides/slide7.xml" Id="R5d3e84180f4d4cc5" /><Relationship Type="http://schemas.openxmlformats.org/officeDocument/2006/relationships/slide" Target="/ppt/slides/slide8.xml" Id="Rfa92eaa1eb274a11" /><Relationship Type="http://schemas.openxmlformats.org/officeDocument/2006/relationships/slide" Target="/ppt/slides/slide9.xml" Id="R055b58ec79964a58" /><Relationship Type="http://schemas.openxmlformats.org/officeDocument/2006/relationships/slide" Target="/ppt/slides/slide10.xml" Id="R2236f7d2a5e74a6a" /><Relationship Type="http://schemas.openxmlformats.org/officeDocument/2006/relationships/slide" Target="/ppt/slides/slide11.xml" Id="Rce37a91faf8d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3fd3de7f24d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b3122cd1f45c9" /><Relationship Type="http://schemas.openxmlformats.org/officeDocument/2006/relationships/notesMaster" Target="/ppt/notesMasters/notesMaster1.xml" Id="Rb6d18778e5ab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52f210a9c94ce9" /><Relationship Type="http://schemas.openxmlformats.org/officeDocument/2006/relationships/notesMaster" Target="/ppt/notesMasters/notesMaster1.xml" Id="R5b2142d9ac85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1b20a5af14551" /><Relationship Type="http://schemas.openxmlformats.org/officeDocument/2006/relationships/notesMaster" Target="/ppt/notesMasters/notesMaster1.xml" Id="R3ca28e46ae7f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1fadea9c354e03" /><Relationship Type="http://schemas.openxmlformats.org/officeDocument/2006/relationships/notesMaster" Target="/ppt/notesMasters/notesMaster1.xml" Id="Rcbd93f4cd7c448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78f3601a24e5f" /><Relationship Type="http://schemas.openxmlformats.org/officeDocument/2006/relationships/notesMaster" Target="/ppt/notesMasters/notesMaster1.xml" Id="R9fe96c89e33845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9d04b5e7c4808" /><Relationship Type="http://schemas.openxmlformats.org/officeDocument/2006/relationships/notesMaster" Target="/ppt/notesMasters/notesMaster1.xml" Id="Rcaa13d96ae2444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7c9315d7444d1" /><Relationship Type="http://schemas.openxmlformats.org/officeDocument/2006/relationships/notesMaster" Target="/ppt/notesMasters/notesMaster1.xml" Id="R500bfcdd8ef348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ae5c8e553b4666" /><Relationship Type="http://schemas.openxmlformats.org/officeDocument/2006/relationships/notesMaster" Target="/ppt/notesMasters/notesMaster1.xml" Id="R6f75f383fe9b42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f6fed11bcd4b27" /><Relationship Type="http://schemas.openxmlformats.org/officeDocument/2006/relationships/notesMaster" Target="/ppt/notesMasters/notesMaster1.xml" Id="R1c34cc30ceb3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4d6f0761d84324" /><Relationship Type="http://schemas.openxmlformats.org/officeDocument/2006/relationships/notesMaster" Target="/ppt/notesMasters/notesMaster1.xml" Id="Rb4fc0c6111c040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8bbb62693542a5" /><Relationship Type="http://schemas.openxmlformats.org/officeDocument/2006/relationships/notesMaster" Target="/ppt/notesMasters/notesMaster1.xml" Id="R6560d4663219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本汇报结合 Lite3 项目当前训练结构和用户提供的工程目标，比较多步态切换与湿滑适应，并给出户外巡检的扩展路线。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工程场景定义建议：先聚焦雨后硬质路面、湿坡和干湿交界。草地、泥地和松散碎石同时涉及沉陷与材料形变，需要后续单独建模。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项目代码依据：legged_gym/envs/Lite3_Trot/Lite3_Stairs_config.py（friction_range=[0.1, 1.25]）；legged_gym/envs/GO2_Trot/GO2_Stairs_config.py（45 维单帧观测、5 帧历史）；legged_gym/envs/GO2_Trot/GO2_Stairs.py（critic 特权观测含摩擦系数，按环境随机摩擦；含 stumble 与 foot-clearance 奖励）。</a:t>
            </a:r>
          </a:p>
          <a:p xmlns:a="http://schemas.openxmlformats.org/drawingml/2006/main">
            <a:r>
              <a:t>用户提供的工程事实：Lite3 已能稳定上楼。代码仍需在后续实现前确认部署分支和训练 checkpoint。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难度是基于当前 Lite3 仓库和目标范围的工程估计，不是论文结果。局部湿滑的真实表面验证成本高，但算法可以从现有策略与摩擦训练结构渐进扩展。</a:t>
            </a:r>
          </a:p>
          <a:p xmlns:a="http://schemas.openxmlformats.org/drawingml/2006/main">
            <a:r>
              <a:t>多步态研究对照：Stamatopoulou et al., eGAIT, IEEE Transactions on Automation Science and Engineering, 2025, DOI 10.1109/TASE.2025.3636224。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 et al., “Slip Detection and Recovery for Quadruped Robots via Orthogonal Decomposition,” IEEE Transactions on Industrial Electronics, Vol. 72, Issue 6, June 2025, pp. 6166–6174. DOI: https://doi.org/10.1109/TIE.2024.3488360. IEEE Xplore abstract reports a proprioceptive slip detector, hybrid position/force recovery controller, online friction estimation, and Unitree A1 experiment.</a:t>
            </a:r>
          </a:p>
          <a:p xmlns:a="http://schemas.openxmlformats.org/drawingml/2006/main">
            <a:r>
              <a:t>Stamatopoulou et al., “eGAIT: Multi-Skilled Policy for Energy-Efficient Gait Transitions,” IEEE Transactions on Automation Science and Engineering, Vol. 23, pp. 1575–1586, published 3 Dec 2025. DOI: https://doi.org/10.1109/TASE.2025.3636224. IEEE Xplore abstract reports nine velocity-optimized gaits, MPC-generated references, PPO/AMP-style training, HRL selector, and Unitree Go1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建议将风险估计器作为辅助头或轻量监督器，先判断“滑移风险是否升高”，再决定是否估计有效摩擦。仿真摩擦系数无法在真实户外直接读取，不能作为部署 actor 的必需输入。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场景扩展建议：先把可控、可重复的硬质材料做透，再增加局部摩擦突变；对可变形地面采用独立接触模型和独立评测，不把所有失败归因于摩擦系数。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仿真里可由足端接触力和足端刚体速度计算监督标签。真机部署时用已存在的本体感觉历史，必要时增加可估计的接触状态；先验证观测可用性，再确定网络接口。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建议每个表面和路线设置重复次数、速度、载荷与环境状态；报告均值和离散度。真机验证从防摔保护下的可控湿地面开始，再进入限定户外路线。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阶段顺序建议：先获得当前策略的失稳基线，再定义可重复的滑移标签和局部低摩擦场景；只有消融证明风险估计有收益后，再增加传感器或复杂地形。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多步态期刊参照：Stamatopoulou et al., IEEE Transactions on Automation Science and Engineering, 2025, https://doi.org/10.1109/TASE.2025.3636224。</a:t>
            </a:r>
          </a:p>
          <a:p xmlns:a="http://schemas.openxmlformats.org/drawingml/2006/main">
            <a:r>
              <a:t>场景扩展中的“前视落足规划”和任务自治是结合户外巡检目标提出的后续工程路线，属于建议，不是当前 Lite3 已实现能力。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4351d498842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4929bb29e4a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1fdba3c474e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0a81bb14842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bb8be712a45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f2a3ce3ef46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9C5038-6ABC-43C2-980C-97340DAE78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EA731C-149C-4F3C-92DE-BBAD80E6C1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374DD9-AC86-4AD5-B773-D36CD0732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FE4BAC-82FA-4026-8A1B-B531FA5CE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CD3445-CFFD-4D1B-B287-C63B426356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F618E6-F325-4B1A-AC44-410F7CAEC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82CA00-52ED-41BC-B258-10D9762B2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777A87-FAFC-4143-AD5C-9B0D9E278D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B30F4C-A7D9-43D6-BEC1-B34C8ACB8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85F864-F1EF-41B1-8CB8-EDE236FEB4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45bd938fd4b83" /><Relationship Type="http://schemas.openxmlformats.org/officeDocument/2006/relationships/slideLayout" Target="/ppt/slideLayouts/slideLayout1.xml" Id="Ref806539da934e78" /><Relationship Type="http://schemas.openxmlformats.org/officeDocument/2006/relationships/slideLayout" Target="/ppt/slideLayouts/slideLayout2.xml" Id="Rdbfd3aa7524a4e28" /><Relationship Type="http://schemas.openxmlformats.org/officeDocument/2006/relationships/slideLayout" Target="/ppt/slideLayouts/slideLayout3.xml" Id="Rf900e1458b894156" /><Relationship Type="http://schemas.openxmlformats.org/officeDocument/2006/relationships/slideLayout" Target="/ppt/slideLayouts/slideLayout4.xml" Id="R904dd994d5ed42ad" /><Relationship Type="http://schemas.openxmlformats.org/officeDocument/2006/relationships/slideLayout" Target="/ppt/slideLayouts/slideLayout5.xml" Id="R2d3bcbcdecb943c3" /><Relationship Type="http://schemas.openxmlformats.org/officeDocument/2006/relationships/slideLayout" Target="/ppt/slideLayouts/slideLayout6.xml" Id="R69d8a819273f4a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06539da934e78"/>
    <p:sldLayoutId xmlns:r="http://schemas.openxmlformats.org/officeDocument/2006/relationships" id="2147483650" r:id="Rdbfd3aa7524a4e28"/>
    <p:sldLayoutId xmlns:r="http://schemas.openxmlformats.org/officeDocument/2006/relationships" id="2147483651" r:id="Rf900e1458b894156"/>
    <p:sldLayoutId xmlns:r="http://schemas.openxmlformats.org/officeDocument/2006/relationships" id="2147483652" r:id="R904dd994d5ed42ad"/>
    <p:sldLayoutId xmlns:r="http://schemas.openxmlformats.org/officeDocument/2006/relationships" id="2147483653" r:id="R2d3bcbcdecb943c3"/>
    <p:sldLayoutId xmlns:r="http://schemas.openxmlformats.org/officeDocument/2006/relationships" id="2147483654" r:id="R69d8a819273f4a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0db33e29e4dcc" /><Relationship Type="http://schemas.openxmlformats.org/officeDocument/2006/relationships/notesSlide" Target="/ppt/notesSlides/notesSlide1.xml" Id="Ra473c61cf68a49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90e343588405f" /><Relationship Type="http://schemas.openxmlformats.org/officeDocument/2006/relationships/notesSlide" Target="/ppt/notesSlides/notesSlide2.xml" Id="R4c39813408f74d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803c99caa4cc6" /><Relationship Type="http://schemas.openxmlformats.org/officeDocument/2006/relationships/notesSlide" Target="/ppt/notesSlides/notesSlide3.xml" Id="R5de65ce7bc8347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366d0192b4905" /><Relationship Type="http://schemas.openxmlformats.org/officeDocument/2006/relationships/notesSlide" Target="/ppt/notesSlides/notesSlide4.xml" Id="R0fafaebd3346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3c7a367484a83" /><Relationship Type="http://schemas.openxmlformats.org/officeDocument/2006/relationships/notesSlide" Target="/ppt/notesSlides/notesSlide5.xml" Id="R48d8b7c53c87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75ca48dd64797" /><Relationship Type="http://schemas.openxmlformats.org/officeDocument/2006/relationships/notesSlide" Target="/ppt/notesSlides/notesSlide6.xml" Id="R7a5d0e7dbf00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63f6f02784469" /><Relationship Type="http://schemas.openxmlformats.org/officeDocument/2006/relationships/notesSlide" Target="/ppt/notesSlides/notesSlide7.xml" Id="Re07873a4afc243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cf361fe304311" /><Relationship Type="http://schemas.openxmlformats.org/officeDocument/2006/relationships/notesSlide" Target="/ppt/notesSlides/notesSlide8.xml" Id="R14edc7005a92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95189b9f44978" /><Relationship Type="http://schemas.openxmlformats.org/officeDocument/2006/relationships/notesSlide" Target="/ppt/notesSlides/notesSlide9.xml" Id="Rcbb96a23c7e340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dcd39e95243f2" /><Relationship Type="http://schemas.openxmlformats.org/officeDocument/2006/relationships/notesSlide" Target="/ppt/notesSlides/notesSlide10.xml" Id="R9fc184d912bf47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bfe3de44b4039" /><Relationship Type="http://schemas.openxmlformats.org/officeDocument/2006/relationships/notesSlide" Target="/ppt/notesSlides/notesSlide11.xml" Id="Re5408797fc6f4c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472D5-5CAB-449C-BAD1-6CD171A9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85725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17A5E-1DD1-4664-A613-33C7A89C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76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研究路线讨论  /  2026.10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484BC-D8FF-44C6-8C76-024FF2F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28775"/>
            <a:ext cx="771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Lite3 户外巡检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鲁棒行走控制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0DFC-E915-4760-A62E-62DBCDEA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D9E7EC"/>
                </a:solidFill>
                <a:latin typeface="PingFang SC"/>
                <a:ea typeface="PingFang SC"/>
                <a:cs typeface="PingFang SC"/>
              </a:rPr>
              <a:t>从湿滑适应到多场景自主运动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AA1A7-E79E-4C79-85A3-A284FF6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476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BAEC6-D7EF-4C65-873F-7F9A286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B7C9D1"/>
                </a:solidFill>
                <a:latin typeface="PingFang SC"/>
                <a:ea typeface="PingFang SC"/>
                <a:cs typeface="PingFang SC"/>
              </a:rPr>
              <a:t>项目现状  ·  研究创新  ·  工程验证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EE2EF-B42C-4ABB-AE3F-0C4F188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0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Lite3</a:t>
            </a:r>
          </a:p>
        </p:txBody>
      </p:sp>
    </p:spTree>
    <p:extLst>
      <p:ext uri="{BB962C8B-B14F-4D97-AF65-F5344CB8AC3E}">
        <p14:creationId xmlns:p14="http://schemas.microsoft.com/office/powerpoint/2010/main" val="1853088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24034-CF88-41A7-B0A9-6DD8528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工程目标与运行范围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08885-BEDE-4999-B094-2090204C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02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6CA7-7AC6-4294-8EE3-823E162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B0AAE-FBE6-4F36-9A13-374496BC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5BB64-4778-4979-9B55-14A287F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目标是在地面条件未知或变化时，保持巡检路线上的连续、安全运动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3152F-48E5-4DC1-B263-67CD92EB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A6DF3-163F-46E1-8EFB-6827AE6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0546D-E297-4C13-A0F3-2BD7B92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任务要求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DF3BF-764E-472A-9A81-1DEED657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333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雨后路面、湿坡和局部积水会改变足地抓地能力。机器人需要继续行走、转弯和通过缓坡，出现滑移后能够恢复。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DAAA5-F6BC-4392-B063-F65F9072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16859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BEC60-3BFA-4818-BBA7-B582720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47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巡检路线中的典型变化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CC5BE-3DAA-4BCA-BD4B-997261EE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781300"/>
            <a:ext cx="1619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510E7-D4B4-4502-84FF-2BFDD2DC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781300"/>
            <a:ext cx="1581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9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0820B-07BF-4CF7-BB81-54CA155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781300"/>
            <a:ext cx="18288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2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4B3DD-D330-428B-9EB3-0BEEEE2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干燥硬路面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3C2E7-3337-4280-B729-D809CAE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局部湿滑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02DB4-DA0A-4E98-8503-1767739D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29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坡面 / 转弯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CCC59-C0E9-4A64-81BD-85CB017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476625"/>
            <a:ext cx="502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F1106-17F0-4735-83B0-BE7B8C39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362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运行范围需要明确材料、坡度、速度、载荷和可接受的湿滑程度。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A81A2-1BAA-47D3-B3CA-AE0836C4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27685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50458-BC55-47CB-AE32-C5A0E647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“稳定”要用任务完成率、滑移、跌倒与恢复时间定义，并限定可验证的户外运行范围。</a:t>
            </a:r>
          </a:p>
        </p:txBody>
      </p:sp>
    </p:spTree>
    <p:extLst>
      <p:ext uri="{BB962C8B-B14F-4D97-AF65-F5344CB8AC3E}">
        <p14:creationId xmlns:p14="http://schemas.microsoft.com/office/powerpoint/2010/main" val="1158711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DE0AC-99DE-4287-9F9A-C3F8E14E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项目现有基础与主要缺口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74F80-B43E-4C71-AB74-1FC828E8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03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1184F-FF09-4824-872A-6D81B33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BEFDD-B0AC-4E37-A274-1FD962F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978D0-484F-4612-BF61-E90FD098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已具备鲁棒运动底座，下一步需要补足空间变化摩擦与显式滑移适应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FFCBE-9A67-4EA9-A550-7CA44C86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CE38-388A-4B2E-A2A4-76BAC08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E2EAF-7326-4125-B328-291A3A3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可复用的能力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DB3D0-A78E-4B22-B3B8-243D8BA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790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稳定上楼策略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45 维本体观测与 5 帧历史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多地形训练和 PPO / DreamWaQ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全局摩擦随机化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6FF48-56C4-43F7-8521-693B0233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43450"/>
            <a:ext cx="3810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8D040-FF59-4B41-847D-C1DCA07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Lite3 摩擦范围：0.1 – 1.25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09E8E-BE4C-4EAD-9D7D-49C7BA4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仿真中按环境采样整体摩擦参数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501FA-763A-4319-85D2-380DAC40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16764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17A50-B5B7-4BE9-9B83-0B64B66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383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训练时的非对称观测结构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79DC7-5E52-4139-9535-9B1DCBC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209800"/>
            <a:ext cx="2476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41F2C-FC3B-44E0-8C6E-C5C3950D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90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50"/>
          </a:bodyPr>
          <a:lstStyle xmlns:a="http://schemas.openxmlformats.org/drawingml/2006/main">
            <a:defPPr algn="l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Actor 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6D31F-F27F-456B-BDBA-1F1B1F05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717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本体感觉与历史信息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F44BC-4334-4272-AD1F-9FFBC58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209800"/>
            <a:ext cx="24765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CB9DA-F7CC-4213-A7BF-960CCE18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90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50"/>
          </a:bodyPr>
          <a:lstStyle xmlns:a="http://schemas.openxmlformats.org/drawingml/2006/main">
            <a:defPPr algn="l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Critic 价值网络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D7E1F-27EB-4E4F-9690-15C66DC1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可见特权摩擦等信息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0FFB5-B18E-490D-A436-ACFFFD13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6003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DDBB9-5361-42AA-AECF-23883F01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策略部署时不直接知道真实摩擦系数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B7724-C5A2-45BC-B1D6-FC8498E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当前奖励中已有 stumble、足端清障等项，尚未形成支撑相滑移检测与恢复闭环。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463B-87B1-443E-B31C-633587CE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5257800"/>
            <a:ext cx="590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3E325-FC27-4286-A0CF-4C49BB8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43525"/>
            <a:ext cx="550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研究缺口：局部湿滑区域、风险估计、策略恢复</a:t>
            </a:r>
          </a:p>
        </p:txBody>
      </p:sp>
    </p:spTree>
    <p:extLst>
      <p:ext uri="{BB962C8B-B14F-4D97-AF65-F5344CB8AC3E}">
        <p14:creationId xmlns:p14="http://schemas.microsoft.com/office/powerpoint/2010/main" val="1020676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CCC8C-0EA9-4629-8D7A-04B4E9A6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多步态切换与湿滑适应：实现难度比较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87291-ED28-4A66-B2D8-DC90582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04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DA41A-D48F-4715-8779-DB76FE50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03019-0F21-4578-8A4D-81620037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BC31-1B82-4504-9985-CFD769A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按当前项目的复用程度、研究新增量与户外巡检收益综合判断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09861-B33A-42A4-85DA-3A340948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0998-FD64-4FEA-8A6D-C8725BC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8F6E6-B376-4F33-B469-19491AD4CACA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533900"/>
                <a:gridCol w="4533900"/>
              </a:tblGrid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比较维度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多步态控制切换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湿滑场景适应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已有基础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已有多方向与快慢运动命令；尚无显式步态标签和相位控制。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已有整体摩擦随机化、特权 critic 和稳定爬楼策略。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新增模块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步态条件、各步态策略或专家、切换选择器、过渡稳定约束。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局部摩擦地图、支撑相滑移估计、低附着恢复与风险自适应。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实现难点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技能数据与相位定义；策略切换时保持连续性和稳定性。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真实路面标定、干湿突变泛化、仿真结果迁移到真机。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工程价值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提高速度、能耗或特定地形下的运动选择能力。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直接降低雨后路面、湿坡和湿台阶的巡检失稳风险。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727075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作为第二阶段的运动能力扩展。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作为近期主线，先做感知与恢复闭环。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194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47741-EB71-41AE-A2AD-376F928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近年期刊工作给出的研究参照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249CA-DAF7-4307-9AEA-2C8037D0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05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53849-66C9-40D8-B151-6D07E19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9743C-7B3A-482E-A5E3-D3E18BB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965E6-0905-4674-AF87-A7CE04FE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两类工作都能复用现有项目基础，但面向的工程问题不同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36908-C4C7-4A09-AEB1-1B5845E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408F5-24F0-4FBE-9BCA-66DA983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06EB3-1913-4750-A83D-8D194BB6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57350"/>
            <a:ext cx="51054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D4DF5-4D65-4CB6-9DA1-D1454616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657350"/>
            <a:ext cx="510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665C3-9640-480C-A9B2-4BEBEA9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滑移检测与恢复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CC2E9-8B0C-4D42-89C0-F9DF8CCE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02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Slip Detection and Recovery for Quadruped Robots via Orthogonal Decomposition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7F1A9-28D3-4793-8FEF-AC4FF69F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IEEE Transactions on Industrial Electronics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2025 年卷期，Unitree A1 实机验证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65CE8-591B-48C9-9AB2-96821ACA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本体感知滑移检测，结合位置 / 力控制恢复，并在线估计接触摩擦。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4CB25-7722-402A-9BC4-9FE8EFB6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DOI 10.1109/TIE.2024.3488360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B6B48-00AD-411D-A33C-C142CFE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657350"/>
            <a:ext cx="5105400" cy="3638550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8CC3D-8407-4B61-B2DE-B387DC3D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657350"/>
            <a:ext cx="510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3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C4AD1-1B5D-44C5-9F00-8B7FF5C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52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多技能步态切换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7AA3F-B848-458A-8F9A-8A70E7C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479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eGAIT: Multi-Skilled Policy for Energy-Efficient Gait Transitions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0EED6-5CCF-4F32-B8E9-7CA0168A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97"/>
          </a:bodyPr>
          <a:lstStyle xmlns:a="http://schemas.openxmlformats.org/drawingml/2006/main">
            <a:defPPr algn="l"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IEEE Transactions on Automation Science and Engineering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2025 年，Unitree Go1 实机验证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7D937-B1CD-4E9F-A7D1-9A6410D3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九种速度优化步态，结合 MPC 轨迹、PPO / AMP 策略和层级切换选择器。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5425A-076C-45E0-A5F0-5EC13269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672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rPr>
              <a:t>DOI 10.1109/TASE.2025.3636224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51DF1-6180-42C5-8811-15ADBB7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245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71FD8-1D47-4A8E-A256-3B12833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对当前项目的启示：滑移方向的闭环更直接服务户外安全；多步态是后续的技能与效率扩展。</a:t>
            </a:r>
          </a:p>
        </p:txBody>
      </p:sp>
    </p:spTree>
    <p:extLst>
      <p:ext uri="{BB962C8B-B14F-4D97-AF65-F5344CB8AC3E}">
        <p14:creationId xmlns:p14="http://schemas.microsoft.com/office/powerpoint/2010/main" val="111661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0718A-2F2E-4057-B7AF-ACA84A8F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推荐控制结构：运动策略加滑移风险闭环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0C4B-F786-4206-A976-FDDB557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06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3DE5C-4A77-44A6-9DE0-4D61028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09E9A-4737-4F64-AB09-4F8FB4E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FE5BC-FFF0-42EB-A931-79EC93D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保留已稳定的 DreamWaQ 策略，让风险估计器与恢复监督器处理低附着变化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FEE93-A1DF-46B3-A0C6-9828CAD7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28DB7-FEB3-4011-A8DE-A4BA187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D0367-D8F9-43B5-82B6-CEBD05F7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88876-177A-4178-B4B9-CC1B92C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可部署观测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93374-F1D2-42D7-8026-B82648E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62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IMU、关节位置 / 速度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动作历史、接触估计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9A8EF-ADDF-4C2B-BBD9-15A2C2EC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5B730-ADE6-4CE2-B71F-77C5F024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抓地风险估计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A130E-D0CD-435D-A675-77652E3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滑移概率 / 置信度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历史编码辅助判断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FB3DA-4F90-4CD5-A9ED-8D2255A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13142-C861-4763-AC5B-83866A2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名义运动策略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480CB-4094-4B4C-8A87-0CAC53CA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当前 DreamWaQ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维持行走与爬楼能力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5F5EF-118B-4E07-9178-10554DC2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2190750"/>
            <a:ext cx="22860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7C20C-5F55-4249-9B6D-924F29C1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9077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恢复监督器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D069D-AB02-4EC6-9A7B-777143D7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05125"/>
            <a:ext cx="194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限速、减小加速度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调整支撑与落足目标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32331-D252-4D9E-A090-6035E403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105D1-AF6E-4C48-94B2-D2016737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08C8D-1E6C-499F-ACBB-475F29DB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8384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46C38-D25F-4938-98E2-E68B0CFF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训练时的特权信息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C0D00-7B1A-487C-AA76-BDBF5434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724400"/>
            <a:ext cx="108204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144E4-2C60-49A7-991F-57F6DF0D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034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仿真 critic 可使用摩擦系数、接触真值与地形参数训练；部署 actor 只使用实机能获得的观测。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77F83-8ABC-4A5B-99B5-C601345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第一版用命令限速 / 加速度做恢复；验证有效后，再扩展到足端轨迹和支撑时间调节。</a:t>
            </a:r>
          </a:p>
        </p:txBody>
      </p:sp>
    </p:spTree>
    <p:extLst>
      <p:ext uri="{BB962C8B-B14F-4D97-AF65-F5344CB8AC3E}">
        <p14:creationId xmlns:p14="http://schemas.microsoft.com/office/powerpoint/2010/main" val="769104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83C26-EC77-44FD-9A2D-0D2D754C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场景扩展：从硬质湿路面逐步到复杂户外地面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8C3EE-B7DF-4848-93A6-774E9A1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07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D3163-7696-4C4A-A8E2-01DEDDC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E726-2909-41CF-8FAD-908FB968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9F6BD-B71D-4B3A-9FFF-B32EC01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按物理建模和真机验证成本递增，避免把所有恶劣环境压成一个摩擦参数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ECE6-35E6-4F36-B254-2ACE217F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CD2CE-D68B-436F-A23B-281CCF3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AB98B-3FDC-4DCC-89AC-0218E759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D354D-D538-4AF4-BDD8-8F449925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A  硬质路面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526E1-9179-45CE-9BE0-0D172CA0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E8ED1-0147-4E87-94EC-A94A792C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 / 湿水泥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石板、沥青、金属板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平地与固定坡度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A0945-B1D9-43D0-8774-865798A6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建立低附着基准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78D22-061E-4E89-B2FE-4C0D977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C553F-F820-4000-87F2-2A8EEC4F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B  空间变化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FEB0A-0418-4AD6-8606-A79FE6B0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44CB9-270C-4C1C-A095-9909045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局部湿滑斑块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干湿边界与小水洼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斜坡、转弯、加减速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39CBA-2B51-492D-BE90-E753F5B8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验证在线适应能力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2BA6A-A99A-4802-AB86-A17A0256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1809750"/>
            <a:ext cx="323850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845A7-0864-437C-B46E-CA36D1D3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阶段 C  复杂地面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F23C7-804B-454A-A995-37DD8AB9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5527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FB2F-8BA4-44EF-9482-4184F8A8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781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草地、碎石、落叶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泥地与松散土壤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不平整及接触形变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87995-9672-42E0-8CD1-022FBA5D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986416"/>
                </a:solidFill>
                <a:latin typeface="PingFang SC"/>
                <a:ea typeface="PingFang SC"/>
                <a:cs typeface="PingFang SC"/>
              </a:rPr>
              <a:t>补充可变形地面模型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70717-9494-47D1-9072-D8D26F34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泥地、草地与碎石还涉及沉陷和地面形变，应在硬质低附着验证完成后单独扩展。</a:t>
            </a:r>
          </a:p>
        </p:txBody>
      </p:sp>
    </p:spTree>
    <p:extLst>
      <p:ext uri="{BB962C8B-B14F-4D97-AF65-F5344CB8AC3E}">
        <p14:creationId xmlns:p14="http://schemas.microsoft.com/office/powerpoint/2010/main" val="1832363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985DD-D457-40A6-B61F-6D03B44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训练创新：从摩擦随机化走向可诊断的滑移适应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DEAB-42FF-4A25-A59E-7807F3C6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08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42D98-20AB-4C88-8134-8E23CA7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02943-7E0B-4D3F-9591-26308DB1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0230F-3535-496F-BB86-CC01218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让每次滑移都有标签、可量化，也能对应策略调整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1B7A8-FA98-4716-AA0C-6386A60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2CF32-DD64-4B46-9685-CA241B7B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1BD11-3FEE-480F-8F68-B7B51258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环境随机化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92A35-635A-4F39-A4CA-A4FCEED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将单一环境摩擦扩展为局部摩擦地图，随机湿滑位置、区域长度和干湿边界。保留干燥路面与现有楼梯任务。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D483A-F8FA-4305-AAB3-393C6B1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1714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73121-9932-488B-AAC7-312AC41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支撑相滑移量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B9326-135A-4E40-B75E-222C002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067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64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只在足端接触地面时，计算足端相对地面的切向速度或滑移距离。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5DBCA-2AF1-4995-B609-0396EB1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3143250"/>
            <a:ext cx="306705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9E5DB-3B52-4CF0-88EE-D32061E1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滑移惩罚 = 接触门控 × 切向滑移速度²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9129B-824F-4318-B3A3-B772544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同时保留速度跟踪与前进奖励，防止策略通过停住来规避滑移。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DC70D-8160-4A50-8E72-B53CBFB7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714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646F5-C748-43A6-9883-A5C213DB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风险自适应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376F5-4E10-431F-8A5B-DECEB8B2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用滑移事件训练风险估计器。高风险时降低速度与加速度，恢复后再逐步回到目标速度。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06479-3A5D-4EEE-BD9B-51BA94C7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推荐消融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FED00-BA7D-46D1-A2A3-B1B9417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基线策略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整体摩擦随机化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局部湿滑训练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局部湿滑 + 风险适应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20B78-831F-4613-9CFF-7F876E4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5340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9A5D1-4171-41FA-A0BB-C538C81D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40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核心创新：在未见过的局部低附着变化下，检测滑移并恢复，而不是只提高训练时的摩擦覆盖。</a:t>
            </a:r>
          </a:p>
        </p:txBody>
      </p:sp>
    </p:spTree>
    <p:extLst>
      <p:ext uri="{BB962C8B-B14F-4D97-AF65-F5344CB8AC3E}">
        <p14:creationId xmlns:p14="http://schemas.microsoft.com/office/powerpoint/2010/main" val="705600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34E96-57E5-494E-82E0-A52CBC53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评价指标与真机验证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BF094-2CCB-4917-B04E-C401E772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09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7C364-B0B6-4875-94B9-C0DDA91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91CE5-0AFE-4258-976B-CAA99A4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A7007-6462-4EB4-B07D-C9831CE9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把“稳定”转成任务表现、滑移损失与恢复能力三类证据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E3E0C-86A9-4356-B40B-5832EF7A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EBC4-C228-4885-8D0B-753BEED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C2706-F193-475E-8B78-39C153A13FFC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476750"/>
                <a:gridCol w="4305300"/>
              </a:tblGrid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测量方式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工程意义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任务完成率 / 跌倒率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固定路线、速度与载荷重复测试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巡检路线能否连续完成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支撑相滑移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滑移距离、滑移时间占比、单步最大滑移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直接反映足地失稳程度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路径与速度误差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路线偏差、目标速度跟踪误差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判断适应是否以牺牲任务效率换稳定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滑移后恢复时间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首次滑移到恢复稳定行走的时间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体现闭环恢复能力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5969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能耗与基线保持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单位距离能耗；干地和楼梯非劣化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适合长时间巡检且不丢已有能力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DD899-8381-44C5-8258-B811A077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73753-72B9-45AC-A962-BDC6A79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3A177-F2A5-47CA-8319-F103573D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已知摩擦 / 已知地形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35216-4242-45D2-BA98-3036105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74FF4-F63A-4CB3-899A-6FDBE132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泛化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605BA-3BEC-4C15-B951-158F958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未见位置 / 干湿突变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385E4-00D7-46AD-9D6E-8BE2376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5E6AC-46DF-40F5-AB0D-305F2D50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实验场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42863-8B8E-4AE2-99B4-E09B4919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可控湿路面与缓坡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E9C90-063E-449F-B30B-BDCE709A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48640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E450E-C661-4FC1-8AF4-9F037BC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43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户外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F77F5-035B-4D21-96BC-BC2424F5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531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限定路线巡检验证</a:t>
            </a:r>
          </a:p>
        </p:txBody>
      </p:sp>
    </p:spTree>
    <p:extLst>
      <p:ext uri="{BB962C8B-B14F-4D97-AF65-F5344CB8AC3E}">
        <p14:creationId xmlns:p14="http://schemas.microsoft.com/office/powerpoint/2010/main" val="438068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DF8CA-3348-49B6-BCD9-5D5652DD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实施路线与阶段性交付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D83BB-94B3-4A0D-AF9E-CCBA48C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10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8777A-CC6E-456D-887B-3724D464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DCC3F-926B-4566-9469-8795798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98F9-8DDD-4909-BE0B-0EFC518C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从当前稳定策略出发，用逐阶段对照实验降低工程风险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0F754-9A5B-4F43-B387-AD1D017E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CDCEE-0B72-4FE5-AABE-137D8A1F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15FF1-1195-4D62-8DE8-A1DA7BE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47650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17349-224C-4A9D-8D6C-CAC1A63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50603-5AD4-4E98-8AB2-1BD70DF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42CC1-C6A3-4D41-90D5-A434A14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摸清失稳边界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25FBE-B6A6-47C2-B5E3-77876B8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CB003-1EFF-45CC-8317-8FEB6A9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跑当前 checkpoint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复现湿滑失败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交付：基线数据集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F4D14-0F6A-4215-BF57-D265107E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969B8-2CDD-4DB3-AE1A-20638C95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350F2-484E-4C83-8EAE-3603331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35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搭建场景与指标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43546-4406-4E76-81D3-38C8E18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ADD5B-2A57-489D-A586-6DA0F6B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局部摩擦地图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接触门控滑移指标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交付：仿真测试集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4A78D-16C1-4137-8756-4B049A9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806B7-0075-47AE-8D82-31A4FD6C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81DD8-71C2-4DA0-9DD2-A8B27C82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训练风险适应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94A3E-39B0-4658-9CE9-4720701F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588DB-3333-40D8-8074-57B9213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时序风险估计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限速与恢复监督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交付：策略消融结果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91167-E63A-417C-966A-A7EB54A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1885950"/>
            <a:ext cx="2247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AAA23-0261-4BEA-ABA3-9B7AEB4C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CC19F-F618-4D9E-81E0-05A0124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977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真机巡检验证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7E1A4-E884-409E-A379-5A2575F3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390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92D42-649C-4626-AAC1-588916E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171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材料与坡度分级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湿干切换路线测试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183343"/>
                </a:solidFill>
                <a:latin typeface="PingFang SC"/>
                <a:ea typeface="PingFang SC"/>
                <a:cs typeface="PingFang SC"/>
              </a:rPr>
              <a:t>交付：工程能力边界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159D5-42E1-4148-B201-D9F1F5E2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91050"/>
            <a:ext cx="108204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E0E8D-C05C-4228-A76D-587E851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9AD8D1"/>
                </a:solidFill>
                <a:latin typeface="PingFang SC"/>
                <a:ea typeface="PingFang SC"/>
                <a:cs typeface="PingFang SC"/>
              </a:rPr>
              <a:t>阶段验收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C3B158-D68A-4B17-BE1E-F3CA5335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20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湿滑成功率与恢复能力提升，同时不降低干地及楼梯性能；需与当前策略和仅摩擦随机化策略对照。</a:t>
            </a:r>
          </a:p>
        </p:txBody>
      </p:sp>
    </p:spTree>
    <p:extLst>
      <p:ext uri="{BB962C8B-B14F-4D97-AF65-F5344CB8AC3E}">
        <p14:creationId xmlns:p14="http://schemas.microsoft.com/office/powerpoint/2010/main" val="266127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10AE3-8A9E-4D8A-B82F-AE3A83E4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0283A"/>
                </a:solidFill>
                <a:latin typeface="PingFang SC"/>
                <a:ea typeface="PingFang SC"/>
                <a:cs typeface="PingFang SC"/>
              </a:rPr>
              <a:t>后续可扩展任务与实现方法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93615-F8F7-4FA3-9DC2-9AF01AD8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91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11 /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3911-1440-41BA-AAC8-2A6E7E0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D843-71B9-4F0D-8EDC-313234AB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81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91077-83E7-4236-9BBD-C265C3B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低附着适应形成主线后，可按巡检需求扩展运动能力、感知与任务自治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C27F5-A670-4023-87F4-DF9511A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Lite3  ·  户外巡检鲁棒运动控制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F1C0-FA88-493D-8F2B-71FEA81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5870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BB910-326E-448D-9127-F9E739A959B8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5429250"/>
                <a:gridCol w="3352800"/>
              </a:tblGrid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扩展任务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实现方法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工程用途</a:t>
                      </a:r>
                    </a:p>
                  </a:txBody>
                  <a:tcPr marL="91440" marR="91440" marT="45720" marB="45720" anchor="ctr">
                    <a:solidFill>
                      <a:srgbClr val="10283A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多步态切换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加入步态条件与相位；训练技能策略和过渡选择器；评估切换稳定性。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速度、能耗与地形适应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前视落足规划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融合深度 / LiDAR 地形图与湿滑风险，筛选安全落足区域。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绕开积水、裂缝和障碍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坡地与非结构地面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高度图课程训练；草地、碎石、泥地采用独立接触与形变模型。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扩大可巡检路面范围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载荷与外部扰动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随机化质量 / 重心、阵风和碰撞；用风险估计调整速度与姿态。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适配巡检传感器并抗扰</a:t>
                      </a:r>
                    </a:p>
                  </a:txBody>
                  <a:tcPr marL="91440" marR="91440" marT="45720" marB="45720" anchor="ctr">
                    <a:solidFill>
                      <a:srgbClr val="F0F5F6"/>
                    </a:solidFill>
                  </a:tcPr>
                </a:tc>
              </a:tr>
              <a:tr h="647700"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0C6E6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任务级巡检自治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导航目标、路径覆盖、巡检点停靠与运动控制分层联动。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85725" rIns="95250" bIns="76200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8334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从稳定行走走向自动巡检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57AAC-86B8-46B6-86C2-A13F7E1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24525"/>
            <a:ext cx="108204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D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E1483-3427-4C52-9B1D-4BF6BAD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C6E69"/>
                </a:solidFill>
                <a:latin typeface="PingFang SC"/>
                <a:ea typeface="PingFang SC"/>
                <a:cs typeface="PingFang SC"/>
              </a:rPr>
              <a:t>推荐顺序：先低附着稳定行走，再加入步态选择和前视感知，最后扩展巡检任务自治。</a:t>
            </a:r>
          </a:p>
        </p:txBody>
      </p:sp>
    </p:spTree>
    <p:extLst>
      <p:ext uri="{BB962C8B-B14F-4D97-AF65-F5344CB8AC3E}">
        <p14:creationId xmlns:p14="http://schemas.microsoft.com/office/powerpoint/2010/main" val="1782884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2026-10-11T02:30:44.3950000Z</dcterms:created>
  <dcterms:modified xsi:type="dcterms:W3CDTF">2026-10-11T02:30:44.3950000Z</dcterms:modified>
</coreProperties>
</file>