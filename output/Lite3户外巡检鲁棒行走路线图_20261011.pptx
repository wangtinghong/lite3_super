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33a9a5a7545f8" /><Relationship Type="http://schemas.openxmlformats.org/officeDocument/2006/relationships/extended-properties" Target="/docProps/app.xml" Id="R7c51a8966742427a" /><Relationship Type="http://schemas.openxmlformats.org/officeDocument/2006/relationships/officeDocument" Target="/ppt/presentation.xml" Id="R53e6da011417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3803520db0464d"/>
  </p:sldMasterIdLst>
  <p:notesMasterIdLst>
    <p:notesMasterId xmlns:r="http://schemas.openxmlformats.org/officeDocument/2006/relationships" r:id="R5d71a3d0d4814a98"/>
  </p:notesMasterIdLst>
  <p:sldIdLst>
    <p:sldId xmlns:r="http://schemas.openxmlformats.org/officeDocument/2006/relationships" id="256" r:id="R26e9794aa6894669"/>
    <p:sldId xmlns:r="http://schemas.openxmlformats.org/officeDocument/2006/relationships" id="257" r:id="Rf2a7674d26464623"/>
    <p:sldId xmlns:r="http://schemas.openxmlformats.org/officeDocument/2006/relationships" id="258" r:id="Ra1a4289cfefc4028"/>
    <p:sldId xmlns:r="http://schemas.openxmlformats.org/officeDocument/2006/relationships" id="259" r:id="Rb68eae04b44b4609"/>
    <p:sldId xmlns:r="http://schemas.openxmlformats.org/officeDocument/2006/relationships" id="260" r:id="R250dcfec85884747"/>
    <p:sldId xmlns:r="http://schemas.openxmlformats.org/officeDocument/2006/relationships" id="261" r:id="R4d99a26f6c6d4b40"/>
    <p:sldId xmlns:r="http://schemas.openxmlformats.org/officeDocument/2006/relationships" id="262" r:id="R27585afdcd764b10"/>
    <p:sldId xmlns:r="http://schemas.openxmlformats.org/officeDocument/2006/relationships" id="263" r:id="R051f14a253e1400c"/>
    <p:sldId xmlns:r="http://schemas.openxmlformats.org/officeDocument/2006/relationships" id="264" r:id="Rfb079c645a744b82"/>
    <p:sldId xmlns:r="http://schemas.openxmlformats.org/officeDocument/2006/relationships" id="265" r:id="R55ba248818ed4ab3"/>
    <p:sldId xmlns:r="http://schemas.openxmlformats.org/officeDocument/2006/relationships" id="266" r:id="Rc890d0aeb680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53f48125a42e2" /><Relationship Type="http://schemas.openxmlformats.org/officeDocument/2006/relationships/slideMaster" Target="/ppt/slideMasters/slideMaster1.xml" Id="Raa3803520db0464d" /><Relationship Type="http://schemas.openxmlformats.org/officeDocument/2006/relationships/notesMaster" Target="/ppt/notesMasters/notesMaster1.xml" Id="R5d71a3d0d4814a98" /><Relationship Type="http://schemas.openxmlformats.org/officeDocument/2006/relationships/presProps" Target="/ppt/presProps.xml" Id="R39eef888eb194c93" /><Relationship Type="http://schemas.openxmlformats.org/officeDocument/2006/relationships/tableStyles" Target="/ppt/tableStyles.xml" Id="R000ad492b96f4fec" /><Relationship Type="http://schemas.openxmlformats.org/officeDocument/2006/relationships/slide" Target="/ppt/slides/slide1.xml" Id="R26e9794aa6894669" /><Relationship Type="http://schemas.openxmlformats.org/officeDocument/2006/relationships/slide" Target="/ppt/slides/slide2.xml" Id="Rf2a7674d26464623" /><Relationship Type="http://schemas.openxmlformats.org/officeDocument/2006/relationships/slide" Target="/ppt/slides/slide3.xml" Id="Ra1a4289cfefc4028" /><Relationship Type="http://schemas.openxmlformats.org/officeDocument/2006/relationships/slide" Target="/ppt/slides/slide4.xml" Id="Rb68eae04b44b4609" /><Relationship Type="http://schemas.openxmlformats.org/officeDocument/2006/relationships/slide" Target="/ppt/slides/slide5.xml" Id="R250dcfec85884747" /><Relationship Type="http://schemas.openxmlformats.org/officeDocument/2006/relationships/slide" Target="/ppt/slides/slide6.xml" Id="R4d99a26f6c6d4b40" /><Relationship Type="http://schemas.openxmlformats.org/officeDocument/2006/relationships/slide" Target="/ppt/slides/slide7.xml" Id="R27585afdcd764b10" /><Relationship Type="http://schemas.openxmlformats.org/officeDocument/2006/relationships/slide" Target="/ppt/slides/slide8.xml" Id="R051f14a253e1400c" /><Relationship Type="http://schemas.openxmlformats.org/officeDocument/2006/relationships/slide" Target="/ppt/slides/slide9.xml" Id="Rfb079c645a744b82" /><Relationship Type="http://schemas.openxmlformats.org/officeDocument/2006/relationships/slide" Target="/ppt/slides/slide10.xml" Id="R55ba248818ed4ab3" /><Relationship Type="http://schemas.openxmlformats.org/officeDocument/2006/relationships/slide" Target="/ppt/slides/slide11.xml" Id="Rc890d0aeb680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b4f8485bd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0be586eb74589" /><Relationship Type="http://schemas.openxmlformats.org/officeDocument/2006/relationships/notesMaster" Target="/ppt/notesMasters/notesMaster1.xml" Id="R30ea3a951c28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8a6e3014940a1" /><Relationship Type="http://schemas.openxmlformats.org/officeDocument/2006/relationships/notesMaster" Target="/ppt/notesMasters/notesMaster1.xml" Id="Rbdae5d3c8ade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12bd873e64c7c" /><Relationship Type="http://schemas.openxmlformats.org/officeDocument/2006/relationships/notesMaster" Target="/ppt/notesMasters/notesMaster1.xml" Id="Re430f63ad541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fb276f4ea4e2a" /><Relationship Type="http://schemas.openxmlformats.org/officeDocument/2006/relationships/notesMaster" Target="/ppt/notesMasters/notesMaster1.xml" Id="R2de1a9875a57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93113b0c414eea" /><Relationship Type="http://schemas.openxmlformats.org/officeDocument/2006/relationships/notesMaster" Target="/ppt/notesMasters/notesMaster1.xml" Id="Rea7c853bea3547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2d67ef723f492d" /><Relationship Type="http://schemas.openxmlformats.org/officeDocument/2006/relationships/notesMaster" Target="/ppt/notesMasters/notesMaster1.xml" Id="R09372ec37ed94a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4e9ded48384278" /><Relationship Type="http://schemas.openxmlformats.org/officeDocument/2006/relationships/notesMaster" Target="/ppt/notesMasters/notesMaster1.xml" Id="Rdb75d3d0d9664e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f7f0a931254e02" /><Relationship Type="http://schemas.openxmlformats.org/officeDocument/2006/relationships/notesMaster" Target="/ppt/notesMasters/notesMaster1.xml" Id="Rab54169011e1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ce152f2a54208" /><Relationship Type="http://schemas.openxmlformats.org/officeDocument/2006/relationships/notesMaster" Target="/ppt/notesMasters/notesMaster1.xml" Id="R27168acbf7b5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b69d091dad4e90" /><Relationship Type="http://schemas.openxmlformats.org/officeDocument/2006/relationships/notesMaster" Target="/ppt/notesMasters/notesMaster1.xml" Id="R62e15889237045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8aa5d283464194" /><Relationship Type="http://schemas.openxmlformats.org/officeDocument/2006/relationships/notesMaster" Target="/ppt/notesMasters/notesMaster1.xml" Id="R5c134bda9935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本汇报结合 Lite3 项目当前训练结构和用户提供的工程目标，比较多步态切换与湿滑适应，并给出户外巡检的扩展路线。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工程场景定义建议：先聚焦雨后硬质路面、湿坡和干湿交界。草地、泥地和松散碎石同时涉及沉陷与材料形变，需要后续单独建模。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项目代码依据：legged_gym/envs/Lite3_Trot/Lite3_Stairs_config.py（friction_range=[0.1, 1.25]）；legged_gym/envs/GO2_Trot/GO2_Stairs_config.py（45 维单帧观测、5 帧历史）；legged_gym/envs/GO2_Trot/GO2_Stairs.py（critic 特权观测含摩擦系数，按环境随机摩擦；含 stumble 与 foot-clearance 奖励）。</a:t>
            </a:r>
          </a:p>
          <a:p xmlns:a="http://schemas.openxmlformats.org/drawingml/2006/main">
            <a:r>
              <a:t>用户提供的工程事实：Lite3 已能稳定上楼。代码仍需在后续实现前确认部署分支和训练 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难度是基于当前 Lite3 仓库和目标范围的工程估计，不是论文结果。局部湿滑的真实表面验证成本高，但算法可以从现有策略与摩擦训练结构渐进扩展。</a:t>
            </a:r>
          </a:p>
          <a:p xmlns:a="http://schemas.openxmlformats.org/drawingml/2006/main">
            <a:r>
              <a:t>多步态研究对照：Stamatopoulou et al., eGAIT, IEEE Transactions on Automation Science and Engineering, 2025, DOI 10.1109/TASE.2025.3636224。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 et al., “Slip Detection and Recovery for Quadruped Robots via Orthogonal Decomposition,” IEEE Transactions on Industrial Electronics, Vol. 72, Issue 6, June 2025, pp. 6166–6174. DOI: https://doi.org/10.1109/TIE.2024.3488360. IEEE Xplore abstract reports a proprioceptive slip detector, hybrid position/force recovery controller, online friction estimation, and Unitree A1 experiment.</a:t>
            </a:r>
          </a:p>
          <a:p xmlns:a="http://schemas.openxmlformats.org/drawingml/2006/main">
            <a:r>
              <a:t>Stamatopoulou et al., “eGAIT: Multi-Skilled Policy for Energy-Efficient Gait Transitions,” IEEE Transactions on Automation Science and Engineering, Vol. 23, pp. 1575–1586, published 3 Dec 2025. DOI: https://doi.org/10.1109/TASE.2025.3636224. IEEE Xplore abstract reports nine velocity-optimized gaits, MPC-generated references, PPO/AMP-style training, HRL selector, and Unitree Go1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建议将风险估计器作为辅助头或轻量监督器，先判断“滑移风险是否升高”，再决定是否估计有效摩擦。仿真摩擦系数无法在真实户外直接读取，不能作为部署 actor 的必需输入。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场景扩展建议：先把可控、可重复的硬质材料做透，再增加局部摩擦突变；对可变形地面采用独立接触模型和独立评测，不把所有失败归因于摩擦系数。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仿真里可由足端接触力和足端刚体速度计算监督标签。真机部署时用已存在的本体感觉历史，必要时增加可估计的接触状态；先验证观测可用性，再确定网络接口。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建议每个表面和路线设置重复次数、速度、载荷与环境状态；报告均值和离散度。真机验证从防摔保护下的可控湿地面开始，再进入限定户外路线。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阶段顺序建议：先获得当前策略的失稳基线，再定义可重复的滑移标签和局部低摩擦场景；只有消融证明风险估计有收益后，再增加传感器或复杂地形。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多步态期刊参照：Stamatopoulou et al., IEEE Transactions on Automation Science and Engineering, 2025, https://doi.org/10.1109/TASE.2025.3636224。</a:t>
            </a:r>
          </a:p>
          <a:p xmlns:a="http://schemas.openxmlformats.org/drawingml/2006/main">
            <a:r>
              <a:t>场景扩展中的“前视落足规划”和任务自治是结合户外巡检目标提出的后续工程路线，属于建议，不是当前 Lite3 已实现能力。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916ccd5f144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04ab2e72c4a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b036e8e4343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ef279cc0b49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07f68228d4a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a1066b424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5D15C-3B9B-4A1C-9B6E-287D72206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D61C0E-4C96-4954-8907-3AF21A7C6C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7BCE83-9274-4DE9-A0B3-F804BB96B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3BF4F-2FD6-469D-A4DB-BD6B1AFA40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DEF26E-D922-4CC9-91D6-2F03D36861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BF1D91-2609-4696-8858-2C664E799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62CEBE-C163-461C-BBDF-589F77065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F56753-FD54-4687-AD6A-8D3457A241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D2BAA-C4A5-4ED2-87E2-E8D489DB2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B61AE7-BEFC-4A47-ACFA-07A8D059A0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c79b857304ddb" /><Relationship Type="http://schemas.openxmlformats.org/officeDocument/2006/relationships/slideLayout" Target="/ppt/slideLayouts/slideLayout1.xml" Id="R029713dc9298411b" /><Relationship Type="http://schemas.openxmlformats.org/officeDocument/2006/relationships/slideLayout" Target="/ppt/slideLayouts/slideLayout2.xml" Id="R9fcffd4252ad404a" /><Relationship Type="http://schemas.openxmlformats.org/officeDocument/2006/relationships/slideLayout" Target="/ppt/slideLayouts/slideLayout3.xml" Id="Rbe832f9fcd504b1b" /><Relationship Type="http://schemas.openxmlformats.org/officeDocument/2006/relationships/slideLayout" Target="/ppt/slideLayouts/slideLayout4.xml" Id="Rfb4fb028e9714dcf" /><Relationship Type="http://schemas.openxmlformats.org/officeDocument/2006/relationships/slideLayout" Target="/ppt/slideLayouts/slideLayout5.xml" Id="Raec230ecf91d4c59" /><Relationship Type="http://schemas.openxmlformats.org/officeDocument/2006/relationships/slideLayout" Target="/ppt/slideLayouts/slideLayout6.xml" Id="R7f3b93a5c7a2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713dc9298411b"/>
    <p:sldLayoutId xmlns:r="http://schemas.openxmlformats.org/officeDocument/2006/relationships" id="2147483650" r:id="R9fcffd4252ad404a"/>
    <p:sldLayoutId xmlns:r="http://schemas.openxmlformats.org/officeDocument/2006/relationships" id="2147483651" r:id="Rbe832f9fcd504b1b"/>
    <p:sldLayoutId xmlns:r="http://schemas.openxmlformats.org/officeDocument/2006/relationships" id="2147483652" r:id="Rfb4fb028e9714dcf"/>
    <p:sldLayoutId xmlns:r="http://schemas.openxmlformats.org/officeDocument/2006/relationships" id="2147483653" r:id="Raec230ecf91d4c59"/>
    <p:sldLayoutId xmlns:r="http://schemas.openxmlformats.org/officeDocument/2006/relationships" id="2147483654" r:id="R7f3b93a5c7a2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a254cf14d4250" /><Relationship Type="http://schemas.openxmlformats.org/officeDocument/2006/relationships/notesSlide" Target="/ppt/notesSlides/notesSlide1.xml" Id="R8e250f8174e84f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b20bb30b049b6" /><Relationship Type="http://schemas.openxmlformats.org/officeDocument/2006/relationships/notesSlide" Target="/ppt/notesSlides/notesSlide2.xml" Id="R2058b4e9321a46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5648cd78a440e" /><Relationship Type="http://schemas.openxmlformats.org/officeDocument/2006/relationships/notesSlide" Target="/ppt/notesSlides/notesSlide3.xml" Id="Rba33a14a8e994c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532f983594fc5" /><Relationship Type="http://schemas.openxmlformats.org/officeDocument/2006/relationships/notesSlide" Target="/ppt/notesSlides/notesSlide4.xml" Id="R5a9e47dbc84a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2f484556d4328" /><Relationship Type="http://schemas.openxmlformats.org/officeDocument/2006/relationships/notesSlide" Target="/ppt/notesSlides/notesSlide5.xml" Id="R371d6e6f07e149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2178d15264ea7" /><Relationship Type="http://schemas.openxmlformats.org/officeDocument/2006/relationships/notesSlide" Target="/ppt/notesSlides/notesSlide6.xml" Id="R8b52bf6655dd44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32f987ce64fd0" /><Relationship Type="http://schemas.openxmlformats.org/officeDocument/2006/relationships/notesSlide" Target="/ppt/notesSlides/notesSlide7.xml" Id="R5dd37eeb8c32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769a968884919" /><Relationship Type="http://schemas.openxmlformats.org/officeDocument/2006/relationships/notesSlide" Target="/ppt/notesSlides/notesSlide8.xml" Id="R6db1c0c9a72347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869811a234e58" /><Relationship Type="http://schemas.openxmlformats.org/officeDocument/2006/relationships/notesSlide" Target="/ppt/notesSlides/notesSlide9.xml" Id="R69b6d1f12d094f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2aeac36254fad" /><Relationship Type="http://schemas.openxmlformats.org/officeDocument/2006/relationships/notesSlide" Target="/ppt/notesSlides/notesSlide10.xml" Id="R2c66a8b5810f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92892055a4bf1" /><Relationship Type="http://schemas.openxmlformats.org/officeDocument/2006/relationships/notesSlide" Target="/ppt/notesSlides/notesSlide11.xml" Id="R460236bb740d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4D412-4C34-4A8A-8323-511B33AC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5725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9D78E-EDF5-4738-940C-88645A9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研究路线讨论  /  2026.10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70E62-92D8-416F-A913-C9119DE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28775"/>
            <a:ext cx="771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Lite3 户外巡检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鲁棒行走控制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31767-CF72-4BE1-9748-AAFFEC1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rPr>
              <a:t>从湿滑适应到多场景自主运动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EB046-D96D-499F-84DB-CE48D920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476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ADE8C-A5A2-44CA-A70E-3F423E73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rPr>
              <a:t>项目现状  ·  研究创新  ·  工程验证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4D876-A70F-47CF-BDD8-47D75BF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0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Lite3</a:t>
            </a:r>
          </a:p>
        </p:txBody>
      </p:sp>
    </p:spTree>
    <p:extLst>
      <p:ext uri="{BB962C8B-B14F-4D97-AF65-F5344CB8AC3E}">
        <p14:creationId xmlns:p14="http://schemas.microsoft.com/office/powerpoint/2010/main" val="624505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579B-DD3B-4BF8-9481-A34C52A4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工程目标与运行范围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E753-AC61-4263-BA74-50E9DE97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02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5768-66C9-4A63-AA77-D00C283C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7A48B-5679-48B2-B489-9CE8CC7C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03BE5-956F-473F-8356-F7151C0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目标是在地面条件未知或变化时，保持巡检路线上的连续、安全运动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7A26-DC0B-49A7-8D97-775BA6E7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5AB5-A43C-4BDD-86C7-89ACA23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4565C-F04C-4F92-A9EA-64BC7108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任务要求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C1496-9D22-42BA-93DE-2A05844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333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雨后路面、湿坡和局部积水会改变足地抓地能力。机器人需要继续行走、转弯和通过缓坡，出现滑移后能够恢复。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EC080-E8AE-4B83-AA73-980B21D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16859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E51F0-18E5-4BF4-8CA0-23FB762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47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巡检路线中的典型变化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72C25-EAED-42C0-9B48-EE2046E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7813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7AAB3-DCF7-4689-92A5-B94C3CA8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781300"/>
            <a:ext cx="1581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105A3-E358-48E5-8BEC-939C779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7813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2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D937D-F18A-4D6B-8168-57A34E92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干燥硬路面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1A482-6187-4EF4-90DA-4850A11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局部湿滑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17693-1198-4C7C-BE0E-120AF31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29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坡面 / 转弯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2D510-1F47-46FE-BF67-95E1F47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476625"/>
            <a:ext cx="502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5C06F-3792-45BE-9F64-95BBAF3F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362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运行范围需要明确材料、坡度、速度、载荷和可接受的湿滑程度。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9C0CE-21A3-49B5-A34D-D049D2A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7685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9989E-C69D-412D-A179-6B9EAD0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“稳定”要用任务完成率、滑移、跌倒与恢复时间定义，并限定可验证的户外运行范围。</a:t>
            </a:r>
          </a:p>
        </p:txBody>
      </p:sp>
    </p:spTree>
    <p:extLst>
      <p:ext uri="{BB962C8B-B14F-4D97-AF65-F5344CB8AC3E}">
        <p14:creationId xmlns:p14="http://schemas.microsoft.com/office/powerpoint/2010/main" val="148750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BBFA6-2241-47C8-893F-C985BABF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项目现有基础与主要缺口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5136B-25DD-4BBE-9240-633A7F9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03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45FE5-7514-44B2-AD26-0FE60E2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8877D-0BFD-4610-937F-83B3193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E7D09-735D-47E5-9958-9C69034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已具备鲁棒运动底座，下一步需要补足空间变化摩擦与显式滑移适应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EA238-E966-4B91-8CB0-11C1766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1AAC4-1D1B-42B9-BEEC-A0547559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ECF93-7F5E-49AE-84A6-5D6D01D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可复用的能力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8527C-576D-4BB6-99C0-ED02CC0B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790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稳定上楼策略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45 维本体观测与 5 帧历史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多地形训练和 PPO / DreamWaQ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全局摩擦随机化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051B1-3CAA-458F-B5A6-E404FC36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43450"/>
            <a:ext cx="3810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E38FF-8C9A-40D2-8CE0-8614166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Lite3 摩擦范围：0.1 – 1.25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883FE-6F59-4A04-81D2-BA8230C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仿真中按环境采样整体摩擦参数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86E71-BAEF-44C3-B7B8-4BE1AF8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16764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BC370-44ED-4A4D-B654-AFE5273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383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训练时的非对称观测结构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E048B-7C25-443B-984F-9E59FD72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209800"/>
            <a:ext cx="2476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143CF-94AB-40E8-91D5-8D8B2128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90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50"/>
          </a:bodyPr>
          <a:lstStyle xmlns:a="http://schemas.openxmlformats.org/drawingml/2006/main">
            <a:defPPr algn="l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Actor 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4E08A-BC43-4DE0-A4B8-814E4217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71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本体感觉与历史信息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6CF7B-DDC4-4E4E-AF51-CDBFED14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209800"/>
            <a:ext cx="2476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E287F-CE08-414D-852E-4582323A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90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50"/>
          </a:bodyPr>
          <a:lstStyle xmlns:a="http://schemas.openxmlformats.org/drawingml/2006/main">
            <a:defPPr algn="l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Critic 价值网络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61D31-4FAA-4B26-9F95-3AFBB18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可见特权摩擦等信息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B6D9D-4C20-4CF9-B5E9-9F9BB119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6003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5A422-4448-4378-92A9-16D40B95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策略部署时不直接知道真实摩擦系数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584D0-7CB5-4774-924B-A35682B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当前奖励中已有 stumble、足端清障等项，尚未形成支撑相滑移检测与恢复闭环。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F0E89-9341-4547-89D1-CA2329D8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5257800"/>
            <a:ext cx="590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B800F-7B02-435F-9D99-637B43C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43525"/>
            <a:ext cx="550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研究缺口：局部湿滑区域、风险估计、策略恢复</a:t>
            </a:r>
          </a:p>
        </p:txBody>
      </p:sp>
    </p:spTree>
    <p:extLst>
      <p:ext uri="{BB962C8B-B14F-4D97-AF65-F5344CB8AC3E}">
        <p14:creationId xmlns:p14="http://schemas.microsoft.com/office/powerpoint/2010/main" val="158987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610E8-8420-4C1A-8E05-771564E2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多步态切换与湿滑适应：实现难度比较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ADCD-45D8-4D57-B8D6-06714A78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04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FAFDF-7FD9-47B6-BDEA-A5181AB6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AF9C-9A44-44E5-998E-8A14203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4C7E6-96FF-44D9-9E19-454E1B1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按当前项目的复用程度、研究新增量与户外巡检收益综合判断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11E67-6AA6-4A2E-9243-F989A849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D501D-98F3-4077-AD78-66FACEC6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8BC88-05FF-4D3C-B6D6-1C4EC60B318F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533900"/>
                <a:gridCol w="4533900"/>
              </a:tblGrid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多步态控制切换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湿滑场景适应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已有基础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已有多方向与快慢运动命令；尚无显式步态标签和相位控制。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已有整体摩擦随机化、特权 critic 和稳定爬楼策略。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新增模块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步态条件、各步态策略或专家、切换选择器、过渡稳定约束。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局部摩擦地图、支撑相滑移估计、低附着恢复与风险自适应。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实现难点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技能数据与相位定义；策略切换时保持连续性和稳定性。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真实路面标定、干湿突变泛化、仿真结果迁移到真机。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工程价值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提高速度、能耗或特定地形下的运动选择能力。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直接降低雨后路面、湿坡和湿台阶的巡检失稳风险。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作为第二阶段的运动能力扩展。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作为近期主线，先做感知与恢复闭环。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988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5FA4E-E4B6-4B69-94D0-1BF12E5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近年期刊工作给出的研究参照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355D6-CEBC-4ED6-9E1C-F1B506B4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05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612AE-A390-4B60-8A7B-183004E6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BD57-C808-4BA4-9AAD-740ED8B1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AE2F9-809A-4615-9DF1-21D5AA6D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两类工作都能复用现有项目基础，但面向的工程问题不同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41802-5E7E-469E-8E53-A7D2C39E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BA4C5-F848-4B20-A287-DD83A9E0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6703A-CE2F-4C78-B657-FFBCB08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57350"/>
            <a:ext cx="51054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4D563-298C-4FD6-A8FE-825DC721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57350"/>
            <a:ext cx="510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96D2F-FF51-472E-98FB-96ED973F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滑移检测与恢复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E87AC-FC0B-443A-89BC-66D3521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02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Slip Detection and Recovery for Quadruped Robots via Orthogonal Decomposition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8D78C-A9A6-4208-8848-C995B55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IEEE Transactions on Industrial Electronics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2025 年卷期，Unitree A1 实机验证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820B4-8B9E-4791-8C94-BB31415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本体感知滑移检测，结合位置 / 力控制恢复，并在线估计接触摩擦。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BCDFF-2011-4EFA-ACE3-147708C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DOI 10.1109/TIE.2024.3488360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19601-CA39-4933-9C74-9A3FFFAB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657350"/>
            <a:ext cx="51054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CF5F8-25BA-4BD7-BC99-3BC25DB5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657350"/>
            <a:ext cx="510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69BF5-4891-4C8A-951E-1946F493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52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多技能步态切换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E9F3E-EDC6-4C9E-AB1B-C01080A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47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eGAIT: Multi-Skilled Policy for Energy-Efficient Gait Transitions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49F89-722C-428F-9B12-25D0E1B7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97"/>
          </a:bodyPr>
          <a:lstStyle xmlns:a="http://schemas.openxmlformats.org/drawingml/2006/main">
            <a:defPPr algn="l"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IEEE Transactions on Automation Science and Engineering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2025 年，Unitree Go1 实机验证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A56AA-0D54-4923-80A0-BF53B2A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九种速度优化步态，结合 MPC 轨迹、PPO / AMP 策略和层级切换选择器。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D7EBD-E548-4E00-A7EE-B8087FE2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672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rPr>
              <a:t>DOI 10.1109/TASE.2025.3636224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DCDE7-231C-44B1-8A59-22C25B78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245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E7EDA-5087-4F17-B9BB-59E822C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对当前项目的启示：滑移方向的闭环更直接服务户外安全；多步态是后续的技能与效率扩展。</a:t>
            </a:r>
          </a:p>
        </p:txBody>
      </p:sp>
    </p:spTree>
    <p:extLst>
      <p:ext uri="{BB962C8B-B14F-4D97-AF65-F5344CB8AC3E}">
        <p14:creationId xmlns:p14="http://schemas.microsoft.com/office/powerpoint/2010/main" val="64119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E17BF-6F65-4B46-B2FB-05B70185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推荐控制结构：运动策略加滑移风险闭环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79E44-FA69-49D8-B59D-846D2B41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06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DE5F9-1E97-40DC-8D17-7F37416E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7DE55-F663-4817-BDFD-C09FE191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B4F1C-4F8E-48C6-A0B8-3E75A995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保留已稳定的 DreamWaQ 策略，让风险估计器与恢复监督器处理低附着变化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AB227-B993-499E-9E7F-24438EF8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140BA-EDA7-4608-9713-21850B5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2CBDC-FAB0-4964-A98E-4AA5B38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2694D-7E74-43DC-A3DE-7C3EADD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可部署观测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5C8D5-1965-4C5E-881F-8DA21D8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62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IMU、关节位置 / 速度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动作历史、接触估计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F0E04-1B88-4FEB-80D6-0720953D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E5435-02FF-4C61-A4F1-9C3FB681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抓地风险估计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4160B-3940-4CA5-85E2-99E8432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滑移概率 / 置信度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历史编码辅助判断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C9FD9-9118-43B2-83A7-5895E93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72AFC-F545-4DEE-98AB-EDF37EFF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名义运动策略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F0B75-58BF-47B7-9535-19379DA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当前 DreamWaQ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维持行走与爬楼能力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02111-5E46-4B68-89C8-15796769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44B36-5C8A-4982-A9A4-2D5A47E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恢复监督器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86EA7-2F0F-4368-AD19-F63C02BE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限速、减小加速度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调整支撑与落足目标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AE03F-F480-42A2-962B-55974E9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E9832-EB69-4EFB-88AF-638F671C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F3C0E-B2C0-4769-A7F4-521D7D2E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3F592-1880-4258-A8C2-EE401DA8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训练时的特权信息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1C743-4AF5-4338-A0A1-C970F57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24400"/>
            <a:ext cx="108204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E4A3D-AF51-414B-8A27-C7A3B13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034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仿真 critic 可使用摩擦系数、接触真值与地形参数训练；部署 actor 只使用实机能获得的观测。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C009B-C1B9-46C7-81C1-6BC100A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第一版用命令限速 / 加速度做恢复；验证有效后，再扩展到足端轨迹和支撑时间调节。</a:t>
            </a:r>
          </a:p>
        </p:txBody>
      </p:sp>
    </p:spTree>
    <p:extLst>
      <p:ext uri="{BB962C8B-B14F-4D97-AF65-F5344CB8AC3E}">
        <p14:creationId xmlns:p14="http://schemas.microsoft.com/office/powerpoint/2010/main" val="61357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34599-F54E-41EE-9D67-22E8436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场景扩展：从硬质湿路面逐步到复杂户外地面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9CB13-D1B6-49C7-A946-FAE4EC4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07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9C912-0EDF-4469-8130-EACE3C72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670DE-6991-4BEE-83F2-B0205E9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30C99-39BB-4CA0-88FF-DD1F9A6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按物理建模和真机验证成本递增，避免把所有恶劣环境压成一个摩擦参数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617E-3480-4589-B83C-EF90A09B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6861F-8DEB-423D-AC8C-D35C208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D5109-16B3-48C6-B151-BBAF81A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FB3BA-0C8C-4C9E-BAD1-7C5AE381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A  硬质路面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567F2-C57F-4776-AE5F-D504CCD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6608B-0C91-4B7F-8C27-8C494DCD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 / 湿水泥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石板、沥青、金属板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平地与固定坡度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A9E3C-7820-4F34-9B34-21AC26C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建立低附着基准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7D2B7-5F9A-4F64-82D5-924C2C8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17A81-8BB2-4AA0-B9E5-D0F8F71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B  空间变化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6AB07-7FA6-488B-AC0A-DE2A8C6C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48FCC-1DF7-4C37-94FC-CCBC93D1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局部湿滑斑块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干湿边界与小水洼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斜坡、转弯、加减速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64E4B-8C4B-4B7F-A382-5CB1491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验证在线适应能力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5C587-8F6F-45D6-9F49-EDF767D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86BA1-A57A-4962-888C-328EDACC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C  复杂地面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2BF3D-A338-4218-B994-6DBA774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BFF74-F950-419F-AA0B-E023F091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草地、碎石、落叶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泥地与松散土壤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不平整及接触形变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6FC64-81FD-4BA4-B6CA-FB6891A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rPr>
              <a:t>补充可变形地面模型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6B7D3-DF1D-4AD7-A4A0-DE05747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泥地、草地与碎石还涉及沉陷和地面形变，应在硬质低附着验证完成后单独扩展。</a:t>
            </a:r>
          </a:p>
        </p:txBody>
      </p:sp>
    </p:spTree>
    <p:extLst>
      <p:ext uri="{BB962C8B-B14F-4D97-AF65-F5344CB8AC3E}">
        <p14:creationId xmlns:p14="http://schemas.microsoft.com/office/powerpoint/2010/main" val="190282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F211A-D74B-4594-9690-BEE3686A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训练创新：从摩擦随机化走向可诊断的滑移适应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3A537-B390-4DB0-85E9-2E5F4C8B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08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955AA-A2CB-4AF5-8710-D5B5D7BC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54E5C-89D3-41C8-BBC2-FA53FC9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BDA2-F4BC-4316-97F0-867CE68C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让每次滑移都有标签、可量化，也能对应策略调整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070CD-B039-4B53-812B-F8BC2AC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A45B1-B546-4491-BCF2-6F83475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B5EC1-6969-4B0C-A0AF-7203C50A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环境随机化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386E5-5B94-4F70-8F62-75690F8B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将单一环境摩擦扩展为局部摩擦地图，随机湿滑位置、区域长度和干湿边界。保留干燥路面与现有楼梯任务。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88263-7060-43E0-AEAF-C4F63130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714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138F1-D801-4D66-A2D2-504DF407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支撑相滑移量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1127C-7A09-4219-9EEB-2EDF7A9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64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只在足端接触地面时，计算足端相对地面的切向速度或滑移距离。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498C2-CA2B-48A4-A8CA-8186C00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3143250"/>
            <a:ext cx="30670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62CE1-2AD5-4520-AAF3-0C0BAB7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滑移惩罚 = 接触门控 × 切向滑移速度²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55A17-E610-45EB-AE98-129B025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同时保留速度跟踪与前进奖励，防止策略通过停住来规避滑移。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020E7-E6FE-4AA2-898D-7EA8EED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714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8868F-DD6F-45F3-918D-793E854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风险自适应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2C26D-07AD-4C63-B306-610CDFA9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用滑移事件训练风险估计器。高风险时降低速度与加速度，恢复后再逐步回到目标速度。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3D0A2-029C-41BB-8496-C35E605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推荐消融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ED240-F737-4745-8445-1F688B3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基线策略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整体摩擦随机化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局部湿滑训练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 + 风险适应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1A756-7EFF-4551-97CC-DC7A470B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340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285D84-4399-4C8D-8997-01A3472D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核心创新：在未见过的局部低附着变化下，检测滑移并恢复，而不是只提高训练时的摩擦覆盖。</a:t>
            </a:r>
          </a:p>
        </p:txBody>
      </p:sp>
    </p:spTree>
    <p:extLst>
      <p:ext uri="{BB962C8B-B14F-4D97-AF65-F5344CB8AC3E}">
        <p14:creationId xmlns:p14="http://schemas.microsoft.com/office/powerpoint/2010/main" val="932487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1B210-2DF1-4B7C-A6D4-B65B8A22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评价指标与真机验证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15140-39D3-4557-B675-610CC65C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09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1069-8F37-49BA-9BB2-8674416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C9C9-5C95-4EC6-BA2D-E91388A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99610-34AB-4130-B753-573C286A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把“稳定”转成任务表现、滑移损失与恢复能力三类证据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9F131-AF45-4407-99AB-7218144B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90BB5-E11C-4205-A15A-0A24D73B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82D9-640D-4EE7-BE34-78033D37FBD0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76750"/>
                <a:gridCol w="4305300"/>
              </a:tblGrid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测量方式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工程意义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任务完成率 / 跌倒率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固定路线、速度与载荷重复测试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巡检路线能否连续完成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支撑相滑移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滑移距离、滑移时间占比、单步最大滑移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直接反映足地失稳程度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路径与速度误差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路线偏差、目标速度跟踪误差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判断适应是否以牺牲任务效率换稳定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滑移后恢复时间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首次滑移到恢复稳定行走的时间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体现闭环恢复能力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能耗与基线保持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单位距离能耗；干地和楼梯非劣化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适合长时间巡检且不丢已有能力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E382C-5CF6-471B-BE56-58AD2EA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97A62-3D47-4015-94DE-74CE616A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0BA68-2068-4FF5-BC02-EFAC2BF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已知摩擦 / 已知地形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2976C-E0C3-4F8B-A5F2-3C68CF13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5646D-18AD-422F-85A6-9DF98F9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泛化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7417E-E370-4AC3-B6AF-F24EDB3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未见位置 / 干湿突变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9203B-D2DF-4444-9DD5-9EF2F271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7580A-6880-479E-8384-10BA89E3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实验场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58AD3-19CD-40D1-9F0E-DED1A3D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可控湿路面与缓坡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A2900-1FB5-41EF-BC03-094EB18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C980B-18CE-4CA0-9936-878345E1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户外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7FC00-0C0A-4482-8066-8025E2A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限定路线巡检验证</a:t>
            </a:r>
          </a:p>
        </p:txBody>
      </p:sp>
    </p:spTree>
    <p:extLst>
      <p:ext uri="{BB962C8B-B14F-4D97-AF65-F5344CB8AC3E}">
        <p14:creationId xmlns:p14="http://schemas.microsoft.com/office/powerpoint/2010/main" val="1615794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BDC9B-990D-4F09-AC7F-177C53F3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实施路线与阶段性交付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19926-B2DB-45FA-965C-7380C8D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10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9E1EC-D107-4EDB-97D4-B5F6721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74A0D-40AC-445D-B7D4-C21A1CC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7EE70-79A8-4E96-86B2-EE9C989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从当前稳定策略出发，用逐阶段对照实验降低工程风险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8AFB2-AADA-4D0A-93F5-D0B9D6F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4565C-D09C-46D9-871E-CEF992E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B64A-2561-4F90-9BD1-E677F817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47650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6C93C-071F-4FC2-830B-52A15B8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33A29-9B71-48EA-B0A5-8C10278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49296-1D41-42AF-B418-12E4416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摸清失稳边界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AE77F-AA54-4D88-8E18-770BC87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1E0C7-77C3-4952-B165-8DDFE58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跑当前 checkpoint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复现湿滑失败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交付：基线数据集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28DBF-421A-4EB3-ACF5-91956733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EA84A-3B40-4A06-A678-91F17527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70AD7-C12F-4EAB-A0C0-563C356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5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搭建场景与指标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7122C-1FE8-437A-A02D-7912F28E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2D12A-D44F-472F-B732-12987AF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局部摩擦地图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接触门控滑移指标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交付：仿真测试集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CE46A-A7BF-4443-95AA-C393145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7D913-BB78-4347-8717-1F521D2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B98E2-72DD-4074-B04A-6B56BD9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训练风险适应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037CA-9BD0-48D1-BB4A-20990C0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B717E-1BC1-4F04-B754-4ACFDFB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时序风险估计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限速与恢复监督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交付：策略消融结果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270FF-097A-433C-8110-27C72C7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8F13F-7838-4128-A0AE-510EC468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02957-9FD6-483A-912A-2B49A2D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真机巡检验证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82BC5-35BF-42B2-807F-E36AAEF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16D80-F1C1-4DBF-9A0A-DA4032BB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材料与坡度分级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湿干切换路线测试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交付：工程能力边界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AC404-C017-4F93-90B0-853450D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91050"/>
            <a:ext cx="10820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A700C7-BB02-428F-8737-C6FC4B8B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阶段验收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59787-5A0B-4779-9BC3-583D9456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20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74"/>
          </a:bodyPr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湿滑场景提升成功率与恢复能力，同时保持干地行走和上楼性能；所有改进都需与当前策略、仅摩擦随机化策略做对照。</a:t>
            </a:r>
          </a:p>
        </p:txBody>
      </p:sp>
    </p:spTree>
    <p:extLst>
      <p:ext uri="{BB962C8B-B14F-4D97-AF65-F5344CB8AC3E}">
        <p14:creationId xmlns:p14="http://schemas.microsoft.com/office/powerpoint/2010/main" val="1056162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2105D-51DD-43B9-B01E-43DDA7F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后续可扩展任务与实现方法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02580-AEAE-47DE-9362-EAD4506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11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E2E2B-517F-4201-A0E8-7AF64944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2BFA9-EAE7-4DB5-9DDD-B4D3952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2A39D-6002-439C-90AE-56613F33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低附着适应形成主线后，可按巡检需求扩展运动能力、感知与任务自治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FE220-D186-4ED6-BC8C-583A582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6C12-36A8-44A4-9C0C-F27F9AA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F79A8-7DE5-4F03-A078-6FE600CE765F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5429250"/>
                <a:gridCol w="3352800"/>
              </a:tblGrid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扩展任务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实现方法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工程用途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多步态切换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加入步态条件与相位；训练技能策略和过渡选择器；评估切换稳定性。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速度、能耗与地形适应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前视落足规划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融合深度 / LiDAR 地形图与湿滑风险，筛选安全落足区域。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绕开积水、裂缝和障碍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坡地与非结构地面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高度图课程训练；草地、碎石、泥地采用独立接触与形变模型。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扩大可巡检路面范围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载荷与外部扰动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随机化质量 / 重心、阵风和碰撞；用风险估计调整速度与姿态。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适配巡检传感器并抗扰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任务级巡检自治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导航目标、路径覆盖、巡检点停靠与运动控制分层联动。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从稳定行走走向自动巡检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D62BF-141F-4AD6-A91B-074E514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24525"/>
            <a:ext cx="108204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46E8-2F98-4E6A-8A3A-C74C9C0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推荐顺序：先低附着稳定行走，再加入步态选择和前视感知，最后扩展巡检任务自治。</a:t>
            </a:r>
          </a:p>
        </p:txBody>
      </p:sp>
    </p:spTree>
    <p:extLst>
      <p:ext uri="{BB962C8B-B14F-4D97-AF65-F5344CB8AC3E}">
        <p14:creationId xmlns:p14="http://schemas.microsoft.com/office/powerpoint/2010/main" val="23816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2026-10-11T02:28:39.9950000Z</dcterms:created>
  <dcterms:modified xsi:type="dcterms:W3CDTF">2026-10-11T02:28:39.9950000Z</dcterms:modified>
</coreProperties>
</file>